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Thanks for making the time. Over the next forty-five minutes I want to do three things: convince you that persistent agent memory is a different engineering problem from the LLM features we've shipped so far; show you what the regulatory environment actually requires of it — and, just as importantly, what it doesn't; and walk you through a concrete governance design we can build against, down to the metadata contract, the tests, and the metrics.</a:t>
            </a:r>
          </a:p>
          <a:p/>
          <a:p>
            <a:r>
              <a:t>The one-sentence version of the whole deck is on this slide: persistent memory turns transient AI output into a governed data-processing subsystem. When a model answers a prompt and the context is thrown away, a bad answer is an incident. When that same answer is stored, embedded, linked into a knowledge graph, and retrieved into a decision three weeks later by a different agent, it's a record — with everything the word "record" implies in a regulated firm.</a:t>
            </a:r>
          </a:p>
          <a:p/>
          <a:p>
            <a:r>
              <a:t>This is a research draft, not legal advice. Where I state a regulatory position I'll flag its status, and every date I cite has been verified as of the seventeenth of September.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start with the thing that surprises people. No regulation anywhere names "agent memory." You will not find it in GDPR, the AI Act, Reg S-P, or DORA. That is not the same as saying it's unregulated. Every function a memory system performs — storing personal data, deriving new facts, retrieving them into a decision, deleting them, relying on a third-party library — is already governed by an existing rule that was written for something else.</a:t>
            </a:r>
          </a:p>
          <a:p/>
          <a:p>
            <a:r>
              <a:t>That has three implications, and they're the spine of the talk. Design implication: memory is a control plane, not a feature. Policy, provenance, access, retention, erasure, audit, and vendor governance have to sit above every backend, because they're about what the system does, not which store it uses. Technical implication: for a knowledge graph, governance has to attach to nodes, edges, and derivations — not to the database. If you can only say "this database is access-controlled," you can't answer "why does the agent believe this edge?" Operating implication: Memoria, Graphiti, Mem0, Zep — these are interchangeable engines behind one governance contract. They get in by passing the same tests.</a:t>
            </a:r>
          </a:p>
          <a:p/>
          <a:p>
            <a:r>
              <a:t>Keep those three in your head; every subsequent slide is one of them worked out in detail.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 ten seconds.] First, why memory needs its own governance layer at all. This is the argument I need to win before any of the controls make sense.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memory lifecycle as an engineer sees it. Observe something — a conversation, a tool result, a document, a market signal. Select what deserves to persist. Encode it — a summary, a graph node, an edge, a vector, a trace. Retrieve it later into an agent's context. Update or derive from it — merge, infer, supersede, promote to a skill. And eventually forget or restrict it.</a:t>
            </a:r>
          </a:p>
          <a:p/>
          <a:p>
            <a:r>
              <a:t>Now notice the bar underneath: governance intercept points. Every one of those six stages is a place where a rule applies. Write is where lawful basis and minimisation bite. Derive is where profiling happens. Retrieve and use are where purpose limitation and access control bite. Restrict and erase are where subject rights and retention bite.</a:t>
            </a:r>
          </a:p>
          <a:p/>
          <a:p>
            <a:r>
              <a:t>The design consequence is the callout: governance has to intercept every lifecycle decision. A memory that's easy to write and hard to govern isn't an asset, it's a liability with a retrieval API. Most memory libraries in the wild are optimised for the first three stages and treat the last three as afterthoughts. That's precisely backwards from a regulator's point of 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"why" in one picture. Read it left to right, top to bottom.</a:t>
            </a:r>
          </a:p>
          <a:p/>
          <a:p>
            <a:r>
              <a:t>Session risk: a bad response disappears after the turn. Low persistence, ordinary safety filters are enough. That's the world we've been living in.</a:t>
            </a:r>
          </a:p>
          <a:p/>
          <a:p>
            <a:r>
              <a:t>Memory risk: the same bad fact becomes retrievable later. Now it has durable influence. You need persistence-aware controls — validity windows, lifecycle state, freshness.</a:t>
            </a:r>
          </a:p>
          <a:p/>
          <a:p>
            <a:r>
              <a:t>Graph risk: a bad edge creates new inferred facts. This is amplification. One wrong "prefers" edge can generate a dozen downstream summaries. You need lineage and validation, so you can find and unwind what it touched.</a:t>
            </a:r>
          </a:p>
          <a:p/>
          <a:p>
            <a:r>
              <a:t>Platform risk: memory crosses users, agents, products, or information barriers. This is blast radius, and it requires enterprise segmentation — physical partitions, not filters, for the hard barriers.</a:t>
            </a:r>
          </a:p>
          <a:p/>
          <a:p>
            <a:r>
              <a:t>The regulatory framing at the bottom: every additional hop of reuse is a new place a regulator can ask "why did the agent believe this?" If we can't answer that for an edge three derivations deep, we have a problem regardless of which law is asking.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Now the regulatory landscape. I'm going to move fast through eight sources, then slow down on the two that actually bind 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table, colour-coded by legal status. Teal is binding law. Amber is a framework or supervisory signal — voluntary, but examiners reference it. Grey is analogue only.</a:t>
            </a:r>
          </a:p>
          <a:p/>
          <a:p>
            <a:r>
              <a:t>Two things to take from this table. First, our binding obligations for memory are GDPR, the EU AI Act, SEC Reg S-P, and DORA — three EU instruments and one US one. Second, the US federal banking guidance most people reach for first — SR 26-2 — is grey. It's not our regulator, and it explicitly carved generative and agentic AI out of scope in April. The right US anchors for an asset manager are Reg S-P for data safeguards and the Treasury FS AI RMF for AI controls. We'll come back to that.</a:t>
            </a:r>
          </a:p>
          <a:p/>
          <a:p>
            <a:r>
              <a:t>One date correction worth stating loudly: the EU AI Act's high-risk obligations no longer land in August 2026. The Digital Omnibus, enacted in July, moved them to December 2027 and August 2028. If you've seen the old date in any internal material, it's superseded.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GDPR is the most direct memory-specific anchor when EU personal data is involved, and for a firm with our EU footprint, that's not hypothetical. Six of its principles map straight onto memory operations.</a:t>
            </a:r>
          </a:p>
          <a:p/>
          <a:p>
            <a:r>
              <a:t>Lawful basis and purpose: every personal memory needs an approved purpose. "It might be useful later" is not a purpose — it's the opposite of one. Minimisation: persist only what's necessary, and default-deny sensitive or inferred attributes. Accuracy: for a graph, accuracy is a property of the edge, not the record — so memory objects need source, timestamp, confidence, authority, validity window. Subject rights: access, rectification, restriction, erasure all have to traverse every representation — raw episode, summary, node, edge, vector, cache, derived fact. Privacy by design: controls live in the library and gateway, not in each agent's prompt.</a:t>
            </a:r>
          </a:p>
          <a:p/>
          <a:p>
            <a:r>
              <a:t>The sixth one is the one engineers push back on. Anonymity is not assumed. The EDPB's position — Opinion 28/2024, reinforced by the draft anonymisation guidelines published this year — is that AI artifacts derived from personal data are personal data unless you can show re-identification is negligible. Embeddings are personal data. Knowledge-graph edges about a person are personal data. Plan accordingly.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where the graph-native argument becomes concrete. One subject. Six representations, left to right: raw episode, session summary, KG node, KG edge, embedding, derived memory. A right to erasure — or rectification, or restriction — has to traverse all six.</a:t>
            </a:r>
          </a:p>
          <a:p/>
          <a:p>
            <a:r>
              <a:t>Rectification: correct an upstream fact, and every downstream edge, summary, embedding, and derived memory has to be invalidated or recomputed. Restriction: sometimes the right action is "retain but stop using" — under a legal hold, or while accuracy is disputed. That's a state, not a deletion. Erasure: dependency traversal plus a verification receipt, across all six, including caches, replicas, and restoration paths.</a:t>
            </a:r>
          </a:p>
          <a:p/>
          <a:p>
            <a:r>
              <a:t>The implication is an architectural one: we need a subject-rights orchestration service that owns the traversal. Per-backend delete buttons don't compose. If Memoria has one delete and Graphiti has another and the vector index has a third, nobody owns the guarantee.</a:t>
            </a:r>
          </a:p>
          <a:p/>
          <a:p>
            <a:r>
              <a:t>If asked "can't we just re-derive everything from the raw episodes?" — you can, if you've kept lineage. That's exactly why C1 is a P0 control.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AI Act governs the AI system and its use case, not memory in isolation. A memory library is not automatically high-risk. Obligations depend on what the system is used for and whether we're a provider or a deployer.</a:t>
            </a:r>
          </a:p>
          <a:p/>
          <a:p>
            <a:r>
              <a:t>Where we are in scope, four things matter. Risk management and data governance — memory failure modes go into the risk inventory. Technical documentation. Logging — Article 12 — which for us translates directly into memory-event logs: write, retrieve, suppress, update, merge, invalidate, delete, each with actor, model, policy, purpose, source, timestamp, retained at least six months. And human oversight, keyed to decision significance.</a:t>
            </a:r>
          </a:p>
          <a:p/>
          <a:p>
            <a:r>
              <a:t>The anti-manipulation angle deserves a beat. Article 5 prohibits exploiting vulnerability to distort behaviour, and the Commission's own guidance uses the example of targeting high-interest credit at financially distressed people. A memory system that learns someone is under financial stress and lets a personalisation engine act on it is the exact risk surface the drafters had in mind.</a:t>
            </a:r>
          </a:p>
          <a:p/>
          <a:p>
            <a:r>
              <a:t>The timeline strip is the current law. And one practical point: the logging standard, prEN 18229-1, is further along than most people think — its vote closed in August. The human-oversight part, 18229-3, is still open for comment until the twenty-second. If we want to shape how oversight of memory-driven decisions gets operationalised, that window is this week.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where I want to correct a common assumption. We are a registered investment adviser, not a bank holding company. The banking agencies' model-risk guidance — SR 26-2 — is not our rule. It's a benchmark of good practice, and it explicitly excludes generative and agentic AI anyway, with an RFI on that topic promised but still unpublished as of last month.</a:t>
            </a:r>
          </a:p>
          <a:p/>
          <a:p>
            <a:r>
              <a:t>What binds us is Regulation S-P. Written administrative, technical, and physical safeguards for customer information; an incident-response programme; thirty-day breach notification; and — the piece that matters most for this project — expanded service-provider oversight. That's the hook that applies to Graphiti, Mem0, or any open-source memory library we adopt. Larger entities have been in scope since December 2025, so this is an audit question, not a build item: does our Reg S-P documentation actually cover memory?</a:t>
            </a:r>
          </a:p>
          <a:p/>
          <a:p>
            <a:r>
              <a:t>Treasury's Financial Services AI RMF from February is the sector framework: 230 control objectives, four adoption stages, built with over a hundred institutions including asset managers. It's voluntary, but it's what examiners will reference.</a:t>
            </a:r>
          </a:p>
          <a:p/>
          <a:p>
            <a:r>
              <a:t>The callout at the bottom is a real tension, not a footnote. Advisers Act books-and-records wants us to retain. GDPR wants us to erase. Same subject, opposite pulls. The answer is not "US retain, EU erase." Retention gets resolved at the record level — by record type, purpose, jurisdiction, and hold — and the lifecycle design on slide 25 is built to carry that.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Federal frameworks aren't the whole US picture, and the state layer is where the action is right now — and it's volatile.</a:t>
            </a:r>
          </a:p>
          <a:p/>
          <a:p>
            <a:r>
              <a:t>California first, because it's the one that's actually in force. The CPPA's regulations on automated decision-making technology took effect in January. ADMT used for significant decisions must comply by January 2027; risk assessments for existing processing by end of 2027; attestations to the regulator by April 2028. The point engineers miss: the GLBA exemption is data-level, not entity-level. Employee data, prospect data, website visitors — anything not covered by GLBA — is in scope, and memory that profiles those people is covered.</a:t>
            </a:r>
          </a:p>
          <a:p/>
          <a:p>
            <a:r>
              <a:t>Colorado is a cautionary tale. The original AI Act never took effect. A federal court stayed it in April after xAI sued and the Department of Justice intervened. The legislature repealed and replaced it within two weeks with a much narrower notice-and-rights law, effective January 2027, enforcement pending rulemaking.</a:t>
            </a:r>
          </a:p>
          <a:p/>
          <a:p>
            <a:r>
              <a:t>The volatility warning is real: a December executive order created a DOJ task force aimed at state AI laws. So we don't hard-code state obligations into the specification. They live in a currency register, and the control design carries a "significant decision" flag — C16 and C21 — so ADMT duties trigger on use, not on storage.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DORA is the EU's operational-resilience regime for financial entities, and it treats our whole memory stack as a dependency tree. Backends, graph databases, embedders, LLM providers, telemetry, hosting — all register candidates. We need defined degraded modes: fail closed, operate without memory, or use a restricted fallback. And exit and migration have to be tested, not assumed.</a:t>
            </a:r>
          </a:p>
          <a:p/>
          <a:p>
            <a:r>
              <a:t>Two nuances worth knowing. Self-hosting an open-source library doesn't make its maintainer an ICT third-party provider under DORA just because we run the code — but the LLM and embedding providers that library calls may well be. And the FSB's systemic-risk lens flags third-party concentration as a key vulnerability, which is an argument for keeping Memoria as a genuine fallback rather than a stepping stone to full vendor dependence.</a:t>
            </a:r>
          </a:p>
          <a:p/>
          <a:p>
            <a:r>
              <a:t>The Aladdin card is entity-specific, and I'd rather say it plainly than tiptoe. Aladdin is not on the first DORA critical-provider list. But BlackRock's own filings name Aladdin's scale as a source of increased regulatory scrutiny, and the UK FCA said in 2021 that failure of a system like Aladdin could damage market integrity. So the single most important scoping decision for this whole programme is whether memory stays internal or ever feeds Aladdin workflows — because that decides which external oversight tier applies. It's on the open-decisions slide for that reason.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six don't change the control set; they sharpen it. The Spanish DPA's agentic-AI guidance is the most detailed European treatment of privacy in agent systems — a good cross-check for our threat model. The EDPB's draft anonymisation guidelines explicitly say agentic AI lowers re-identification cost, which reinforces the "embeddings are personal data" point. The ICO-FCA statement ties Consumer Duty to lawful use of vulnerability data, which lands directly on inferred vulnerability held as memory.</a:t>
            </a:r>
          </a:p>
          <a:p/>
          <a:p>
            <a:r>
              <a:t>Hong Kong's SFC deems AI-generated investment advice and research a high-risk use with notification duties — a memory-driven research agent run by an SFC-licensed entity would trigger that. Singapore has the first agentic-specific governance framework and a financial-sector operationalisation handbook.</a:t>
            </a:r>
          </a:p>
          <a:p/>
          <a:p>
            <a:r>
              <a:t>And two open comment windows: prEN 18229-3 closes the twenty-second of September; the EDPB anonymisation consultation closes the thirtieth of October. Cheaper to influence now than adapt to later.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NIST's AI RMF is the structural backbone the Treasury framework and most sector guidance sit on. Govern, Map, Measure, Manage. For us: Govern is policies, roles, and an inventory of memory stores. Map is context, use cases, memory types, actors, dependencies. Measure is conformance tests and the metrics on slide 34. Manage is controls, kill switch, incident response.</a:t>
            </a:r>
          </a:p>
          <a:p/>
          <a:p>
            <a:r>
              <a:t>The point of the slide is the subtitle: memory governance is continuous, not one-time approval. Memory evolves. A control that was satisfied at launch drifts.</a:t>
            </a:r>
          </a:p>
          <a:p/>
          <a:p>
            <a:r>
              <a:t>The callout is the most useful NIST development for us. The 2025 adversarial-ML taxonomy — AI 100-2e2025 — now names agent memory poisoning, indirect prompt injection, and tool-chain attacks explicitly. That is the first time a standards body has written down the threat model for what we're building, and our threat matrix on slide 28 is built on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Now architecture. The principle is one sentence: RockAI owns the trusted envelope; the memory engines inside it are replaceable and admitted only through conformance.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of our candidate engines are good graph foundations and neither is a control plane. That's not a criticism; they weren't designed to be.</a:t>
            </a:r>
          </a:p>
          <a:p/>
          <a:p>
            <a:r>
              <a:t>Memoria — our own, published in December — combines session-level summarisation with a weighted knowledge-graph user model. It reports 87 percent accuracy and a 39 percent latency improvement over baselines. Its governance gap is conflict resolution: it's recency-weighted, and newer is not always more authoritative. This isn't hypothetical. AuthMem-Bench, published in August, tested seven memory systems across seven backbones and found "authority collapse" — where consolidation keeps a claim's content but loses the constraints on its authorised use — in 48 of 49 combinations. A tentative client remark becomes a standing instruction. We should assume Memoria does this until we've tested that it doesn't.</a:t>
            </a:r>
          </a:p>
          <a:p/>
          <a:p>
            <a:r>
              <a:t>Graphiti — the open-source core of Zep — gives us a bi-temporal graph with real delete primitives, which is genuinely better than a vector store for erasure. Its gap is that inspectable doesn't mean trustworthy. It defaults to OpenAI for extraction unless reconfigured. It had a high-severity Cypher-injection CVE in March, reachable through MCP prompt injection, that could traverse all tenants. And it has an unpatched authentication-bypass in its REST API disclosed four days ago — medium-to-high severity, fix pending in a PR. None of that disqualifies it. All of it argues for the positioning line: untrusted-but-inspectable engines behind a trusted gateway.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reference architecture; let me walk it top to bottom.</a:t>
            </a:r>
          </a:p>
          <a:p/>
          <a:p>
            <a:r>
              <a:t>Actors at the top — research, portfolio, client, ops agents — and one I want you to notice in amber: consolidation and background jobs. Every actor is identified; that's C32. Summarisation, merging, promotion to skills — these are write paths with no user in the loop, and if you implement them as backend-native cron jobs they bypass the gateway by construction. Consolidation is exactly where authority collapse happens, so it runs as a gateway actor, in diff-and-approve mode for anything high-authority or barrier-scoped.</a:t>
            </a:r>
          </a:p>
          <a:p/>
          <a:p>
            <a:r>
              <a:t>The gateway is the only holder of backend credentials. I want to be precise about this: "agents must not call backends directly" is a policy; "agents cannot call backends directly" is an architecture. We need the second one — credentials only in the gateway, mutual TLS terminating there, network policy making a direct call impossible. Because under deadline pressure, any governance layer that can be routed around will be.</a:t>
            </a:r>
          </a:p>
          <a:p/>
          <a:p>
            <a:r>
              <a:t>Three engines: policy, risk, audit. Then the common memory API — six governed operations. Then the engines: Memoria, Graphiti, Mem0, a future backend.</a:t>
            </a:r>
          </a:p>
          <a:p/>
          <a:p>
            <a:r>
              <a:t>The side note is the performance point. Agent loops retrieve many times per task. Authorisation has to be a pre-filter inside the index or traversal — because post-filtering a top-k result set silently destroys recall. And the gateway needs a stated p95 overhead budget, and a gate that fails backends that breach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mental model for organising thirty-odd controls. Five planes, each answering one question.</a:t>
            </a:r>
          </a:p>
          <a:p/>
          <a:p>
            <a:r>
              <a:t>Data governance: what may be remembered? Lawful basis, purpose, sensitivity, retention, residency. Memory integrity: what does the memory mean? Provenance, confidence, temporal validity, source authority. Access and use: who may retrieve it? Tenant isolation, purpose authorisation, need-to-know. Lifecycle: how does it change or disappear? Update, correct, restrict, expire, erase, hold. Ops and third party: can we trust the stack? OSS review, egress, versioning, failover, exit.</a:t>
            </a:r>
          </a:p>
          <a:p/>
          <a:p>
            <a:r>
              <a:t>The line at the bottom is the thing to internalise: the compliance layer is not privacy filtering. It's policy-enforced memory state management. If you build a redaction filter and call it governance, you've solved one of five planes.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The control framework itself.</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Fifteen P0 controls, three rows: foundations, data and isolation, authority and lifecycle. I'm not going to read them; the next five slides go through them by plane.</a:t>
            </a:r>
          </a:p>
          <a:p/>
          <a:p>
            <a:r>
              <a:t>What I do want to highlight is the teal set. Fifteen P0 controls before any production use is comprehensive — and it's also a recipe for shipping nothing. So we use the scope-tiering control, C12, to cut the initial surface. For an internal-only, single-tenant pilot with no information barriers, the minimum viable governed memory is eight controls: lineage, audit trail, OSS governance, provider pinning, purpose binding, tenant isolation, lifecycle states, and consolidation governance. That's a pilot with a finish line. Investment-workflow deployments add barriers, authority, purpose-bound use, operation authorisation, composition leakage, and identity. Client-facing adds everything.</a:t>
            </a:r>
          </a:p>
          <a:p/>
          <a:p>
            <a:r>
              <a:t>P0 still means what it says: no broad exposure until each control has an owner and an implementation path.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"what may be remembered" plane. C13: memory carries or inherits an approved purpose and legal basis, and retrieval for an incompatible purpose is blocked. C16: observed, stated, extracted, inferred, predicted, derived memories get different treatment — the ladder on the right; higher rungs need stronger evidence, tighter permissions, shorter retention. C19: information barriers and MNPI — shared memory must not collapse the research/advisory/private-markets walls. C11: provider and data-flow pinning — approved LLMs, embedders, graph stores, telemetry, with region and subprocessors tracked; and this is where Graphiti's OpenAI default gets caught. C12: scope tiers.</a:t>
            </a:r>
          </a:p>
          <a:p/>
          <a:p>
            <a:r>
              <a:t>The point of the ladder: a graph makes it trivially easy to derive from derived facts. Each rung away from observation is a rung of accumulated uncertainty and a rung further from anything a data subject actually told us. Governance has to know which rung it's 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"what does it mean" plane, and the plane where the recent research is most relevant.</a:t>
            </a:r>
          </a:p>
          <a:p/>
          <a:p>
            <a:r>
              <a:t>C1 lineage: every memory links to source evidence and transformations. C6 drift and quality monitoring — with an important nuance from the Memory Contagion paper this year: bias propagates through memory even when consolidation is perfect. So monitoring the consolidator isn't enough; you have to sample the upstream experience stream too. C15 schema governance. C20 source authority: derived memory cannot silently outrank authoritative records. C22 confidence and calibration: scored, and validated against outcomes, not asserted once at write time.</a:t>
            </a:r>
          </a:p>
          <a:p/>
          <a:p>
            <a:r>
              <a:t>The dark card is the test for whether we've got integrity right. For any memory, the system should answer: why do we believe this, when was it true, who asserted it, and how authoritative is it? If any of those four is unanswerable, the memory isn't governed.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formula slide. Traditional memory search is top-k over similarity. Anything similar surfaces — including memory the actor isn't entitled to. Governed search is top-k over similarity conditioned on authorisation — actor, purpose, scope, barrier, lifecycle status — and that condition is applied before the LLM sees anything, not as a post-hoc redaction.</a:t>
            </a:r>
          </a:p>
          <a:p/>
          <a:p>
            <a:r>
              <a:t>Three controls. C17 tenant isolation: prevented semantically, in retrieval and graph traversal, not only by database ACLs — the March CVE showed a single injection walking every tenant. C21 purpose-bound use: relevant does not mean permissible; a memory collected for account servicing isn't automatically usable for product targeting. C23 operation authorisation: read, write, infer, update, merge, promote, restrict, delete, export are separately permissioned. An agent that may read must not implicitly be able to promote or export.</a:t>
            </a:r>
          </a:p>
          <a:p/>
          <a:p>
            <a:r>
              <a:t>Engineering note from the architecture slide: for this formula to hold at the index level, the authorisation predicate has to be a pre-filter. Vector backends generally support metadata pre-filters; graph traversal filtering has to be designed, and Graphiti's group_id is a coarse partition, not a per-edge predicate.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Status is not binary. Nine states across the top. The two new ones are pending-verification — inferred or promoted memory that can be reviewed but not acted on — and quarantined, which is suspected poisoning, distinct from disputed, which is a subject contesting accuracy.</a:t>
            </a:r>
          </a:p>
          <a:p/>
          <a:p>
            <a:r>
              <a:t>The transition rules matter as much as the states. A derived memory inherits the most restrictive state of any parent, automatically, at the moment the parent changes. Releasing a hold, reactivating a restricted or quarantined memory, and promoting to a skill need dual control. Unresolved disputes default to restricted at their deadline, not back to active. Deleted is terminal — a re-learned fact is a new record with new lineage, never a resurrection.</a:t>
            </a:r>
          </a:p>
          <a:p/>
          <a:p>
            <a:r>
              <a:t>The three controls: C2 end-to-end erasure across every representation with a receipt, and verified at the physical layer — the Ghost Vectors paper showed soft-deleted vectors remain reconstructible from raw index files. C7 retention and legal hold at record level — this is where the Advisers-Act-versus-GDPR tension is resolved. C14 subject-rights orchestration in one service.</a:t>
            </a:r>
          </a:p>
          <a:p/>
          <a:p>
            <a:r>
              <a:t>The three inequalities at the bottom are worth memorising: no longer true is not legally erasable; restricted is not deleted; retained for legal hold is not usable by agents.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C5 continuous OSS governance: SBOM, pinned versions, dependency lock, CVE monitoring — scoped to the actual package identifier, because there's an unrelated Ruby gem also called graphiti with its own CVEs. C3 tamper-evident audit trail, without turning the audit log into a shadow copy of sensitive content. C18 degraded mode. C26 version lineage: extractor, embedder, prompt, policy, schema, backend versions on every derived memory. C27 exit portability — with a note to track the W3C memory-interoperability group and memorywire, because MCP has no memory primitive and wrapping a backend as generic MCP tools loses the governance metadata.</a:t>
            </a:r>
          </a:p>
          <a:p/>
          <a:p>
            <a:r>
              <a:t>The threat classes card is a preview of slide 28. And the live example is the point of C5 in one line: a favourable point-in-time security assessment is not a substitute for continuous advisory monitoring. That CVE was disclosed on Saturday.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we assessed C1 through C27 against a realistic workload, six gaps appeared.</a:t>
            </a:r>
          </a:p>
          <a:p/>
          <a:p>
            <a:r>
              <a:t>C28 consolidation-job governance, P0 — background writers as identified actors with diff-and-approve. C29 memory-to-skill promotion gate — procedural memory is executable, a different risk class; support threshold, regression suite, reversibility, dual control where a skill can act on client or market systems. C30 composition leakage — a memory can be individually authorised and still, alongside others in the same context, reveal a barrier-crossing inference; the assembled context is checked as a set. C31 subject-facing transparency — the framework was internal-control heavy and thin on notices, appeals, and human review; ADMT rules make those P0 where they apply. C32 agent and non-human identity — "who wrote this" has to survive multi-agent delegation. C33 backbone change management — memory quality is backbone-dependent, and a model swap can shift embedding neighbourhoods so old restrictions no longer bind the same records.</a:t>
            </a:r>
          </a:p>
          <a:p/>
          <a:p>
            <a:r>
              <a:t>And the RACI line: the catalogue says what must be true; a RACI column says who acts when the audit trail shows it isn't.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list finds the threats you already thought of. A matrix finds the cells you left empty. Three interfaces down the side — ingestion, consolidation, retrieval — five actor classes across the top.</a:t>
            </a:r>
          </a:p>
          <a:p/>
          <a:p>
            <a:r>
              <a:t>A few cells to draw out. Ingestion from external content: extractor-prompt injection — an attack on what gets written, upstream of every other control. Consolidation from a background job: authority collapse and unreviewed promotion. Consolidation from an agent: confused deputy — a low-privilege agent inducing a high-privilege merge. Retrieval from the backend or provider: membership inference and embedding inversion against the store itself, and index residue after deletion.</a:t>
            </a:r>
          </a:p>
          <a:p/>
          <a:p>
            <a:r>
              <a:t>Attacker capabilities are stated, and every cell maps to at least one named test in the conformance suite. That last part is what makes it a model rather than a poster.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Implementation and testing. The principle: a governed memory system is measurable.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contract, six groups. Not every field is physically on every record — inheritance from namespace and application policy is fine. But every field must be reconstructible.</a:t>
            </a:r>
          </a:p>
          <a:p/>
          <a:p>
            <a:r>
              <a:t>The teal fields were added in design review, and they're the ones the tests and metrics actually consume. Assertion type — tentative, attested, instruction — is the field authority-collapse detection needs; a consolidation that turns a remark into an instruction has to change it, and that change is auditable. Evidence count, because promotion and the unsupported-inference metric need support, not just confidence. Last-retrieved-at and retrieval count, because stale-memory utilisation and minimisation both depend on knowing what's actually used. Notice-ref, so subject-facing obligations can be evidenced per record. And effective-policy-hash — a hash of the fully resolved policy — because inheritance resolvers are where governance bugs live, and the hash lets audit detect when a record's effective policy drifted without a policy event.</a:t>
            </a:r>
          </a:p>
          <a:p/>
          <a:p>
            <a:r>
              <a:t>Derivation, authority, assertion type, confidence, and verification are five orthogonal axes that get conflated constantly. We define them together as one trust tuple with documented interactions.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simplest possible graph: a user node, a preference node, a "prefers" edge. Low-risk on its face. But an inferred edge is a profiling decision, and profiling is regulated — GDPR Article 22 and AI Act Article 5 bite at the edge, not the entity.</a:t>
            </a:r>
          </a:p>
          <a:p/>
          <a:p>
            <a:r>
              <a:t>So the edge carries metadata: derivation type, source and authority, confidence and verification, validity window, purpose and permitted uses, sensitivity and barrier, and the versions of the policy, model, prompt, and schema that produced it. The annotation on the edge — inferred, confidence 0.62, valid from March — is what a subject-access request or a regulator sees.</a:t>
            </a:r>
          </a:p>
          <a:p/>
          <a:p>
            <a:r>
              <a:t>If you take one architectural idea from this talk: governance attaches to relationships and inferences, not only to entities.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backend — ours or a vendor's — passes the same nine gates before production. Supply chain, data flow, security, privacy and rights, memory quality, operations, evidence — and two added in review: performance, because a backend that passes everything else but breaches the latency budget will be bypassed; and human oversight, because Article 14 and the ADMT rules require a contest-and-appeal path that actually works, not one that's documented.</a:t>
            </a:r>
          </a:p>
          <a:p/>
          <a:p>
            <a:r>
              <a:t>The pass line is the discipline: a pass is a fixture, an oracle, a threshold, and pinned backbone, extractor, embedder, and prompt versions — because memory benchmark results are known to be judge-sensitive and backbone-dependent, and an unpinned result isn't reproducible. Canary memories — unique tokens planted per tenant, barrier, and state — turn "did it leak?" into a yes-or-no.</a:t>
            </a:r>
          </a:p>
          <a:p/>
          <a:p>
            <a:r>
              <a:t>And the gates re-run: on backend upgrade, model change, schema migration, new advisory, new tenant class, policy change. The Graphiti CVEs are the argument for that in one footer.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test families, mapped from the threat matrix. Subject rights, including orphan cleanup after episode deletion and backup-restore not resurrecting anything. Isolation, including injection-driven traversal. Temporal integrity, including authority collapse as a named test. Inference risk. Security, including safety-memory dilution — injecting near-duplicates so consolidation prunes a safety-critical memory. Provider control, including telemetry leakage.</a:t>
            </a:r>
          </a:p>
          <a:p/>
          <a:p>
            <a:r>
              <a:t>The callout: executable governance means every test has a fixture, an oracle, and a threshold, and the adversarial protocols — AuthMem-Bench-style, Memory-Contagion-style, dilution — are named, repeatable protocols, not ad hoc red-teaming.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metrics. The original six are governance ratios: lineage coverage, erasure completeness, cross-scope leakage, stale-memory use, unsupported inference, purpose violation. Targets of zero for leakage and purpose violation, measured by canaries.</a:t>
            </a:r>
          </a:p>
          <a:p/>
          <a:p>
            <a:r>
              <a:t>The three in teal came from a design-review observation I'd ask you to sit with: a store that remembers nothing scores perfectly on all six originals. So we add authority collapse rate; false restriction rate — authorised, relevant memories that policy blocked, paired with leakage so isolation isn't achieved by returning nothing; and governance latency overhead against the stated budget.</a:t>
            </a:r>
          </a:p>
          <a:p/>
          <a:p>
            <a:r>
              <a:t>And the principle in the callout: every governance ratio is paired with a utility metric on the same workload — governed versus ungoverned recall at k, task success with memory on and off. Otherwise the framework optimises toward an empty store, and nobody notices because the dashboard is green.</a:t>
            </a:r>
          </a:p>
          <a:p/>
          <a:p>
            <a:r>
              <a:t>One honesty note on provenance, since someone will ask: the names and ratios are ours, but most of the constructs are borrowed. Leakage and erasure align to MemLeak's leakage-rate formalism and Carlini's canary exposure; authority collapse is AuthMem-Bench's construct; false restriction borrows the over-memory / under-memory pairing from an August 2026 paper. Lineage coverage, purpose violation rate and effective-policy coverage are the ones with no precedent — those are our contribution. The memo has the full provenance table in Section 15.0.</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phases. Now through Q3: the foundation — this regulatory mapping, threat model, governance contract, metadata schema, the Memoria and Graphiti gap assessment, provider pinning and the CVE response, and setting the latency budget with enforced bypass prevention.</a:t>
            </a:r>
          </a:p>
          <a:p/>
          <a:p>
            <a:r>
              <a:t>Q4: build and prove. Gateway prototype, the nine admission gates, a conformance run against Memoria and Graphiti, policy-aware retrieval, deletion and lineage validation, the authority-collapse and dilution red-team — and, the one I'd argue for hardest, a minimum-viable-governed-memory pilot on one real internal workflow. Not because the pilot is the goal, but because everything in Q1 — drift monitoring, calibration, contagion detection, certified unlearning — needs production traces, and research owning evaluation without production data is a well-known way for the research-engineering split to fail.</a:t>
            </a:r>
          </a:p>
          <a:p/>
          <a:p>
            <a:r>
              <a:t>Q1: harden and extend, including the skill-promotion gate and multi-agent segmentation.</a:t>
            </a:r>
          </a:p>
          <a:p/>
          <a:p>
            <a:r>
              <a:t>The principle: engineering owns backend implementation; research owns evaluation, control policies, conformance metrics, and governance-aware memory intelligence.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decisions, and I'd put the first one to leadership this month. Scope: internal-only, or a path to client-facing and Aladdin workflows? That single answer sets the external oversight tier. Entity status: which legal entities operate each namespace, and is any of them separately bank-supervised — which would make SR 26-2 binding after all. Providers: which LLMs, embedders, and stores for which data classes. Retention: record-level policy reconciling Advisers Act and GDPR. Barriers: which walls apply to memory sharing. Conformance and budget: who signs off on each gate, and what p95 overhead is acceptable on the hot path.</a:t>
            </a:r>
          </a:p>
          <a:p/>
          <a:p>
            <a:r>
              <a:t>The next artifact is the governance specification v0.1 — control matrix, metadata contract, conformance suite, admission checklist.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Sixteen groups of sources; the memo has the full forty-five with status labels and a currency register. Everything dated here was verified on the seventeenth of September. Three items are moving on a timescale of weeks — the Graphiti patch, the two open consultations — and the memo's Appendix E tracks them.</a:t>
            </a:r>
          </a:p>
          <a:p/>
          <a:p>
            <a:r>
              <a:t>Thank you. I'd like to spend the remaining time on the scope question, because it's the one that changes the most downstream. [Open for questions.]</a:t>
            </a:r>
          </a:p>
          <a:p/>
          <a:p>
            <a:r>
              <a:t>LIKELY QUESTIONS</a:t>
            </a:r>
          </a:p>
          <a:p>
            <a:r>
              <a:t>"Isn't this over-engineered for an internal assistant?" That's why the minimum viable set exists — eight controls for an internal pilot. The full set is tiered by scope, and the tier is a decision, not a default.</a:t>
            </a:r>
          </a:p>
          <a:p/>
          <a:p>
            <a:r>
              <a:t>"Why not just use Mem0 or hosted Zep and inherit their compliance?" Reg S-P and DORA put service-provider oversight on us regardless. Vendor attestations don't transfer liability. And the CVE history shows why point-in-time assessment isn't enough. Vendors can be engines; they can't be the control plane.</a:t>
            </a:r>
          </a:p>
          <a:p/>
          <a:p>
            <a:r>
              <a:t>"What does the gateway cost in latency?" Unknown until measured — that's why there's a performance gate and a stated budget. The design levers are per-session authorisation envelopes, decision caching, and pushing the predicate into the index as a pre-filter.</a:t>
            </a:r>
          </a:p>
          <a:p/>
          <a:p>
            <a:r>
              <a:t>"Do we really need physical partitions for barriers?" For MNPI and research/advisory walls, yes. Multi-hop traversal and cross-tenant similarity are real leak paths that filters don't close, and the March CVE was a concrete demonstration.</a:t>
            </a:r>
          </a:p>
          <a:p/>
          <a:p>
            <a:r>
              <a:t>"How do we test authority collapse?" AuthMem-Bench provides the protocol: seed tentative statements, run consolidation, check whether assertion type or authority escalated without new evidence. It's a named test in gate five.</a:t>
            </a:r>
          </a:p>
          <a:p/>
          <a:p>
            <a:r>
              <a:t>"What happens on the Graphiti CVE?" Network-level compensating controls on any exposed REST endpoint until a released patch is verified; not production-ready under C5/C10 until then. Re-check the advisory before any deployment decision.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image" Target="../media/image-21-14.png"/><Relationship Id="rId15" Type="http://schemas.openxmlformats.org/officeDocument/2006/relationships/image" Target="../media/image-21-15.png"/><Relationship Id="rId16" Type="http://schemas.openxmlformats.org/officeDocument/2006/relationships/slideLayout" Target="../slideLayouts/slideLayout1.xml"/><Relationship Id="rId1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flipH="1">
            <a:off x="7223760" y="923544"/>
            <a:ext cx="1275588" cy="992124"/>
          </a:xfrm>
          <a:prstGeom prst="line">
            <a:avLst/>
          </a:prstGeom>
          <a:noFill/>
          <a:ln w="12700">
            <a:solidFill>
              <a:srgbClr val="12867A">
                <a:alpha val="75000"/>
              </a:srgbClr>
            </a:solidFill>
            <a:prstDash val="solid"/>
          </a:ln>
        </p:spPr>
      </p:sp>
      <p:sp>
        <p:nvSpPr>
          <p:cNvPr id="3" name="Shape 1"/>
          <p:cNvSpPr/>
          <p:nvPr/>
        </p:nvSpPr>
        <p:spPr>
          <a:xfrm>
            <a:off x="8499348" y="923544"/>
            <a:ext cx="1417320" cy="779526"/>
          </a:xfrm>
          <a:prstGeom prst="line">
            <a:avLst/>
          </a:prstGeom>
          <a:noFill/>
          <a:ln w="12700">
            <a:solidFill>
              <a:srgbClr val="12867A">
                <a:alpha val="75000"/>
              </a:srgbClr>
            </a:solidFill>
            <a:prstDash val="solid"/>
          </a:ln>
        </p:spPr>
      </p:sp>
      <p:sp>
        <p:nvSpPr>
          <p:cNvPr id="4" name="Shape 2"/>
          <p:cNvSpPr/>
          <p:nvPr/>
        </p:nvSpPr>
        <p:spPr>
          <a:xfrm flipH="1">
            <a:off x="9137142" y="1703070"/>
            <a:ext cx="779526" cy="1346454"/>
          </a:xfrm>
          <a:prstGeom prst="line">
            <a:avLst/>
          </a:prstGeom>
          <a:noFill/>
          <a:ln w="12700">
            <a:solidFill>
              <a:srgbClr val="12867A">
                <a:alpha val="75000"/>
              </a:srgbClr>
            </a:solidFill>
            <a:prstDash val="solid"/>
          </a:ln>
        </p:spPr>
      </p:sp>
      <p:sp>
        <p:nvSpPr>
          <p:cNvPr id="5" name="Shape 3"/>
          <p:cNvSpPr/>
          <p:nvPr/>
        </p:nvSpPr>
        <p:spPr>
          <a:xfrm flipH="1">
            <a:off x="9137142" y="2766060"/>
            <a:ext cx="1913382" cy="283464"/>
          </a:xfrm>
          <a:prstGeom prst="line">
            <a:avLst/>
          </a:prstGeom>
          <a:noFill/>
          <a:ln w="12700">
            <a:solidFill>
              <a:srgbClr val="12867A">
                <a:alpha val="75000"/>
              </a:srgbClr>
            </a:solidFill>
            <a:prstDash val="solid"/>
          </a:ln>
        </p:spPr>
      </p:sp>
      <p:sp>
        <p:nvSpPr>
          <p:cNvPr id="6" name="Shape 4"/>
          <p:cNvSpPr/>
          <p:nvPr/>
        </p:nvSpPr>
        <p:spPr>
          <a:xfrm>
            <a:off x="7223760" y="1915668"/>
            <a:ext cx="850392" cy="1842516"/>
          </a:xfrm>
          <a:prstGeom prst="line">
            <a:avLst/>
          </a:prstGeom>
          <a:noFill/>
          <a:ln w="12700">
            <a:solidFill>
              <a:srgbClr val="12867A">
                <a:alpha val="75000"/>
              </a:srgbClr>
            </a:solidFill>
            <a:prstDash val="solid"/>
          </a:ln>
        </p:spPr>
      </p:sp>
      <p:sp>
        <p:nvSpPr>
          <p:cNvPr id="7" name="Shape 5"/>
          <p:cNvSpPr/>
          <p:nvPr/>
        </p:nvSpPr>
        <p:spPr>
          <a:xfrm flipH="1">
            <a:off x="8074152" y="3049524"/>
            <a:ext cx="1062990" cy="708660"/>
          </a:xfrm>
          <a:prstGeom prst="line">
            <a:avLst/>
          </a:prstGeom>
          <a:noFill/>
          <a:ln w="12700">
            <a:solidFill>
              <a:srgbClr val="12867A">
                <a:alpha val="75000"/>
              </a:srgbClr>
            </a:solidFill>
            <a:prstDash val="solid"/>
          </a:ln>
        </p:spPr>
      </p:sp>
      <p:sp>
        <p:nvSpPr>
          <p:cNvPr id="8" name="Shape 6"/>
          <p:cNvSpPr/>
          <p:nvPr/>
        </p:nvSpPr>
        <p:spPr>
          <a:xfrm flipH="1">
            <a:off x="10483596" y="2766060"/>
            <a:ext cx="566928" cy="1559052"/>
          </a:xfrm>
          <a:prstGeom prst="line">
            <a:avLst/>
          </a:prstGeom>
          <a:noFill/>
          <a:ln w="12700">
            <a:solidFill>
              <a:srgbClr val="12867A">
                <a:alpha val="75000"/>
              </a:srgbClr>
            </a:solidFill>
            <a:prstDash val="solid"/>
          </a:ln>
        </p:spPr>
      </p:sp>
      <p:sp>
        <p:nvSpPr>
          <p:cNvPr id="9" name="Shape 7"/>
          <p:cNvSpPr/>
          <p:nvPr/>
        </p:nvSpPr>
        <p:spPr>
          <a:xfrm>
            <a:off x="8074152" y="3758184"/>
            <a:ext cx="2409444" cy="566928"/>
          </a:xfrm>
          <a:prstGeom prst="line">
            <a:avLst/>
          </a:prstGeom>
          <a:noFill/>
          <a:ln w="12700">
            <a:solidFill>
              <a:srgbClr val="12867A">
                <a:alpha val="75000"/>
              </a:srgbClr>
            </a:solidFill>
            <a:prstDash val="solid"/>
          </a:ln>
        </p:spPr>
      </p:sp>
      <p:sp>
        <p:nvSpPr>
          <p:cNvPr id="10" name="Shape 8"/>
          <p:cNvSpPr/>
          <p:nvPr/>
        </p:nvSpPr>
        <p:spPr>
          <a:xfrm flipH="1">
            <a:off x="9916668" y="1490472"/>
            <a:ext cx="2125980" cy="212598"/>
          </a:xfrm>
          <a:prstGeom prst="line">
            <a:avLst/>
          </a:prstGeom>
          <a:noFill/>
          <a:ln w="12700">
            <a:solidFill>
              <a:srgbClr val="12867A">
                <a:alpha val="75000"/>
              </a:srgbClr>
            </a:solidFill>
            <a:prstDash val="solid"/>
          </a:ln>
        </p:spPr>
      </p:sp>
      <p:sp>
        <p:nvSpPr>
          <p:cNvPr id="11" name="Shape 9"/>
          <p:cNvSpPr/>
          <p:nvPr/>
        </p:nvSpPr>
        <p:spPr>
          <a:xfrm>
            <a:off x="12042648" y="1490472"/>
            <a:ext cx="283464" cy="2267712"/>
          </a:xfrm>
          <a:prstGeom prst="line">
            <a:avLst/>
          </a:prstGeom>
          <a:noFill/>
          <a:ln w="12700">
            <a:solidFill>
              <a:srgbClr val="12867A">
                <a:alpha val="75000"/>
              </a:srgbClr>
            </a:solidFill>
            <a:prstDash val="solid"/>
          </a:ln>
        </p:spPr>
      </p:sp>
      <p:sp>
        <p:nvSpPr>
          <p:cNvPr id="12" name="Shape 10"/>
          <p:cNvSpPr/>
          <p:nvPr/>
        </p:nvSpPr>
        <p:spPr>
          <a:xfrm>
            <a:off x="11050524" y="2766060"/>
            <a:ext cx="1275588" cy="992124"/>
          </a:xfrm>
          <a:prstGeom prst="line">
            <a:avLst/>
          </a:prstGeom>
          <a:noFill/>
          <a:ln w="12700">
            <a:solidFill>
              <a:srgbClr val="12867A">
                <a:alpha val="75000"/>
              </a:srgbClr>
            </a:solidFill>
            <a:prstDash val="solid"/>
          </a:ln>
        </p:spPr>
      </p:sp>
      <p:sp>
        <p:nvSpPr>
          <p:cNvPr id="13" name="Shape 11"/>
          <p:cNvSpPr/>
          <p:nvPr/>
        </p:nvSpPr>
        <p:spPr>
          <a:xfrm>
            <a:off x="7067855" y="1759763"/>
            <a:ext cx="311810" cy="311810"/>
          </a:xfrm>
          <a:prstGeom prst="ellipse">
            <a:avLst/>
          </a:prstGeom>
          <a:solidFill>
            <a:srgbClr val="D98E04"/>
          </a:solidFill>
          <a:ln w="12700">
            <a:solidFill>
              <a:srgbClr val="12867A"/>
            </a:solidFill>
            <a:prstDash val="solid"/>
          </a:ln>
        </p:spPr>
      </p:sp>
      <p:sp>
        <p:nvSpPr>
          <p:cNvPr id="14" name="Shape 12"/>
          <p:cNvSpPr/>
          <p:nvPr/>
        </p:nvSpPr>
        <p:spPr>
          <a:xfrm>
            <a:off x="8407222" y="831418"/>
            <a:ext cx="184252" cy="184252"/>
          </a:xfrm>
          <a:prstGeom prst="ellipse">
            <a:avLst/>
          </a:prstGeom>
          <a:solidFill>
            <a:srgbClr val="12867A">
              <a:alpha val="70000"/>
            </a:srgbClr>
          </a:solidFill>
          <a:ln w="12700">
            <a:solidFill>
              <a:srgbClr val="12867A"/>
            </a:solidFill>
            <a:prstDash val="solid"/>
          </a:ln>
        </p:spPr>
      </p:sp>
      <p:sp>
        <p:nvSpPr>
          <p:cNvPr id="15" name="Shape 13"/>
          <p:cNvSpPr/>
          <p:nvPr/>
        </p:nvSpPr>
        <p:spPr>
          <a:xfrm>
            <a:off x="9824542" y="1610944"/>
            <a:ext cx="184252" cy="184252"/>
          </a:xfrm>
          <a:prstGeom prst="ellipse">
            <a:avLst/>
          </a:prstGeom>
          <a:solidFill>
            <a:srgbClr val="12867A">
              <a:alpha val="70000"/>
            </a:srgbClr>
          </a:solidFill>
          <a:ln w="12700">
            <a:solidFill>
              <a:srgbClr val="12867A"/>
            </a:solidFill>
            <a:prstDash val="solid"/>
          </a:ln>
        </p:spPr>
      </p:sp>
      <p:sp>
        <p:nvSpPr>
          <p:cNvPr id="16" name="Shape 14"/>
          <p:cNvSpPr/>
          <p:nvPr/>
        </p:nvSpPr>
        <p:spPr>
          <a:xfrm>
            <a:off x="8981237" y="2893619"/>
            <a:ext cx="311810" cy="311810"/>
          </a:xfrm>
          <a:prstGeom prst="ellipse">
            <a:avLst/>
          </a:prstGeom>
          <a:solidFill>
            <a:srgbClr val="12867A"/>
          </a:solidFill>
          <a:ln w="12700">
            <a:solidFill>
              <a:srgbClr val="12867A"/>
            </a:solidFill>
            <a:prstDash val="solid"/>
          </a:ln>
        </p:spPr>
      </p:sp>
      <p:sp>
        <p:nvSpPr>
          <p:cNvPr id="17" name="Shape 15"/>
          <p:cNvSpPr/>
          <p:nvPr/>
        </p:nvSpPr>
        <p:spPr>
          <a:xfrm>
            <a:off x="10958398" y="2673934"/>
            <a:ext cx="184252" cy="184252"/>
          </a:xfrm>
          <a:prstGeom prst="ellipse">
            <a:avLst/>
          </a:prstGeom>
          <a:solidFill>
            <a:srgbClr val="D98E04">
              <a:alpha val="70000"/>
            </a:srgbClr>
          </a:solidFill>
          <a:ln w="12700">
            <a:solidFill>
              <a:srgbClr val="12867A"/>
            </a:solidFill>
            <a:prstDash val="solid"/>
          </a:ln>
        </p:spPr>
      </p:sp>
      <p:sp>
        <p:nvSpPr>
          <p:cNvPr id="18" name="Shape 16"/>
          <p:cNvSpPr/>
          <p:nvPr/>
        </p:nvSpPr>
        <p:spPr>
          <a:xfrm>
            <a:off x="7982026" y="3666058"/>
            <a:ext cx="184252" cy="184252"/>
          </a:xfrm>
          <a:prstGeom prst="ellipse">
            <a:avLst/>
          </a:prstGeom>
          <a:solidFill>
            <a:srgbClr val="12867A">
              <a:alpha val="70000"/>
            </a:srgbClr>
          </a:solidFill>
          <a:ln w="12700">
            <a:solidFill>
              <a:srgbClr val="12867A"/>
            </a:solidFill>
            <a:prstDash val="solid"/>
          </a:ln>
        </p:spPr>
      </p:sp>
      <p:sp>
        <p:nvSpPr>
          <p:cNvPr id="19" name="Shape 17"/>
          <p:cNvSpPr/>
          <p:nvPr/>
        </p:nvSpPr>
        <p:spPr>
          <a:xfrm>
            <a:off x="10327691" y="4169207"/>
            <a:ext cx="311810" cy="311810"/>
          </a:xfrm>
          <a:prstGeom prst="ellipse">
            <a:avLst/>
          </a:prstGeom>
          <a:solidFill>
            <a:srgbClr val="12867A"/>
          </a:solidFill>
          <a:ln w="12700">
            <a:solidFill>
              <a:srgbClr val="12867A"/>
            </a:solidFill>
            <a:prstDash val="solid"/>
          </a:ln>
        </p:spPr>
      </p:sp>
      <p:sp>
        <p:nvSpPr>
          <p:cNvPr id="20" name="Shape 18"/>
          <p:cNvSpPr/>
          <p:nvPr/>
        </p:nvSpPr>
        <p:spPr>
          <a:xfrm>
            <a:off x="11950522" y="1398346"/>
            <a:ext cx="184252" cy="184252"/>
          </a:xfrm>
          <a:prstGeom prst="ellipse">
            <a:avLst/>
          </a:prstGeom>
          <a:solidFill>
            <a:srgbClr val="12867A">
              <a:alpha val="70000"/>
            </a:srgbClr>
          </a:solidFill>
          <a:ln w="12700">
            <a:solidFill>
              <a:srgbClr val="12867A"/>
            </a:solidFill>
            <a:prstDash val="solid"/>
          </a:ln>
        </p:spPr>
      </p:sp>
      <p:sp>
        <p:nvSpPr>
          <p:cNvPr id="21" name="Shape 19"/>
          <p:cNvSpPr/>
          <p:nvPr/>
        </p:nvSpPr>
        <p:spPr>
          <a:xfrm>
            <a:off x="12233986" y="3666058"/>
            <a:ext cx="184252" cy="184252"/>
          </a:xfrm>
          <a:prstGeom prst="ellipse">
            <a:avLst/>
          </a:prstGeom>
          <a:solidFill>
            <a:srgbClr val="D98E04">
              <a:alpha val="70000"/>
            </a:srgbClr>
          </a:solidFill>
          <a:ln w="12700">
            <a:solidFill>
              <a:srgbClr val="12867A"/>
            </a:solidFill>
            <a:prstDash val="solid"/>
          </a:ln>
        </p:spPr>
      </p:sp>
      <p:sp>
        <p:nvSpPr>
          <p:cNvPr id="22" name="Text 20"/>
          <p:cNvSpPr txBox="1"/>
          <p:nvPr/>
        </p:nvSpPr>
        <p:spPr>
          <a:xfrm>
            <a:off x="548640" y="1325880"/>
            <a:ext cx="7315200" cy="274320"/>
          </a:xfrm>
          <a:prstGeom prst="rect">
            <a:avLst/>
          </a:prstGeom>
          <a:noFill/>
          <a:ln/>
        </p:spPr>
        <p:txBody>
          <a:bodyPr wrap="square" lIns="0" tIns="0" rIns="0" bIns="0" rtlCol="0" anchor="t"/>
          <a:lstStyle/>
          <a:p>
            <a:pPr indent="0" marL="0">
              <a:buNone/>
            </a:pPr>
            <a:r>
              <a:rPr lang="en-US" sz="1000" b="1" spc="300" kern="0" dirty="0">
                <a:solidFill>
                  <a:srgbClr val="CADCFC"/>
                </a:solidFill>
                <a:latin typeface="Calibri" pitchFamily="34" charset="0"/>
                <a:ea typeface="Calibri" pitchFamily="34" charset="-122"/>
                <a:cs typeface="Calibri" pitchFamily="34" charset="-120"/>
              </a:rPr>
              <a:t>ROCKAI RESEARCH  •  AGENT MEMORY PROGRAM</a:t>
            </a:r>
            <a:endParaRPr lang="en-US" sz="1000" dirty="0"/>
          </a:p>
        </p:txBody>
      </p:sp>
      <p:sp>
        <p:nvSpPr>
          <p:cNvPr id="23" name="Text 21"/>
          <p:cNvSpPr txBox="1"/>
          <p:nvPr/>
        </p:nvSpPr>
        <p:spPr>
          <a:xfrm>
            <a:off x="548640" y="1691640"/>
            <a:ext cx="7772400" cy="18288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RockAI Agent Memory</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Governance Framework</a:t>
            </a:r>
            <a:endParaRPr lang="en-US" sz="4400" dirty="0"/>
          </a:p>
        </p:txBody>
      </p:sp>
      <p:sp>
        <p:nvSpPr>
          <p:cNvPr id="24" name="Text 22"/>
          <p:cNvSpPr txBox="1"/>
          <p:nvPr/>
        </p:nvSpPr>
        <p:spPr>
          <a:xfrm>
            <a:off x="548640" y="3611880"/>
            <a:ext cx="6949440" cy="73152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Compliance and control foundation for Memoria, Graphiti, Mem0/Zep, and future memory backends</a:t>
            </a:r>
            <a:endParaRPr lang="en-US" sz="1600" dirty="0"/>
          </a:p>
        </p:txBody>
      </p:sp>
      <p:sp>
        <p:nvSpPr>
          <p:cNvPr id="25" name="Shape 23"/>
          <p:cNvSpPr/>
          <p:nvPr/>
        </p:nvSpPr>
        <p:spPr>
          <a:xfrm>
            <a:off x="548640" y="4617720"/>
            <a:ext cx="7223760" cy="731520"/>
          </a:xfrm>
          <a:prstGeom prst="roundRect">
            <a:avLst>
              <a:gd name="adj" fmla="val 12500"/>
            </a:avLst>
          </a:prstGeom>
          <a:solidFill>
            <a:srgbClr val="14315A"/>
          </a:solidFill>
          <a:ln w="9525">
            <a:solidFill>
              <a:srgbClr val="12867A"/>
            </a:solidFill>
            <a:prstDash val="solid"/>
          </a:ln>
        </p:spPr>
      </p:sp>
      <p:sp>
        <p:nvSpPr>
          <p:cNvPr id="26" name="Text 24"/>
          <p:cNvSpPr txBox="1"/>
          <p:nvPr/>
        </p:nvSpPr>
        <p:spPr>
          <a:xfrm>
            <a:off x="822960" y="4617720"/>
            <a:ext cx="6766560" cy="731520"/>
          </a:xfrm>
          <a:prstGeom prst="rect">
            <a:avLst/>
          </a:prstGeom>
          <a:noFill/>
          <a:ln/>
        </p:spPr>
        <p:txBody>
          <a:bodyPr wrap="square" lIns="0" tIns="0" rIns="0" bIns="0" rtlCol="0" anchor="ctr"/>
          <a:lstStyle/>
          <a:p>
            <a:pPr indent="0" marL="0">
              <a:buNone/>
            </a:pPr>
            <a:r>
              <a:rPr lang="en-US" sz="1400" b="1" dirty="0">
                <a:solidFill>
                  <a:srgbClr val="D98E04"/>
                </a:solidFill>
                <a:latin typeface="Calibri" pitchFamily="34" charset="0"/>
                <a:ea typeface="Calibri" pitchFamily="34" charset="-122"/>
                <a:cs typeface="Calibri" pitchFamily="34" charset="-120"/>
              </a:rPr>
              <a:t>Core thesis  </a:t>
            </a:r>
            <a:pPr indent="0" marL="0">
              <a:buNone/>
            </a:pPr>
            <a:r>
              <a:rPr lang="en-US" sz="1400" dirty="0">
                <a:solidFill>
                  <a:srgbClr val="FFFFFF"/>
                </a:solidFill>
                <a:latin typeface="Calibri" pitchFamily="34" charset="0"/>
                <a:ea typeface="Calibri" pitchFamily="34" charset="-122"/>
                <a:cs typeface="Calibri" pitchFamily="34" charset="-120"/>
              </a:rPr>
              <a:t>Persistent memory turns transient AI output into a governed data-processing subsystem.</a:t>
            </a:r>
            <a:endParaRPr lang="en-US" sz="1400" dirty="0"/>
          </a:p>
        </p:txBody>
      </p:sp>
      <p:sp>
        <p:nvSpPr>
          <p:cNvPr id="27" name="Text 25"/>
          <p:cNvSpPr txBox="1"/>
          <p:nvPr/>
        </p:nvSpPr>
        <p:spPr>
          <a:xfrm>
            <a:off x="548640" y="5760720"/>
            <a:ext cx="7315200" cy="27432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Prepared for internal research / engineering planning  •  Updated 17 September 2026</a:t>
            </a:r>
            <a:endParaRPr lang="en-US" sz="1100" dirty="0"/>
          </a:p>
        </p:txBody>
      </p:sp>
      <p:sp>
        <p:nvSpPr>
          <p:cNvPr id="28" name="Text 26"/>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Not legal advice — applicability and interpretations to be confirmed by Legal, Privacy, Compliance, Information Security and Records Management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Executive framing</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48640" y="1371600"/>
            <a:ext cx="11094415" cy="777240"/>
          </a:xfrm>
          <a:prstGeom prst="roundRect">
            <a:avLst>
              <a:gd name="adj" fmla="val 11765"/>
            </a:avLst>
          </a:prstGeom>
          <a:solidFill>
            <a:srgbClr val="0B1F3A"/>
          </a:solidFill>
          <a:ln w="12700">
            <a:solidFill>
              <a:srgbClr val="0B1F3A"/>
            </a:solidFill>
            <a:prstDash val="solid"/>
          </a:ln>
        </p:spPr>
      </p:sp>
      <p:sp>
        <p:nvSpPr>
          <p:cNvPr id="6" name="Text 4"/>
          <p:cNvSpPr txBox="1"/>
          <p:nvPr/>
        </p:nvSpPr>
        <p:spPr>
          <a:xfrm>
            <a:off x="822960" y="1371600"/>
            <a:ext cx="10545775"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major regime names “agent memory” as a standalone category — but existing privacy, AI, model-risk, operational-resilience and third-party rules already govern what memory does.</a:t>
            </a:r>
            <a:endParaRPr lang="en-US" sz="1300" dirty="0"/>
          </a:p>
        </p:txBody>
      </p:sp>
      <p:sp>
        <p:nvSpPr>
          <p:cNvPr id="7" name="Shape 5"/>
          <p:cNvSpPr/>
          <p:nvPr/>
        </p:nvSpPr>
        <p:spPr>
          <a:xfrm>
            <a:off x="548640" y="2423160"/>
            <a:ext cx="3566160" cy="3017520"/>
          </a:xfrm>
          <a:prstGeom prst="roundRect">
            <a:avLst>
              <a:gd name="adj" fmla="val 2424"/>
            </a:avLst>
          </a:prstGeom>
          <a:solidFill>
            <a:srgbClr val="F7F9FC"/>
          </a:solidFill>
          <a:ln w="9525">
            <a:solidFill>
              <a:srgbClr val="D5DDE9"/>
            </a:solidFill>
            <a:prstDash val="solid"/>
          </a:ln>
        </p:spPr>
      </p:sp>
      <p:sp>
        <p:nvSpPr>
          <p:cNvPr id="8" name="Shape 6"/>
          <p:cNvSpPr/>
          <p:nvPr/>
        </p:nvSpPr>
        <p:spPr>
          <a:xfrm>
            <a:off x="713232" y="2587752"/>
            <a:ext cx="384048" cy="384048"/>
          </a:xfrm>
          <a:prstGeom prst="ellipse">
            <a:avLst/>
          </a:prstGeom>
          <a:solidFill>
            <a:srgbClr val="E3E9F3"/>
          </a:solidFill>
          <a:ln w="12700">
            <a:solidFill>
              <a:srgbClr val="E3E9F3"/>
            </a:solidFill>
            <a:prstDash val="solid"/>
          </a:ln>
        </p:spPr>
      </p:sp>
      <p:pic>
        <p:nvPicPr>
          <p:cNvPr id="9" name="Image 0" descr="preencoded.png">    </p:cNvPr>
          <p:cNvPicPr>
            <a:picLocks noChangeAspect="1"/>
          </p:cNvPicPr>
          <p:nvPr/>
        </p:nvPicPr>
        <p:blipFill>
          <a:blip r:embed="rId1"/>
          <a:stretch>
            <a:fillRect/>
          </a:stretch>
        </p:blipFill>
        <p:spPr>
          <a:xfrm>
            <a:off x="805404" y="2679924"/>
            <a:ext cx="199705" cy="199705"/>
          </a:xfrm>
          <a:prstGeom prst="rect">
            <a:avLst/>
          </a:prstGeom>
        </p:spPr>
      </p:pic>
      <p:sp>
        <p:nvSpPr>
          <p:cNvPr id="10" name="Text 7"/>
          <p:cNvSpPr txBox="1"/>
          <p:nvPr/>
        </p:nvSpPr>
        <p:spPr>
          <a:xfrm>
            <a:off x="1207008" y="258775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Design implication</a:t>
            </a:r>
            <a:endParaRPr lang="en-US" sz="1300" dirty="0"/>
          </a:p>
        </p:txBody>
      </p:sp>
      <p:sp>
        <p:nvSpPr>
          <p:cNvPr id="11" name="Text 8"/>
          <p:cNvSpPr txBox="1"/>
          <p:nvPr/>
        </p:nvSpPr>
        <p:spPr>
          <a:xfrm>
            <a:off x="731520" y="3063240"/>
            <a:ext cx="3200400" cy="22402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Treat memory as a platform control plane, not a feature: policy, provenance, access control, retention, erasure, audit and vendor governance must sit above every backend.</a:t>
            </a:r>
            <a:endParaRPr lang="en-US" sz="1250" dirty="0"/>
          </a:p>
        </p:txBody>
      </p:sp>
      <p:sp>
        <p:nvSpPr>
          <p:cNvPr id="12" name="Shape 9"/>
          <p:cNvSpPr/>
          <p:nvPr/>
        </p:nvSpPr>
        <p:spPr>
          <a:xfrm>
            <a:off x="4315968" y="2423160"/>
            <a:ext cx="3566160" cy="3017520"/>
          </a:xfrm>
          <a:prstGeom prst="roundRect">
            <a:avLst>
              <a:gd name="adj" fmla="val 2424"/>
            </a:avLst>
          </a:prstGeom>
          <a:solidFill>
            <a:srgbClr val="F7F9FC"/>
          </a:solidFill>
          <a:ln w="9525">
            <a:solidFill>
              <a:srgbClr val="D5DDE9"/>
            </a:solidFill>
            <a:prstDash val="solid"/>
          </a:ln>
        </p:spPr>
      </p:sp>
      <p:sp>
        <p:nvSpPr>
          <p:cNvPr id="13" name="Shape 10"/>
          <p:cNvSpPr/>
          <p:nvPr/>
        </p:nvSpPr>
        <p:spPr>
          <a:xfrm>
            <a:off x="4480560" y="2587752"/>
            <a:ext cx="384048" cy="384048"/>
          </a:xfrm>
          <a:prstGeom prst="ellipse">
            <a:avLst/>
          </a:prstGeom>
          <a:solidFill>
            <a:srgbClr val="DDF0ED"/>
          </a:solidFill>
          <a:ln w="12700">
            <a:solidFill>
              <a:srgbClr val="DDF0ED"/>
            </a:solidFill>
            <a:prstDash val="solid"/>
          </a:ln>
        </p:spPr>
      </p:sp>
      <p:pic>
        <p:nvPicPr>
          <p:cNvPr id="14" name="Image 1" descr="preencoded.png">    </p:cNvPr>
          <p:cNvPicPr>
            <a:picLocks noChangeAspect="1"/>
          </p:cNvPicPr>
          <p:nvPr/>
        </p:nvPicPr>
        <p:blipFill>
          <a:blip r:embed="rId2"/>
          <a:stretch>
            <a:fillRect/>
          </a:stretch>
        </p:blipFill>
        <p:spPr>
          <a:xfrm>
            <a:off x="4572732" y="2679924"/>
            <a:ext cx="199705" cy="199705"/>
          </a:xfrm>
          <a:prstGeom prst="rect">
            <a:avLst/>
          </a:prstGeom>
        </p:spPr>
      </p:pic>
      <p:sp>
        <p:nvSpPr>
          <p:cNvPr id="15" name="Text 11"/>
          <p:cNvSpPr txBox="1"/>
          <p:nvPr/>
        </p:nvSpPr>
        <p:spPr>
          <a:xfrm>
            <a:off x="4974336" y="258775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Technical implication</a:t>
            </a:r>
            <a:endParaRPr lang="en-US" sz="1300" dirty="0"/>
          </a:p>
        </p:txBody>
      </p:sp>
      <p:sp>
        <p:nvSpPr>
          <p:cNvPr id="16" name="Text 12"/>
          <p:cNvSpPr txBox="1"/>
          <p:nvPr/>
        </p:nvSpPr>
        <p:spPr>
          <a:xfrm>
            <a:off x="4498848" y="3063240"/>
            <a:ext cx="3200400" cy="22402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 graph is helpful only if governance attaches to nodes, edges, derivations and retrieval decisions — not just to the database. Governance is graph-native, not a filter bolted onto a store.</a:t>
            </a:r>
            <a:endParaRPr lang="en-US" sz="1250" dirty="0"/>
          </a:p>
        </p:txBody>
      </p:sp>
      <p:sp>
        <p:nvSpPr>
          <p:cNvPr id="17" name="Shape 13"/>
          <p:cNvSpPr/>
          <p:nvPr/>
        </p:nvSpPr>
        <p:spPr>
          <a:xfrm>
            <a:off x="8083296" y="2423160"/>
            <a:ext cx="3566160" cy="3017520"/>
          </a:xfrm>
          <a:prstGeom prst="roundRect">
            <a:avLst>
              <a:gd name="adj" fmla="val 2424"/>
            </a:avLst>
          </a:prstGeom>
          <a:solidFill>
            <a:srgbClr val="F7F9FC"/>
          </a:solidFill>
          <a:ln w="9525">
            <a:solidFill>
              <a:srgbClr val="D5DDE9"/>
            </a:solidFill>
            <a:prstDash val="solid"/>
          </a:ln>
        </p:spPr>
      </p:sp>
      <p:sp>
        <p:nvSpPr>
          <p:cNvPr id="18" name="Shape 14"/>
          <p:cNvSpPr/>
          <p:nvPr/>
        </p:nvSpPr>
        <p:spPr>
          <a:xfrm>
            <a:off x="8247888" y="2587752"/>
            <a:ext cx="384048" cy="384048"/>
          </a:xfrm>
          <a:prstGeom prst="ellipse">
            <a:avLst/>
          </a:prstGeom>
          <a:solidFill>
            <a:srgbClr val="FBF1DE"/>
          </a:solidFill>
          <a:ln w="12700">
            <a:solidFill>
              <a:srgbClr val="FBF1DE"/>
            </a:solidFill>
            <a:prstDash val="solid"/>
          </a:ln>
        </p:spPr>
      </p:sp>
      <p:pic>
        <p:nvPicPr>
          <p:cNvPr id="19" name="Image 2" descr="preencoded.png">    </p:cNvPr>
          <p:cNvPicPr>
            <a:picLocks noChangeAspect="1"/>
          </p:cNvPicPr>
          <p:nvPr/>
        </p:nvPicPr>
        <p:blipFill>
          <a:blip r:embed="rId3"/>
          <a:stretch>
            <a:fillRect/>
          </a:stretch>
        </p:blipFill>
        <p:spPr>
          <a:xfrm>
            <a:off x="8340060" y="2679924"/>
            <a:ext cx="199705" cy="199705"/>
          </a:xfrm>
          <a:prstGeom prst="rect">
            <a:avLst/>
          </a:prstGeom>
        </p:spPr>
      </p:pic>
      <p:sp>
        <p:nvSpPr>
          <p:cNvPr id="20" name="Text 15"/>
          <p:cNvSpPr txBox="1"/>
          <p:nvPr/>
        </p:nvSpPr>
        <p:spPr>
          <a:xfrm>
            <a:off x="8741664" y="258775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Operating implication</a:t>
            </a:r>
            <a:endParaRPr lang="en-US" sz="1300" dirty="0"/>
          </a:p>
        </p:txBody>
      </p:sp>
      <p:sp>
        <p:nvSpPr>
          <p:cNvPr id="21" name="Text 16"/>
          <p:cNvSpPr txBox="1"/>
          <p:nvPr/>
        </p:nvSpPr>
        <p:spPr>
          <a:xfrm>
            <a:off x="8266176" y="3063240"/>
            <a:ext cx="3200400" cy="22402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Memoria, Graphiti, Mem0 and Zep should be interchangeable engines behind a single RockAI governance contract and conformance suite — admitted only after passing the same tests.</a:t>
            </a:r>
            <a:endParaRPr lang="en-US" sz="1250" dirty="0"/>
          </a:p>
        </p:txBody>
      </p:sp>
      <p:sp>
        <p:nvSpPr>
          <p:cNvPr id="22" name="Text 17"/>
          <p:cNvSpPr txBox="1"/>
          <p:nvPr/>
        </p:nvSpPr>
        <p:spPr>
          <a:xfrm>
            <a:off x="548640" y="5669280"/>
            <a:ext cx="11094415" cy="457200"/>
          </a:xfrm>
          <a:prstGeom prst="rect">
            <a:avLst/>
          </a:prstGeom>
          <a:noFill/>
          <a:ln/>
        </p:spPr>
        <p:txBody>
          <a:bodyPr wrap="square" lIns="0" tIns="0" rIns="0" bIns="0" rtlCol="0" anchor="t"/>
          <a:lstStyle/>
          <a:p>
            <a:pPr indent="0" marL="0">
              <a:buNone/>
            </a:pPr>
            <a:r>
              <a:rPr lang="en-US" sz="1000" dirty="0">
                <a:solidFill>
                  <a:srgbClr val="5C6B80"/>
                </a:solidFill>
                <a:latin typeface="Calibri" pitchFamily="34" charset="0"/>
                <a:ea typeface="Calibri" pitchFamily="34" charset="-122"/>
                <a:cs typeface="Calibri" pitchFamily="34" charset="-120"/>
              </a:rPr>
              <a:t>Sources used throughout: GDPR; EU AI Act (incl. Digital Omnibus 2026/1744); SEC Reg S-P; Treasury FS AI RMF; DORA; FSB AI reports; NIST AI RMF/GenAI Profile; SR 26-2; Graphiti docs/advisories; Memoria paper; AuthMem-Bench.</a:t>
            </a:r>
            <a:endParaRPr lang="en-US" sz="1000" dirty="0"/>
          </a:p>
        </p:txBody>
      </p:sp>
      <p:sp>
        <p:nvSpPr>
          <p:cNvPr id="23" name="Text 18"/>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flipH="1">
            <a:off x="7863840" y="1143000"/>
            <a:ext cx="1028700" cy="800100"/>
          </a:xfrm>
          <a:prstGeom prst="line">
            <a:avLst/>
          </a:prstGeom>
          <a:noFill/>
          <a:ln w="12700">
            <a:solidFill>
              <a:srgbClr val="12867A">
                <a:alpha val="70000"/>
              </a:srgbClr>
            </a:solidFill>
            <a:prstDash val="solid"/>
          </a:ln>
        </p:spPr>
      </p:sp>
      <p:sp>
        <p:nvSpPr>
          <p:cNvPr id="3" name="Shape 1"/>
          <p:cNvSpPr/>
          <p:nvPr/>
        </p:nvSpPr>
        <p:spPr>
          <a:xfrm>
            <a:off x="8892540" y="1143000"/>
            <a:ext cx="1143000" cy="628650"/>
          </a:xfrm>
          <a:prstGeom prst="line">
            <a:avLst/>
          </a:prstGeom>
          <a:noFill/>
          <a:ln w="12700">
            <a:solidFill>
              <a:srgbClr val="12867A">
                <a:alpha val="70000"/>
              </a:srgbClr>
            </a:solidFill>
            <a:prstDash val="solid"/>
          </a:ln>
        </p:spPr>
      </p:sp>
      <p:sp>
        <p:nvSpPr>
          <p:cNvPr id="4" name="Shape 2"/>
          <p:cNvSpPr/>
          <p:nvPr/>
        </p:nvSpPr>
        <p:spPr>
          <a:xfrm flipH="1">
            <a:off x="9406890" y="1771650"/>
            <a:ext cx="628650" cy="1085850"/>
          </a:xfrm>
          <a:prstGeom prst="line">
            <a:avLst/>
          </a:prstGeom>
          <a:noFill/>
          <a:ln w="12700">
            <a:solidFill>
              <a:srgbClr val="12867A">
                <a:alpha val="70000"/>
              </a:srgbClr>
            </a:solidFill>
            <a:prstDash val="solid"/>
          </a:ln>
        </p:spPr>
      </p:sp>
      <p:sp>
        <p:nvSpPr>
          <p:cNvPr id="5" name="Shape 3"/>
          <p:cNvSpPr/>
          <p:nvPr/>
        </p:nvSpPr>
        <p:spPr>
          <a:xfrm flipH="1">
            <a:off x="9406890" y="2628900"/>
            <a:ext cx="1543050" cy="228600"/>
          </a:xfrm>
          <a:prstGeom prst="line">
            <a:avLst/>
          </a:prstGeom>
          <a:noFill/>
          <a:ln w="12700">
            <a:solidFill>
              <a:srgbClr val="12867A">
                <a:alpha val="70000"/>
              </a:srgbClr>
            </a:solidFill>
            <a:prstDash val="solid"/>
          </a:ln>
        </p:spPr>
      </p:sp>
      <p:sp>
        <p:nvSpPr>
          <p:cNvPr id="6" name="Shape 4"/>
          <p:cNvSpPr/>
          <p:nvPr/>
        </p:nvSpPr>
        <p:spPr>
          <a:xfrm>
            <a:off x="7863840" y="1943100"/>
            <a:ext cx="685800" cy="1485900"/>
          </a:xfrm>
          <a:prstGeom prst="line">
            <a:avLst/>
          </a:prstGeom>
          <a:noFill/>
          <a:ln w="12700">
            <a:solidFill>
              <a:srgbClr val="12867A">
                <a:alpha val="70000"/>
              </a:srgbClr>
            </a:solidFill>
            <a:prstDash val="solid"/>
          </a:ln>
        </p:spPr>
      </p:sp>
      <p:sp>
        <p:nvSpPr>
          <p:cNvPr id="7" name="Shape 5"/>
          <p:cNvSpPr/>
          <p:nvPr/>
        </p:nvSpPr>
        <p:spPr>
          <a:xfrm flipH="1">
            <a:off x="8549640" y="2857500"/>
            <a:ext cx="857250" cy="571500"/>
          </a:xfrm>
          <a:prstGeom prst="line">
            <a:avLst/>
          </a:prstGeom>
          <a:noFill/>
          <a:ln w="12700">
            <a:solidFill>
              <a:srgbClr val="12867A">
                <a:alpha val="70000"/>
              </a:srgbClr>
            </a:solidFill>
            <a:prstDash val="solid"/>
          </a:ln>
        </p:spPr>
      </p:sp>
      <p:sp>
        <p:nvSpPr>
          <p:cNvPr id="8" name="Shape 6"/>
          <p:cNvSpPr/>
          <p:nvPr/>
        </p:nvSpPr>
        <p:spPr>
          <a:xfrm flipH="1">
            <a:off x="10492740" y="2628900"/>
            <a:ext cx="457200" cy="1257300"/>
          </a:xfrm>
          <a:prstGeom prst="line">
            <a:avLst/>
          </a:prstGeom>
          <a:noFill/>
          <a:ln w="12700">
            <a:solidFill>
              <a:srgbClr val="12867A">
                <a:alpha val="70000"/>
              </a:srgbClr>
            </a:solidFill>
            <a:prstDash val="solid"/>
          </a:ln>
        </p:spPr>
      </p:sp>
      <p:sp>
        <p:nvSpPr>
          <p:cNvPr id="9" name="Shape 7"/>
          <p:cNvSpPr/>
          <p:nvPr/>
        </p:nvSpPr>
        <p:spPr>
          <a:xfrm>
            <a:off x="8549640" y="3429000"/>
            <a:ext cx="1943100" cy="457200"/>
          </a:xfrm>
          <a:prstGeom prst="line">
            <a:avLst/>
          </a:prstGeom>
          <a:noFill/>
          <a:ln w="12700">
            <a:solidFill>
              <a:srgbClr val="12867A">
                <a:alpha val="70000"/>
              </a:srgbClr>
            </a:solidFill>
            <a:prstDash val="solid"/>
          </a:ln>
        </p:spPr>
      </p:sp>
      <p:sp>
        <p:nvSpPr>
          <p:cNvPr id="10" name="Shape 8"/>
          <p:cNvSpPr/>
          <p:nvPr/>
        </p:nvSpPr>
        <p:spPr>
          <a:xfrm flipH="1">
            <a:off x="10035540" y="1600200"/>
            <a:ext cx="1714500" cy="171450"/>
          </a:xfrm>
          <a:prstGeom prst="line">
            <a:avLst/>
          </a:prstGeom>
          <a:noFill/>
          <a:ln w="12700">
            <a:solidFill>
              <a:srgbClr val="12867A">
                <a:alpha val="70000"/>
              </a:srgbClr>
            </a:solidFill>
            <a:prstDash val="solid"/>
          </a:ln>
        </p:spPr>
      </p:sp>
      <p:sp>
        <p:nvSpPr>
          <p:cNvPr id="11" name="Shape 9"/>
          <p:cNvSpPr/>
          <p:nvPr/>
        </p:nvSpPr>
        <p:spPr>
          <a:xfrm>
            <a:off x="11750040" y="1600200"/>
            <a:ext cx="228600" cy="1828800"/>
          </a:xfrm>
          <a:prstGeom prst="line">
            <a:avLst/>
          </a:prstGeom>
          <a:noFill/>
          <a:ln w="12700">
            <a:solidFill>
              <a:srgbClr val="12867A">
                <a:alpha val="70000"/>
              </a:srgbClr>
            </a:solidFill>
            <a:prstDash val="solid"/>
          </a:ln>
        </p:spPr>
      </p:sp>
      <p:sp>
        <p:nvSpPr>
          <p:cNvPr id="12" name="Shape 10"/>
          <p:cNvSpPr/>
          <p:nvPr/>
        </p:nvSpPr>
        <p:spPr>
          <a:xfrm>
            <a:off x="10949940" y="2628900"/>
            <a:ext cx="1028700" cy="800100"/>
          </a:xfrm>
          <a:prstGeom prst="line">
            <a:avLst/>
          </a:prstGeom>
          <a:noFill/>
          <a:ln w="12700">
            <a:solidFill>
              <a:srgbClr val="12867A">
                <a:alpha val="70000"/>
              </a:srgbClr>
            </a:solidFill>
            <a:prstDash val="solid"/>
          </a:ln>
        </p:spPr>
      </p:sp>
      <p:sp>
        <p:nvSpPr>
          <p:cNvPr id="13" name="Shape 11"/>
          <p:cNvSpPr/>
          <p:nvPr/>
        </p:nvSpPr>
        <p:spPr>
          <a:xfrm>
            <a:off x="7738110" y="1817370"/>
            <a:ext cx="251460" cy="251460"/>
          </a:xfrm>
          <a:prstGeom prst="ellipse">
            <a:avLst/>
          </a:prstGeom>
          <a:solidFill>
            <a:srgbClr val="D98E04"/>
          </a:solidFill>
          <a:ln w="12700">
            <a:solidFill>
              <a:srgbClr val="12867A"/>
            </a:solidFill>
            <a:prstDash val="solid"/>
          </a:ln>
        </p:spPr>
      </p:sp>
      <p:sp>
        <p:nvSpPr>
          <p:cNvPr id="14" name="Shape 12"/>
          <p:cNvSpPr/>
          <p:nvPr/>
        </p:nvSpPr>
        <p:spPr>
          <a:xfrm>
            <a:off x="8818245" y="1068705"/>
            <a:ext cx="148590" cy="148590"/>
          </a:xfrm>
          <a:prstGeom prst="ellipse">
            <a:avLst/>
          </a:prstGeom>
          <a:solidFill>
            <a:srgbClr val="12867A">
              <a:alpha val="70000"/>
            </a:srgbClr>
          </a:solidFill>
          <a:ln w="12700">
            <a:solidFill>
              <a:srgbClr val="12867A"/>
            </a:solidFill>
            <a:prstDash val="solid"/>
          </a:ln>
        </p:spPr>
      </p:sp>
      <p:sp>
        <p:nvSpPr>
          <p:cNvPr id="15" name="Shape 13"/>
          <p:cNvSpPr/>
          <p:nvPr/>
        </p:nvSpPr>
        <p:spPr>
          <a:xfrm>
            <a:off x="9961245" y="1697355"/>
            <a:ext cx="148590" cy="148590"/>
          </a:xfrm>
          <a:prstGeom prst="ellipse">
            <a:avLst/>
          </a:prstGeom>
          <a:solidFill>
            <a:srgbClr val="12867A">
              <a:alpha val="70000"/>
            </a:srgbClr>
          </a:solidFill>
          <a:ln w="12700">
            <a:solidFill>
              <a:srgbClr val="12867A"/>
            </a:solidFill>
            <a:prstDash val="solid"/>
          </a:ln>
        </p:spPr>
      </p:sp>
      <p:sp>
        <p:nvSpPr>
          <p:cNvPr id="16" name="Shape 14"/>
          <p:cNvSpPr/>
          <p:nvPr/>
        </p:nvSpPr>
        <p:spPr>
          <a:xfrm>
            <a:off x="9281160" y="2731770"/>
            <a:ext cx="251460" cy="251460"/>
          </a:xfrm>
          <a:prstGeom prst="ellipse">
            <a:avLst/>
          </a:prstGeom>
          <a:solidFill>
            <a:srgbClr val="12867A"/>
          </a:solidFill>
          <a:ln w="12700">
            <a:solidFill>
              <a:srgbClr val="12867A"/>
            </a:solidFill>
            <a:prstDash val="solid"/>
          </a:ln>
        </p:spPr>
      </p:sp>
      <p:sp>
        <p:nvSpPr>
          <p:cNvPr id="17" name="Shape 15"/>
          <p:cNvSpPr/>
          <p:nvPr/>
        </p:nvSpPr>
        <p:spPr>
          <a:xfrm>
            <a:off x="10875645" y="2554605"/>
            <a:ext cx="148590" cy="148590"/>
          </a:xfrm>
          <a:prstGeom prst="ellipse">
            <a:avLst/>
          </a:prstGeom>
          <a:solidFill>
            <a:srgbClr val="D98E04">
              <a:alpha val="70000"/>
            </a:srgbClr>
          </a:solidFill>
          <a:ln w="12700">
            <a:solidFill>
              <a:srgbClr val="12867A"/>
            </a:solidFill>
            <a:prstDash val="solid"/>
          </a:ln>
        </p:spPr>
      </p:sp>
      <p:sp>
        <p:nvSpPr>
          <p:cNvPr id="18" name="Shape 16"/>
          <p:cNvSpPr/>
          <p:nvPr/>
        </p:nvSpPr>
        <p:spPr>
          <a:xfrm>
            <a:off x="8475345" y="3354705"/>
            <a:ext cx="148590" cy="148590"/>
          </a:xfrm>
          <a:prstGeom prst="ellipse">
            <a:avLst/>
          </a:prstGeom>
          <a:solidFill>
            <a:srgbClr val="12867A">
              <a:alpha val="70000"/>
            </a:srgbClr>
          </a:solidFill>
          <a:ln w="12700">
            <a:solidFill>
              <a:srgbClr val="12867A"/>
            </a:solidFill>
            <a:prstDash val="solid"/>
          </a:ln>
        </p:spPr>
      </p:sp>
      <p:sp>
        <p:nvSpPr>
          <p:cNvPr id="19" name="Shape 17"/>
          <p:cNvSpPr/>
          <p:nvPr/>
        </p:nvSpPr>
        <p:spPr>
          <a:xfrm>
            <a:off x="10367010" y="3760470"/>
            <a:ext cx="251460" cy="251460"/>
          </a:xfrm>
          <a:prstGeom prst="ellipse">
            <a:avLst/>
          </a:prstGeom>
          <a:solidFill>
            <a:srgbClr val="12867A"/>
          </a:solidFill>
          <a:ln w="12700">
            <a:solidFill>
              <a:srgbClr val="12867A"/>
            </a:solidFill>
            <a:prstDash val="solid"/>
          </a:ln>
        </p:spPr>
      </p:sp>
      <p:sp>
        <p:nvSpPr>
          <p:cNvPr id="20" name="Shape 18"/>
          <p:cNvSpPr/>
          <p:nvPr/>
        </p:nvSpPr>
        <p:spPr>
          <a:xfrm>
            <a:off x="11675745" y="1525905"/>
            <a:ext cx="148590" cy="148590"/>
          </a:xfrm>
          <a:prstGeom prst="ellipse">
            <a:avLst/>
          </a:prstGeom>
          <a:solidFill>
            <a:srgbClr val="12867A">
              <a:alpha val="70000"/>
            </a:srgbClr>
          </a:solidFill>
          <a:ln w="12700">
            <a:solidFill>
              <a:srgbClr val="12867A"/>
            </a:solidFill>
            <a:prstDash val="solid"/>
          </a:ln>
        </p:spPr>
      </p:sp>
      <p:sp>
        <p:nvSpPr>
          <p:cNvPr id="21" name="Shape 19"/>
          <p:cNvSpPr/>
          <p:nvPr/>
        </p:nvSpPr>
        <p:spPr>
          <a:xfrm>
            <a:off x="11904345" y="3354705"/>
            <a:ext cx="148590" cy="148590"/>
          </a:xfrm>
          <a:prstGeom prst="ellipse">
            <a:avLst/>
          </a:prstGeom>
          <a:solidFill>
            <a:srgbClr val="D98E04">
              <a:alpha val="70000"/>
            </a:srgbClr>
          </a:solidFill>
          <a:ln w="12700">
            <a:solidFill>
              <a:srgbClr val="12867A"/>
            </a:solidFill>
            <a:prstDash val="solid"/>
          </a:ln>
        </p:spPr>
      </p:sp>
      <p:sp>
        <p:nvSpPr>
          <p:cNvPr id="22" name="Text 20"/>
          <p:cNvSpPr txBox="1"/>
          <p:nvPr/>
        </p:nvSpPr>
        <p:spPr>
          <a:xfrm>
            <a:off x="548640" y="1463040"/>
            <a:ext cx="2743200" cy="1097280"/>
          </a:xfrm>
          <a:prstGeom prst="rect">
            <a:avLst/>
          </a:prstGeom>
          <a:noFill/>
          <a:ln/>
        </p:spPr>
        <p:txBody>
          <a:bodyPr wrap="square" lIns="0" tIns="0" rIns="0" bIns="0" rtlCol="0" anchor="t"/>
          <a:lstStyle/>
          <a:p>
            <a:pPr indent="0" marL="0">
              <a:buNone/>
            </a:pPr>
            <a:r>
              <a:rPr lang="en-US" sz="7200" b="1" dirty="0">
                <a:solidFill>
                  <a:srgbClr val="D98E04"/>
                </a:solidFill>
                <a:latin typeface="Cambria" pitchFamily="34" charset="0"/>
                <a:ea typeface="Cambria" pitchFamily="34" charset="-122"/>
                <a:cs typeface="Cambria" pitchFamily="34" charset="-120"/>
              </a:rPr>
              <a:t>01</a:t>
            </a:r>
            <a:endParaRPr lang="en-US" sz="7200" dirty="0"/>
          </a:p>
        </p:txBody>
      </p:sp>
      <p:sp>
        <p:nvSpPr>
          <p:cNvPr id="23" name="Text 21"/>
          <p:cNvSpPr txBox="1"/>
          <p:nvPr/>
        </p:nvSpPr>
        <p:spPr>
          <a:xfrm>
            <a:off x="548640" y="2651760"/>
            <a:ext cx="749808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Why agent memory needs its own governance layer</a:t>
            </a:r>
            <a:endParaRPr lang="en-US" sz="3400" dirty="0"/>
          </a:p>
        </p:txBody>
      </p:sp>
      <p:sp>
        <p:nvSpPr>
          <p:cNvPr id="24" name="Text 22"/>
          <p:cNvSpPr txBox="1"/>
          <p:nvPr/>
        </p:nvSpPr>
        <p:spPr>
          <a:xfrm>
            <a:off x="548640" y="4023360"/>
            <a:ext cx="6949440" cy="109728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Persistent memory changes the risk profile: information can survive the session, be derived into a graph, influence later decisions, and propagate across agents.</a:t>
            </a:r>
            <a:endParaRPr lang="en-US" sz="1500" dirty="0"/>
          </a:p>
        </p:txBody>
      </p:sp>
      <p:sp>
        <p:nvSpPr>
          <p:cNvPr id="25" name="Text 23"/>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RockAI Agent Memory Governance Framework  •  Internal research draft  •  Sept 2026  •  Not legal advice</a:t>
            </a:r>
            <a:endParaRPr lang="en-US" sz="900" dirty="0"/>
          </a:p>
        </p:txBody>
      </p:sp>
      <p:sp>
        <p:nvSpPr>
          <p:cNvPr id="26" name="Text 2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ephemeral prompt to persistent regulated state</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48640" y="2103120"/>
            <a:ext cx="1700784" cy="2651760"/>
          </a:xfrm>
          <a:prstGeom prst="roundRect">
            <a:avLst>
              <a:gd name="adj" fmla="val 4301"/>
            </a:avLst>
          </a:prstGeom>
          <a:solidFill>
            <a:srgbClr val="F7F9FC"/>
          </a:solidFill>
          <a:ln w="9525">
            <a:solidFill>
              <a:srgbClr val="D5DDE9"/>
            </a:solidFill>
            <a:prstDash val="solid"/>
          </a:ln>
        </p:spPr>
      </p:sp>
      <p:sp>
        <p:nvSpPr>
          <p:cNvPr id="6" name="Shape 4"/>
          <p:cNvSpPr/>
          <p:nvPr/>
        </p:nvSpPr>
        <p:spPr>
          <a:xfrm>
            <a:off x="1069848" y="1783080"/>
            <a:ext cx="658368" cy="658368"/>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1227856" y="1941088"/>
            <a:ext cx="342351" cy="342351"/>
          </a:xfrm>
          <a:prstGeom prst="rect">
            <a:avLst/>
          </a:prstGeom>
        </p:spPr>
      </p:pic>
      <p:sp>
        <p:nvSpPr>
          <p:cNvPr id="8" name="Text 5"/>
          <p:cNvSpPr txBox="1"/>
          <p:nvPr/>
        </p:nvSpPr>
        <p:spPr>
          <a:xfrm>
            <a:off x="658368" y="2560320"/>
            <a:ext cx="1481328"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Observe</a:t>
            </a:r>
            <a:endParaRPr lang="en-US" sz="1400" dirty="0"/>
          </a:p>
        </p:txBody>
      </p:sp>
      <p:sp>
        <p:nvSpPr>
          <p:cNvPr id="9" name="Text 6"/>
          <p:cNvSpPr txBox="1"/>
          <p:nvPr/>
        </p:nvSpPr>
        <p:spPr>
          <a:xfrm>
            <a:off x="685800" y="2971800"/>
            <a:ext cx="1426464" cy="118872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conversation, tool result, file, market or context signal</a:t>
            </a:r>
            <a:endParaRPr lang="en-US" sz="1150" dirty="0"/>
          </a:p>
        </p:txBody>
      </p:sp>
      <p:sp>
        <p:nvSpPr>
          <p:cNvPr id="10" name="Shape 7"/>
          <p:cNvSpPr/>
          <p:nvPr/>
        </p:nvSpPr>
        <p:spPr>
          <a:xfrm>
            <a:off x="2249424" y="2112264"/>
            <a:ext cx="173736" cy="0"/>
          </a:xfrm>
          <a:prstGeom prst="line">
            <a:avLst/>
          </a:prstGeom>
          <a:noFill/>
          <a:ln w="12700">
            <a:solidFill>
              <a:srgbClr val="D5DDE9"/>
            </a:solidFill>
            <a:prstDash val="solid"/>
          </a:ln>
        </p:spPr>
      </p:sp>
      <p:sp>
        <p:nvSpPr>
          <p:cNvPr id="11" name="Shape 8"/>
          <p:cNvSpPr/>
          <p:nvPr/>
        </p:nvSpPr>
        <p:spPr>
          <a:xfrm>
            <a:off x="2423160" y="2103120"/>
            <a:ext cx="1700784" cy="2651760"/>
          </a:xfrm>
          <a:prstGeom prst="roundRect">
            <a:avLst>
              <a:gd name="adj" fmla="val 4301"/>
            </a:avLst>
          </a:prstGeom>
          <a:solidFill>
            <a:srgbClr val="F7F9FC"/>
          </a:solidFill>
          <a:ln w="9525">
            <a:solidFill>
              <a:srgbClr val="D5DDE9"/>
            </a:solidFill>
            <a:prstDash val="solid"/>
          </a:ln>
        </p:spPr>
      </p:sp>
      <p:sp>
        <p:nvSpPr>
          <p:cNvPr id="12" name="Shape 9"/>
          <p:cNvSpPr/>
          <p:nvPr/>
        </p:nvSpPr>
        <p:spPr>
          <a:xfrm>
            <a:off x="2944368" y="1783080"/>
            <a:ext cx="658368" cy="658368"/>
          </a:xfrm>
          <a:prstGeom prst="ellipse">
            <a:avLst/>
          </a:prstGeom>
          <a:solidFill>
            <a:srgbClr val="E3E9F3"/>
          </a:solidFill>
          <a:ln w="12700">
            <a:solidFill>
              <a:srgbClr val="E3E9F3"/>
            </a:solidFill>
            <a:prstDash val="solid"/>
          </a:ln>
        </p:spPr>
      </p:sp>
      <p:pic>
        <p:nvPicPr>
          <p:cNvPr id="13" name="Image 1" descr="preencoded.png">    </p:cNvPr>
          <p:cNvPicPr>
            <a:picLocks noChangeAspect="1"/>
          </p:cNvPicPr>
          <p:nvPr/>
        </p:nvPicPr>
        <p:blipFill>
          <a:blip r:embed="rId2"/>
          <a:stretch>
            <a:fillRect/>
          </a:stretch>
        </p:blipFill>
        <p:spPr>
          <a:xfrm>
            <a:off x="3102376" y="1941088"/>
            <a:ext cx="342351" cy="342351"/>
          </a:xfrm>
          <a:prstGeom prst="rect">
            <a:avLst/>
          </a:prstGeom>
        </p:spPr>
      </p:pic>
      <p:sp>
        <p:nvSpPr>
          <p:cNvPr id="14" name="Text 10"/>
          <p:cNvSpPr txBox="1"/>
          <p:nvPr/>
        </p:nvSpPr>
        <p:spPr>
          <a:xfrm>
            <a:off x="2532888" y="2560320"/>
            <a:ext cx="1481328"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Select</a:t>
            </a:r>
            <a:endParaRPr lang="en-US" sz="1400" dirty="0"/>
          </a:p>
        </p:txBody>
      </p:sp>
      <p:sp>
        <p:nvSpPr>
          <p:cNvPr id="15" name="Text 11"/>
          <p:cNvSpPr txBox="1"/>
          <p:nvPr/>
        </p:nvSpPr>
        <p:spPr>
          <a:xfrm>
            <a:off x="2560320" y="2971800"/>
            <a:ext cx="1426464" cy="118872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decide what deserves persistence at all</a:t>
            </a:r>
            <a:endParaRPr lang="en-US" sz="1150" dirty="0"/>
          </a:p>
        </p:txBody>
      </p:sp>
      <p:sp>
        <p:nvSpPr>
          <p:cNvPr id="16" name="Shape 12"/>
          <p:cNvSpPr/>
          <p:nvPr/>
        </p:nvSpPr>
        <p:spPr>
          <a:xfrm>
            <a:off x="4123944" y="2112264"/>
            <a:ext cx="173736" cy="0"/>
          </a:xfrm>
          <a:prstGeom prst="line">
            <a:avLst/>
          </a:prstGeom>
          <a:noFill/>
          <a:ln w="12700">
            <a:solidFill>
              <a:srgbClr val="D5DDE9"/>
            </a:solidFill>
            <a:prstDash val="solid"/>
          </a:ln>
        </p:spPr>
      </p:sp>
      <p:sp>
        <p:nvSpPr>
          <p:cNvPr id="17" name="Shape 13"/>
          <p:cNvSpPr/>
          <p:nvPr/>
        </p:nvSpPr>
        <p:spPr>
          <a:xfrm>
            <a:off x="4297680" y="2103120"/>
            <a:ext cx="1700784" cy="2651760"/>
          </a:xfrm>
          <a:prstGeom prst="roundRect">
            <a:avLst>
              <a:gd name="adj" fmla="val 4301"/>
            </a:avLst>
          </a:prstGeom>
          <a:solidFill>
            <a:srgbClr val="F7F9FC"/>
          </a:solidFill>
          <a:ln w="9525">
            <a:solidFill>
              <a:srgbClr val="D5DDE9"/>
            </a:solidFill>
            <a:prstDash val="solid"/>
          </a:ln>
        </p:spPr>
      </p:sp>
      <p:sp>
        <p:nvSpPr>
          <p:cNvPr id="18" name="Shape 14"/>
          <p:cNvSpPr/>
          <p:nvPr/>
        </p:nvSpPr>
        <p:spPr>
          <a:xfrm>
            <a:off x="4818888" y="1783080"/>
            <a:ext cx="658368" cy="658368"/>
          </a:xfrm>
          <a:prstGeom prst="ellipse">
            <a:avLst/>
          </a:prstGeom>
          <a:solidFill>
            <a:srgbClr val="E3E9F3"/>
          </a:solidFill>
          <a:ln w="12700">
            <a:solidFill>
              <a:srgbClr val="E3E9F3"/>
            </a:solidFill>
            <a:prstDash val="solid"/>
          </a:ln>
        </p:spPr>
      </p:sp>
      <p:pic>
        <p:nvPicPr>
          <p:cNvPr id="19" name="Image 2" descr="preencoded.png">    </p:cNvPr>
          <p:cNvPicPr>
            <a:picLocks noChangeAspect="1"/>
          </p:cNvPicPr>
          <p:nvPr/>
        </p:nvPicPr>
        <p:blipFill>
          <a:blip r:embed="rId3"/>
          <a:stretch>
            <a:fillRect/>
          </a:stretch>
        </p:blipFill>
        <p:spPr>
          <a:xfrm>
            <a:off x="4976896" y="1941088"/>
            <a:ext cx="342351" cy="342351"/>
          </a:xfrm>
          <a:prstGeom prst="rect">
            <a:avLst/>
          </a:prstGeom>
        </p:spPr>
      </p:pic>
      <p:sp>
        <p:nvSpPr>
          <p:cNvPr id="20" name="Text 15"/>
          <p:cNvSpPr txBox="1"/>
          <p:nvPr/>
        </p:nvSpPr>
        <p:spPr>
          <a:xfrm>
            <a:off x="4407408" y="2560320"/>
            <a:ext cx="1481328"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Encode</a:t>
            </a:r>
            <a:endParaRPr lang="en-US" sz="1400" dirty="0"/>
          </a:p>
        </p:txBody>
      </p:sp>
      <p:sp>
        <p:nvSpPr>
          <p:cNvPr id="21" name="Text 16"/>
          <p:cNvSpPr txBox="1"/>
          <p:nvPr/>
        </p:nvSpPr>
        <p:spPr>
          <a:xfrm>
            <a:off x="4434840" y="2971800"/>
            <a:ext cx="1426464" cy="118872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summary, node, edge, vector, trace</a:t>
            </a:r>
            <a:endParaRPr lang="en-US" sz="1150" dirty="0"/>
          </a:p>
        </p:txBody>
      </p:sp>
      <p:sp>
        <p:nvSpPr>
          <p:cNvPr id="22" name="Shape 17"/>
          <p:cNvSpPr/>
          <p:nvPr/>
        </p:nvSpPr>
        <p:spPr>
          <a:xfrm>
            <a:off x="5998464" y="2112264"/>
            <a:ext cx="173736" cy="0"/>
          </a:xfrm>
          <a:prstGeom prst="line">
            <a:avLst/>
          </a:prstGeom>
          <a:noFill/>
          <a:ln w="12700">
            <a:solidFill>
              <a:srgbClr val="D5DDE9"/>
            </a:solidFill>
            <a:prstDash val="solid"/>
          </a:ln>
        </p:spPr>
      </p:sp>
      <p:sp>
        <p:nvSpPr>
          <p:cNvPr id="23" name="Shape 18"/>
          <p:cNvSpPr/>
          <p:nvPr/>
        </p:nvSpPr>
        <p:spPr>
          <a:xfrm>
            <a:off x="6172200" y="2103120"/>
            <a:ext cx="1700784" cy="2651760"/>
          </a:xfrm>
          <a:prstGeom prst="roundRect">
            <a:avLst>
              <a:gd name="adj" fmla="val 4301"/>
            </a:avLst>
          </a:prstGeom>
          <a:solidFill>
            <a:srgbClr val="F7F9FC"/>
          </a:solidFill>
          <a:ln w="9525">
            <a:solidFill>
              <a:srgbClr val="D5DDE9"/>
            </a:solidFill>
            <a:prstDash val="solid"/>
          </a:ln>
        </p:spPr>
      </p:sp>
      <p:sp>
        <p:nvSpPr>
          <p:cNvPr id="24" name="Shape 19"/>
          <p:cNvSpPr/>
          <p:nvPr/>
        </p:nvSpPr>
        <p:spPr>
          <a:xfrm>
            <a:off x="6693408" y="1783080"/>
            <a:ext cx="658368" cy="658368"/>
          </a:xfrm>
          <a:prstGeom prst="ellipse">
            <a:avLst/>
          </a:prstGeom>
          <a:solidFill>
            <a:srgbClr val="E3E9F3"/>
          </a:solidFill>
          <a:ln w="12700">
            <a:solidFill>
              <a:srgbClr val="E3E9F3"/>
            </a:solidFill>
            <a:prstDash val="solid"/>
          </a:ln>
        </p:spPr>
      </p:sp>
      <p:pic>
        <p:nvPicPr>
          <p:cNvPr id="25" name="Image 3" descr="preencoded.png">    </p:cNvPr>
          <p:cNvPicPr>
            <a:picLocks noChangeAspect="1"/>
          </p:cNvPicPr>
          <p:nvPr/>
        </p:nvPicPr>
        <p:blipFill>
          <a:blip r:embed="rId4"/>
          <a:stretch>
            <a:fillRect/>
          </a:stretch>
        </p:blipFill>
        <p:spPr>
          <a:xfrm>
            <a:off x="6851416" y="1941088"/>
            <a:ext cx="342351" cy="342351"/>
          </a:xfrm>
          <a:prstGeom prst="rect">
            <a:avLst/>
          </a:prstGeom>
        </p:spPr>
      </p:pic>
      <p:sp>
        <p:nvSpPr>
          <p:cNvPr id="26" name="Text 20"/>
          <p:cNvSpPr txBox="1"/>
          <p:nvPr/>
        </p:nvSpPr>
        <p:spPr>
          <a:xfrm>
            <a:off x="6281928" y="2560320"/>
            <a:ext cx="1481328"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Retrieve / use</a:t>
            </a:r>
            <a:endParaRPr lang="en-US" sz="1400" dirty="0"/>
          </a:p>
        </p:txBody>
      </p:sp>
      <p:sp>
        <p:nvSpPr>
          <p:cNvPr id="27" name="Text 21"/>
          <p:cNvSpPr txBox="1"/>
          <p:nvPr/>
        </p:nvSpPr>
        <p:spPr>
          <a:xfrm>
            <a:off x="6309360" y="2971800"/>
            <a:ext cx="1426464" cy="118872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inject into agent context or a decision</a:t>
            </a:r>
            <a:endParaRPr lang="en-US" sz="1150" dirty="0"/>
          </a:p>
        </p:txBody>
      </p:sp>
      <p:sp>
        <p:nvSpPr>
          <p:cNvPr id="28" name="Shape 22"/>
          <p:cNvSpPr/>
          <p:nvPr/>
        </p:nvSpPr>
        <p:spPr>
          <a:xfrm>
            <a:off x="7872984" y="2112264"/>
            <a:ext cx="173736" cy="0"/>
          </a:xfrm>
          <a:prstGeom prst="line">
            <a:avLst/>
          </a:prstGeom>
          <a:noFill/>
          <a:ln w="12700">
            <a:solidFill>
              <a:srgbClr val="D5DDE9"/>
            </a:solidFill>
            <a:prstDash val="solid"/>
          </a:ln>
        </p:spPr>
      </p:sp>
      <p:sp>
        <p:nvSpPr>
          <p:cNvPr id="29" name="Shape 23"/>
          <p:cNvSpPr/>
          <p:nvPr/>
        </p:nvSpPr>
        <p:spPr>
          <a:xfrm>
            <a:off x="8046720" y="2103120"/>
            <a:ext cx="1700784" cy="2651760"/>
          </a:xfrm>
          <a:prstGeom prst="roundRect">
            <a:avLst>
              <a:gd name="adj" fmla="val 4301"/>
            </a:avLst>
          </a:prstGeom>
          <a:solidFill>
            <a:srgbClr val="F7F9FC"/>
          </a:solidFill>
          <a:ln w="9525">
            <a:solidFill>
              <a:srgbClr val="D5DDE9"/>
            </a:solidFill>
            <a:prstDash val="solid"/>
          </a:ln>
        </p:spPr>
      </p:sp>
      <p:sp>
        <p:nvSpPr>
          <p:cNvPr id="30" name="Shape 24"/>
          <p:cNvSpPr/>
          <p:nvPr/>
        </p:nvSpPr>
        <p:spPr>
          <a:xfrm>
            <a:off x="8567928" y="1783080"/>
            <a:ext cx="658368" cy="658368"/>
          </a:xfrm>
          <a:prstGeom prst="ellipse">
            <a:avLst/>
          </a:prstGeom>
          <a:solidFill>
            <a:srgbClr val="FBF1DE"/>
          </a:solidFill>
          <a:ln w="12700">
            <a:solidFill>
              <a:srgbClr val="FBF1DE"/>
            </a:solidFill>
            <a:prstDash val="solid"/>
          </a:ln>
        </p:spPr>
      </p:sp>
      <p:pic>
        <p:nvPicPr>
          <p:cNvPr id="31" name="Image 4" descr="preencoded.png">    </p:cNvPr>
          <p:cNvPicPr>
            <a:picLocks noChangeAspect="1"/>
          </p:cNvPicPr>
          <p:nvPr/>
        </p:nvPicPr>
        <p:blipFill>
          <a:blip r:embed="rId5"/>
          <a:stretch>
            <a:fillRect/>
          </a:stretch>
        </p:blipFill>
        <p:spPr>
          <a:xfrm>
            <a:off x="8725936" y="1941088"/>
            <a:ext cx="342351" cy="342351"/>
          </a:xfrm>
          <a:prstGeom prst="rect">
            <a:avLst/>
          </a:prstGeom>
        </p:spPr>
      </p:pic>
      <p:sp>
        <p:nvSpPr>
          <p:cNvPr id="32" name="Text 25"/>
          <p:cNvSpPr txBox="1"/>
          <p:nvPr/>
        </p:nvSpPr>
        <p:spPr>
          <a:xfrm>
            <a:off x="8156448" y="2560320"/>
            <a:ext cx="1481328"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Update / derive</a:t>
            </a:r>
            <a:endParaRPr lang="en-US" sz="1400" dirty="0"/>
          </a:p>
        </p:txBody>
      </p:sp>
      <p:sp>
        <p:nvSpPr>
          <p:cNvPr id="33" name="Text 26"/>
          <p:cNvSpPr txBox="1"/>
          <p:nvPr/>
        </p:nvSpPr>
        <p:spPr>
          <a:xfrm>
            <a:off x="8183880" y="2971800"/>
            <a:ext cx="1426464" cy="118872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merge, infer, supersede, promote</a:t>
            </a:r>
            <a:endParaRPr lang="en-US" sz="1150" dirty="0"/>
          </a:p>
        </p:txBody>
      </p:sp>
      <p:sp>
        <p:nvSpPr>
          <p:cNvPr id="34" name="Shape 27"/>
          <p:cNvSpPr/>
          <p:nvPr/>
        </p:nvSpPr>
        <p:spPr>
          <a:xfrm>
            <a:off x="9747504" y="2112264"/>
            <a:ext cx="173736" cy="0"/>
          </a:xfrm>
          <a:prstGeom prst="line">
            <a:avLst/>
          </a:prstGeom>
          <a:noFill/>
          <a:ln w="12700">
            <a:solidFill>
              <a:srgbClr val="D5DDE9"/>
            </a:solidFill>
            <a:prstDash val="solid"/>
          </a:ln>
        </p:spPr>
      </p:sp>
      <p:sp>
        <p:nvSpPr>
          <p:cNvPr id="35" name="Shape 28"/>
          <p:cNvSpPr/>
          <p:nvPr/>
        </p:nvSpPr>
        <p:spPr>
          <a:xfrm>
            <a:off x="9921240" y="2103120"/>
            <a:ext cx="1700784" cy="2651760"/>
          </a:xfrm>
          <a:prstGeom prst="roundRect">
            <a:avLst>
              <a:gd name="adj" fmla="val 4301"/>
            </a:avLst>
          </a:prstGeom>
          <a:solidFill>
            <a:srgbClr val="F7F9FC"/>
          </a:solidFill>
          <a:ln w="9525">
            <a:solidFill>
              <a:srgbClr val="D5DDE9"/>
            </a:solidFill>
            <a:prstDash val="solid"/>
          </a:ln>
        </p:spPr>
      </p:sp>
      <p:sp>
        <p:nvSpPr>
          <p:cNvPr id="36" name="Shape 29"/>
          <p:cNvSpPr/>
          <p:nvPr/>
        </p:nvSpPr>
        <p:spPr>
          <a:xfrm>
            <a:off x="10442448" y="1783080"/>
            <a:ext cx="658368" cy="658368"/>
          </a:xfrm>
          <a:prstGeom prst="ellipse">
            <a:avLst/>
          </a:prstGeom>
          <a:solidFill>
            <a:srgbClr val="FBF1DE"/>
          </a:solidFill>
          <a:ln w="12700">
            <a:solidFill>
              <a:srgbClr val="FBF1DE"/>
            </a:solidFill>
            <a:prstDash val="solid"/>
          </a:ln>
        </p:spPr>
      </p:sp>
      <p:pic>
        <p:nvPicPr>
          <p:cNvPr id="37" name="Image 5" descr="preencoded.png">    </p:cNvPr>
          <p:cNvPicPr>
            <a:picLocks noChangeAspect="1"/>
          </p:cNvPicPr>
          <p:nvPr/>
        </p:nvPicPr>
        <p:blipFill>
          <a:blip r:embed="rId6"/>
          <a:stretch>
            <a:fillRect/>
          </a:stretch>
        </p:blipFill>
        <p:spPr>
          <a:xfrm>
            <a:off x="10600456" y="1941088"/>
            <a:ext cx="342351" cy="342351"/>
          </a:xfrm>
          <a:prstGeom prst="rect">
            <a:avLst/>
          </a:prstGeom>
        </p:spPr>
      </p:pic>
      <p:sp>
        <p:nvSpPr>
          <p:cNvPr id="38" name="Text 30"/>
          <p:cNvSpPr txBox="1"/>
          <p:nvPr/>
        </p:nvSpPr>
        <p:spPr>
          <a:xfrm>
            <a:off x="10030968" y="2560320"/>
            <a:ext cx="1481328"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Forget / restrict</a:t>
            </a:r>
            <a:endParaRPr lang="en-US" sz="1400" dirty="0"/>
          </a:p>
        </p:txBody>
      </p:sp>
      <p:sp>
        <p:nvSpPr>
          <p:cNvPr id="39" name="Text 31"/>
          <p:cNvSpPr txBox="1"/>
          <p:nvPr/>
        </p:nvSpPr>
        <p:spPr>
          <a:xfrm>
            <a:off x="10058400" y="2971800"/>
            <a:ext cx="1426464" cy="118872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expire, erase, hold, suppress</a:t>
            </a:r>
            <a:endParaRPr lang="en-US" sz="1150" dirty="0"/>
          </a:p>
        </p:txBody>
      </p:sp>
      <p:sp>
        <p:nvSpPr>
          <p:cNvPr id="40" name="Shape 32"/>
          <p:cNvSpPr/>
          <p:nvPr/>
        </p:nvSpPr>
        <p:spPr>
          <a:xfrm>
            <a:off x="548640" y="4572000"/>
            <a:ext cx="11094415" cy="457200"/>
          </a:xfrm>
          <a:prstGeom prst="roundRect">
            <a:avLst>
              <a:gd name="adj" fmla="val 12000"/>
            </a:avLst>
          </a:prstGeom>
          <a:solidFill>
            <a:srgbClr val="E3E9F3"/>
          </a:solidFill>
          <a:ln w="12700">
            <a:solidFill>
              <a:srgbClr val="E3E9F3"/>
            </a:solidFill>
            <a:prstDash val="solid"/>
          </a:ln>
        </p:spPr>
      </p:sp>
      <p:sp>
        <p:nvSpPr>
          <p:cNvPr id="41" name="Text 33"/>
          <p:cNvSpPr txBox="1"/>
          <p:nvPr/>
        </p:nvSpPr>
        <p:spPr>
          <a:xfrm>
            <a:off x="548640" y="4572000"/>
            <a:ext cx="11094415" cy="457200"/>
          </a:xfrm>
          <a:prstGeom prst="rect">
            <a:avLst/>
          </a:prstGeom>
          <a:noFill/>
          <a:ln/>
        </p:spPr>
        <p:txBody>
          <a:bodyPr wrap="square" lIns="0" tIns="0" rIns="0" bIns="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Governance intercept points:  WRITE   •   DERIVE   •   RETRIEVE   •   USE   •   RESTRICT   •   ERASE</a:t>
            </a:r>
            <a:endParaRPr lang="en-US" sz="1200" dirty="0"/>
          </a:p>
        </p:txBody>
      </p:sp>
      <p:sp>
        <p:nvSpPr>
          <p:cNvPr id="42" name="Shape 34"/>
          <p:cNvSpPr/>
          <p:nvPr/>
        </p:nvSpPr>
        <p:spPr>
          <a:xfrm>
            <a:off x="548640" y="5212080"/>
            <a:ext cx="11094415" cy="566928"/>
          </a:xfrm>
          <a:prstGeom prst="roundRect">
            <a:avLst>
              <a:gd name="adj" fmla="val 16129"/>
            </a:avLst>
          </a:prstGeom>
          <a:solidFill>
            <a:srgbClr val="0B1F3A"/>
          </a:solidFill>
          <a:ln w="12700">
            <a:solidFill>
              <a:srgbClr val="0B1F3A"/>
            </a:solidFill>
            <a:prstDash val="solid"/>
          </a:ln>
        </p:spPr>
      </p:sp>
      <p:sp>
        <p:nvSpPr>
          <p:cNvPr id="43" name="Text 35"/>
          <p:cNvSpPr txBox="1"/>
          <p:nvPr/>
        </p:nvSpPr>
        <p:spPr>
          <a:xfrm>
            <a:off x="822960" y="5212080"/>
            <a:ext cx="10545775" cy="56692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Governance must intercept every lifecycle decision — a memory that is easy to write but hard to govern is a liability, not an asset.</a:t>
            </a:r>
            <a:endParaRPr lang="en-US" sz="1300" dirty="0"/>
          </a:p>
        </p:txBody>
      </p:sp>
      <p:sp>
        <p:nvSpPr>
          <p:cNvPr id="44" name="Text 36"/>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Conceptual mapping derived from GDPR accountability/minimisation/accuracy/erasure, AI Act logging/data governance, and financial-sector operational controls.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Core risk transformation: persistence raises the stakes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548640" y="1371600"/>
            <a:ext cx="5120640" cy="274320"/>
          </a:xfrm>
          <a:prstGeom prst="rect">
            <a:avLst/>
          </a:prstGeom>
          <a:noFill/>
          <a:ln/>
        </p:spPr>
        <p:txBody>
          <a:bodyPr wrap="square" lIns="0" tIns="0" rIns="0" bIns="0" rtlCol="0" anchor="t"/>
          <a:lstStyle/>
          <a:p>
            <a:pPr indent="0" marL="0">
              <a:buNone/>
            </a:pPr>
            <a:r>
              <a:rPr lang="en-US" sz="900" b="1" spc="200" kern="0" dirty="0">
                <a:solidFill>
                  <a:srgbClr val="5C6B80"/>
                </a:solidFill>
                <a:latin typeface="Calibri" pitchFamily="34" charset="0"/>
                <a:ea typeface="Calibri" pitchFamily="34" charset="-122"/>
                <a:cs typeface="Calibri" pitchFamily="34" charset="-120"/>
              </a:rPr>
              <a:t>RISK EVOLVES</a:t>
            </a:r>
            <a:endParaRPr lang="en-US" sz="900" dirty="0"/>
          </a:p>
        </p:txBody>
      </p:sp>
      <p:sp>
        <p:nvSpPr>
          <p:cNvPr id="6" name="Text 4"/>
          <p:cNvSpPr txBox="1"/>
          <p:nvPr/>
        </p:nvSpPr>
        <p:spPr>
          <a:xfrm>
            <a:off x="7040880" y="1371600"/>
            <a:ext cx="4572000" cy="274320"/>
          </a:xfrm>
          <a:prstGeom prst="rect">
            <a:avLst/>
          </a:prstGeom>
          <a:noFill/>
          <a:ln/>
        </p:spPr>
        <p:txBody>
          <a:bodyPr wrap="square" lIns="0" tIns="0" rIns="0" bIns="0" rtlCol="0" anchor="t"/>
          <a:lstStyle/>
          <a:p>
            <a:pPr indent="0" marL="0">
              <a:buNone/>
            </a:pPr>
            <a:r>
              <a:rPr lang="en-US" sz="900" b="1" spc="200" kern="0" dirty="0">
                <a:solidFill>
                  <a:srgbClr val="5C6B80"/>
                </a:solidFill>
                <a:latin typeface="Calibri" pitchFamily="34" charset="0"/>
                <a:ea typeface="Calibri" pitchFamily="34" charset="-122"/>
                <a:cs typeface="Calibri" pitchFamily="34" charset="-120"/>
              </a:rPr>
              <a:t>CONTROL RESPONSE</a:t>
            </a:r>
            <a:endParaRPr lang="en-US" sz="900" dirty="0"/>
          </a:p>
        </p:txBody>
      </p:sp>
      <p:sp>
        <p:nvSpPr>
          <p:cNvPr id="7" name="Shape 5"/>
          <p:cNvSpPr/>
          <p:nvPr/>
        </p:nvSpPr>
        <p:spPr>
          <a:xfrm>
            <a:off x="548640" y="1737360"/>
            <a:ext cx="5394960" cy="868680"/>
          </a:xfrm>
          <a:prstGeom prst="roundRect">
            <a:avLst>
              <a:gd name="adj" fmla="val 8421"/>
            </a:avLst>
          </a:prstGeom>
          <a:solidFill>
            <a:srgbClr val="F7F9FC"/>
          </a:solidFill>
          <a:ln w="9525">
            <a:solidFill>
              <a:srgbClr val="D5DDE9"/>
            </a:solidFill>
            <a:prstDash val="solid"/>
          </a:ln>
        </p:spPr>
      </p:sp>
      <p:sp>
        <p:nvSpPr>
          <p:cNvPr id="8" name="Shape 6"/>
          <p:cNvSpPr/>
          <p:nvPr/>
        </p:nvSpPr>
        <p:spPr>
          <a:xfrm>
            <a:off x="685800" y="1920240"/>
            <a:ext cx="502920" cy="502920"/>
          </a:xfrm>
          <a:prstGeom prst="ellipse">
            <a:avLst/>
          </a:prstGeom>
          <a:solidFill>
            <a:srgbClr val="E3E9F3"/>
          </a:solidFill>
          <a:ln w="12700">
            <a:solidFill>
              <a:srgbClr val="E3E9F3"/>
            </a:solidFill>
            <a:prstDash val="solid"/>
          </a:ln>
        </p:spPr>
      </p:sp>
      <p:pic>
        <p:nvPicPr>
          <p:cNvPr id="9" name="Image 0" descr="preencoded.png">    </p:cNvPr>
          <p:cNvPicPr>
            <a:picLocks noChangeAspect="1"/>
          </p:cNvPicPr>
          <p:nvPr/>
        </p:nvPicPr>
        <p:blipFill>
          <a:blip r:embed="rId1"/>
          <a:stretch>
            <a:fillRect/>
          </a:stretch>
        </p:blipFill>
        <p:spPr>
          <a:xfrm>
            <a:off x="806501" y="2040941"/>
            <a:ext cx="261518" cy="261518"/>
          </a:xfrm>
          <a:prstGeom prst="rect">
            <a:avLst/>
          </a:prstGeom>
        </p:spPr>
      </p:pic>
      <p:sp>
        <p:nvSpPr>
          <p:cNvPr id="10" name="Text 7"/>
          <p:cNvSpPr txBox="1"/>
          <p:nvPr/>
        </p:nvSpPr>
        <p:spPr>
          <a:xfrm>
            <a:off x="1325880" y="1847088"/>
            <a:ext cx="201168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Session risk</a:t>
            </a:r>
            <a:endParaRPr lang="en-US" sz="1400" dirty="0"/>
          </a:p>
        </p:txBody>
      </p:sp>
      <p:sp>
        <p:nvSpPr>
          <p:cNvPr id="11" name="Text 8"/>
          <p:cNvSpPr txBox="1"/>
          <p:nvPr/>
        </p:nvSpPr>
        <p:spPr>
          <a:xfrm>
            <a:off x="1325880" y="2167128"/>
            <a:ext cx="310896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bad response disappears after the turn</a:t>
            </a:r>
            <a:endParaRPr lang="en-US" sz="1100" dirty="0"/>
          </a:p>
        </p:txBody>
      </p:sp>
      <p:sp>
        <p:nvSpPr>
          <p:cNvPr id="12" name="Shape 9"/>
          <p:cNvSpPr/>
          <p:nvPr/>
        </p:nvSpPr>
        <p:spPr>
          <a:xfrm>
            <a:off x="4480560" y="1993392"/>
            <a:ext cx="1325880" cy="365760"/>
          </a:xfrm>
          <a:prstGeom prst="roundRect">
            <a:avLst>
              <a:gd name="adj" fmla="val 15000"/>
            </a:avLst>
          </a:prstGeom>
          <a:solidFill>
            <a:srgbClr val="E3E9F3"/>
          </a:solidFill>
          <a:ln w="12700">
            <a:solidFill>
              <a:srgbClr val="E3E9F3"/>
            </a:solidFill>
            <a:prstDash val="solid"/>
          </a:ln>
        </p:spPr>
      </p:sp>
      <p:sp>
        <p:nvSpPr>
          <p:cNvPr id="13" name="Text 10"/>
          <p:cNvSpPr txBox="1"/>
          <p:nvPr/>
        </p:nvSpPr>
        <p:spPr>
          <a:xfrm>
            <a:off x="4480560" y="1993392"/>
            <a:ext cx="1325880" cy="36576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low persistence</a:t>
            </a:r>
            <a:endParaRPr lang="en-US" sz="1000" dirty="0"/>
          </a:p>
        </p:txBody>
      </p:sp>
      <p:sp>
        <p:nvSpPr>
          <p:cNvPr id="14" name="Shape 11"/>
          <p:cNvSpPr/>
          <p:nvPr/>
        </p:nvSpPr>
        <p:spPr>
          <a:xfrm>
            <a:off x="6035040" y="2176272"/>
            <a:ext cx="822960" cy="0"/>
          </a:xfrm>
          <a:prstGeom prst="line">
            <a:avLst/>
          </a:prstGeom>
          <a:noFill/>
          <a:ln w="19050">
            <a:solidFill>
              <a:srgbClr val="0B1F3A"/>
            </a:solidFill>
            <a:prstDash val="solid"/>
            <a:tailEnd type="triangle"/>
          </a:ln>
        </p:spPr>
      </p:sp>
      <p:sp>
        <p:nvSpPr>
          <p:cNvPr id="15" name="Text 12"/>
          <p:cNvSpPr txBox="1"/>
          <p:nvPr/>
        </p:nvSpPr>
        <p:spPr>
          <a:xfrm>
            <a:off x="5989320" y="1783080"/>
            <a:ext cx="914400" cy="320040"/>
          </a:xfrm>
          <a:prstGeom prst="rect">
            <a:avLst/>
          </a:prstGeom>
          <a:noFill/>
          <a:ln/>
        </p:spPr>
        <p:txBody>
          <a:bodyPr wrap="square" lIns="0" tIns="0" rIns="0" bIns="0" rtlCol="0" anchor="t"/>
          <a:lstStyle/>
          <a:p>
            <a:pPr algn="ctr" indent="0" marL="0">
              <a:buNone/>
            </a:pPr>
            <a:r>
              <a:rPr lang="en-US" sz="900" dirty="0">
                <a:solidFill>
                  <a:srgbClr val="5C6B80"/>
                </a:solidFill>
                <a:latin typeface="Calibri" pitchFamily="34" charset="0"/>
                <a:ea typeface="Calibri" pitchFamily="34" charset="-122"/>
                <a:cs typeface="Calibri" pitchFamily="34" charset="-120"/>
              </a:rPr>
              <a:t>evolves into</a:t>
            </a:r>
            <a:endParaRPr lang="en-US" sz="900" dirty="0"/>
          </a:p>
        </p:txBody>
      </p:sp>
      <p:sp>
        <p:nvSpPr>
          <p:cNvPr id="16" name="Shape 13"/>
          <p:cNvSpPr/>
          <p:nvPr/>
        </p:nvSpPr>
        <p:spPr>
          <a:xfrm>
            <a:off x="7040880" y="1737360"/>
            <a:ext cx="4572000" cy="868680"/>
          </a:xfrm>
          <a:prstGeom prst="roundRect">
            <a:avLst>
              <a:gd name="adj" fmla="val 8421"/>
            </a:avLst>
          </a:prstGeom>
          <a:solidFill>
            <a:srgbClr val="FFFFFF"/>
          </a:solidFill>
          <a:ln w="9525">
            <a:solidFill>
              <a:srgbClr val="D5DDE9"/>
            </a:solidFill>
            <a:prstDash val="solid"/>
          </a:ln>
        </p:spPr>
      </p:sp>
      <p:sp>
        <p:nvSpPr>
          <p:cNvPr id="17" name="Text 14"/>
          <p:cNvSpPr txBox="1"/>
          <p:nvPr/>
        </p:nvSpPr>
        <p:spPr>
          <a:xfrm>
            <a:off x="7269480" y="1847088"/>
            <a:ext cx="411480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Prompt controls</a:t>
            </a:r>
            <a:endParaRPr lang="en-US" sz="1400" dirty="0"/>
          </a:p>
        </p:txBody>
      </p:sp>
      <p:sp>
        <p:nvSpPr>
          <p:cNvPr id="18" name="Text 15"/>
          <p:cNvSpPr txBox="1"/>
          <p:nvPr/>
        </p:nvSpPr>
        <p:spPr>
          <a:xfrm>
            <a:off x="7269480" y="2167128"/>
            <a:ext cx="411480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ordinary safety filters</a:t>
            </a:r>
            <a:endParaRPr lang="en-US" sz="1100" dirty="0"/>
          </a:p>
        </p:txBody>
      </p:sp>
      <p:sp>
        <p:nvSpPr>
          <p:cNvPr id="19" name="Shape 16"/>
          <p:cNvSpPr/>
          <p:nvPr/>
        </p:nvSpPr>
        <p:spPr>
          <a:xfrm>
            <a:off x="548640" y="2761488"/>
            <a:ext cx="5394960" cy="868680"/>
          </a:xfrm>
          <a:prstGeom prst="roundRect">
            <a:avLst>
              <a:gd name="adj" fmla="val 8421"/>
            </a:avLst>
          </a:prstGeom>
          <a:solidFill>
            <a:srgbClr val="F7F9FC"/>
          </a:solidFill>
          <a:ln w="9525">
            <a:solidFill>
              <a:srgbClr val="D5DDE9"/>
            </a:solidFill>
            <a:prstDash val="solid"/>
          </a:ln>
        </p:spPr>
      </p:sp>
      <p:sp>
        <p:nvSpPr>
          <p:cNvPr id="20" name="Shape 17"/>
          <p:cNvSpPr/>
          <p:nvPr/>
        </p:nvSpPr>
        <p:spPr>
          <a:xfrm>
            <a:off x="685800" y="2944368"/>
            <a:ext cx="502920" cy="502920"/>
          </a:xfrm>
          <a:prstGeom prst="ellipse">
            <a:avLst/>
          </a:prstGeom>
          <a:solidFill>
            <a:srgbClr val="DDF0ED"/>
          </a:solidFill>
          <a:ln w="12700">
            <a:solidFill>
              <a:srgbClr val="DDF0ED"/>
            </a:solidFill>
            <a:prstDash val="solid"/>
          </a:ln>
        </p:spPr>
      </p:sp>
      <p:pic>
        <p:nvPicPr>
          <p:cNvPr id="21" name="Image 1" descr="preencoded.png">    </p:cNvPr>
          <p:cNvPicPr>
            <a:picLocks noChangeAspect="1"/>
          </p:cNvPicPr>
          <p:nvPr/>
        </p:nvPicPr>
        <p:blipFill>
          <a:blip r:embed="rId2"/>
          <a:stretch>
            <a:fillRect/>
          </a:stretch>
        </p:blipFill>
        <p:spPr>
          <a:xfrm>
            <a:off x="806501" y="3065069"/>
            <a:ext cx="261518" cy="261518"/>
          </a:xfrm>
          <a:prstGeom prst="rect">
            <a:avLst/>
          </a:prstGeom>
        </p:spPr>
      </p:pic>
      <p:sp>
        <p:nvSpPr>
          <p:cNvPr id="22" name="Text 18"/>
          <p:cNvSpPr txBox="1"/>
          <p:nvPr/>
        </p:nvSpPr>
        <p:spPr>
          <a:xfrm>
            <a:off x="1325880" y="2871216"/>
            <a:ext cx="201168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Memory risk</a:t>
            </a:r>
            <a:endParaRPr lang="en-US" sz="1400" dirty="0"/>
          </a:p>
        </p:txBody>
      </p:sp>
      <p:sp>
        <p:nvSpPr>
          <p:cNvPr id="23" name="Text 19"/>
          <p:cNvSpPr txBox="1"/>
          <p:nvPr/>
        </p:nvSpPr>
        <p:spPr>
          <a:xfrm>
            <a:off x="1325880" y="3191256"/>
            <a:ext cx="310896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bad fact becomes retrievable later</a:t>
            </a:r>
            <a:endParaRPr lang="en-US" sz="1100" dirty="0"/>
          </a:p>
        </p:txBody>
      </p:sp>
      <p:sp>
        <p:nvSpPr>
          <p:cNvPr id="24" name="Shape 20"/>
          <p:cNvSpPr/>
          <p:nvPr/>
        </p:nvSpPr>
        <p:spPr>
          <a:xfrm>
            <a:off x="4480560" y="3017520"/>
            <a:ext cx="1325880" cy="365760"/>
          </a:xfrm>
          <a:prstGeom prst="roundRect">
            <a:avLst>
              <a:gd name="adj" fmla="val 15000"/>
            </a:avLst>
          </a:prstGeom>
          <a:solidFill>
            <a:srgbClr val="DDF0ED"/>
          </a:solidFill>
          <a:ln w="12700">
            <a:solidFill>
              <a:srgbClr val="DDF0ED"/>
            </a:solidFill>
            <a:prstDash val="solid"/>
          </a:ln>
        </p:spPr>
      </p:sp>
      <p:sp>
        <p:nvSpPr>
          <p:cNvPr id="25" name="Text 21"/>
          <p:cNvSpPr txBox="1"/>
          <p:nvPr/>
        </p:nvSpPr>
        <p:spPr>
          <a:xfrm>
            <a:off x="4480560" y="3017520"/>
            <a:ext cx="1325880" cy="365760"/>
          </a:xfrm>
          <a:prstGeom prst="rect">
            <a:avLst/>
          </a:prstGeom>
          <a:noFill/>
          <a:ln/>
        </p:spPr>
        <p:txBody>
          <a:bodyPr wrap="square" lIns="0" tIns="0" rIns="0" bIns="0" rtlCol="0" anchor="ctr"/>
          <a:lstStyle/>
          <a:p>
            <a:pPr algn="ctr" indent="0" marL="0">
              <a:buNone/>
            </a:pPr>
            <a:r>
              <a:rPr lang="en-US" sz="1000" b="1" dirty="0">
                <a:solidFill>
                  <a:srgbClr val="12867A"/>
                </a:solidFill>
                <a:latin typeface="Calibri" pitchFamily="34" charset="0"/>
                <a:ea typeface="Calibri" pitchFamily="34" charset="-122"/>
                <a:cs typeface="Calibri" pitchFamily="34" charset="-120"/>
              </a:rPr>
              <a:t>durable influence</a:t>
            </a:r>
            <a:endParaRPr lang="en-US" sz="1000" dirty="0"/>
          </a:p>
        </p:txBody>
      </p:sp>
      <p:sp>
        <p:nvSpPr>
          <p:cNvPr id="26" name="Shape 22"/>
          <p:cNvSpPr/>
          <p:nvPr/>
        </p:nvSpPr>
        <p:spPr>
          <a:xfrm>
            <a:off x="6035040" y="3200400"/>
            <a:ext cx="822960" cy="0"/>
          </a:xfrm>
          <a:prstGeom prst="line">
            <a:avLst/>
          </a:prstGeom>
          <a:noFill/>
          <a:ln w="19050">
            <a:solidFill>
              <a:srgbClr val="12867A"/>
            </a:solidFill>
            <a:prstDash val="solid"/>
            <a:tailEnd type="triangle"/>
          </a:ln>
        </p:spPr>
      </p:sp>
      <p:sp>
        <p:nvSpPr>
          <p:cNvPr id="27" name="Text 23"/>
          <p:cNvSpPr txBox="1"/>
          <p:nvPr/>
        </p:nvSpPr>
        <p:spPr>
          <a:xfrm>
            <a:off x="5989320" y="2807208"/>
            <a:ext cx="914400" cy="320040"/>
          </a:xfrm>
          <a:prstGeom prst="rect">
            <a:avLst/>
          </a:prstGeom>
          <a:noFill/>
          <a:ln/>
        </p:spPr>
        <p:txBody>
          <a:bodyPr wrap="square" lIns="0" tIns="0" rIns="0" bIns="0" rtlCol="0" anchor="t"/>
          <a:lstStyle/>
          <a:p>
            <a:pPr algn="ctr" indent="0" marL="0">
              <a:buNone/>
            </a:pPr>
            <a:r>
              <a:rPr lang="en-US" sz="900" dirty="0">
                <a:solidFill>
                  <a:srgbClr val="5C6B80"/>
                </a:solidFill>
                <a:latin typeface="Calibri" pitchFamily="34" charset="0"/>
                <a:ea typeface="Calibri" pitchFamily="34" charset="-122"/>
                <a:cs typeface="Calibri" pitchFamily="34" charset="-120"/>
              </a:rPr>
              <a:t>evolves into</a:t>
            </a:r>
            <a:endParaRPr lang="en-US" sz="900" dirty="0"/>
          </a:p>
        </p:txBody>
      </p:sp>
      <p:sp>
        <p:nvSpPr>
          <p:cNvPr id="28" name="Shape 24"/>
          <p:cNvSpPr/>
          <p:nvPr/>
        </p:nvSpPr>
        <p:spPr>
          <a:xfrm>
            <a:off x="7040880" y="2761488"/>
            <a:ext cx="4572000" cy="868680"/>
          </a:xfrm>
          <a:prstGeom prst="roundRect">
            <a:avLst>
              <a:gd name="adj" fmla="val 8421"/>
            </a:avLst>
          </a:prstGeom>
          <a:solidFill>
            <a:srgbClr val="FFFFFF"/>
          </a:solidFill>
          <a:ln w="9525">
            <a:solidFill>
              <a:srgbClr val="D5DDE9"/>
            </a:solidFill>
            <a:prstDash val="solid"/>
          </a:ln>
        </p:spPr>
      </p:sp>
      <p:sp>
        <p:nvSpPr>
          <p:cNvPr id="29" name="Text 25"/>
          <p:cNvSpPr txBox="1"/>
          <p:nvPr/>
        </p:nvSpPr>
        <p:spPr>
          <a:xfrm>
            <a:off x="7269480" y="2871216"/>
            <a:ext cx="4114800" cy="320040"/>
          </a:xfrm>
          <a:prstGeom prst="rect">
            <a:avLst/>
          </a:prstGeom>
          <a:noFill/>
          <a:ln/>
        </p:spPr>
        <p:txBody>
          <a:bodyPr wrap="square" lIns="0" tIns="0" rIns="0" bIns="0" rtlCol="0" anchor="ctr"/>
          <a:lstStyle/>
          <a:p>
            <a:pPr indent="0" marL="0">
              <a:buNone/>
            </a:pPr>
            <a:r>
              <a:rPr lang="en-US" sz="1400" b="1" dirty="0">
                <a:solidFill>
                  <a:srgbClr val="12867A"/>
                </a:solidFill>
                <a:latin typeface="Calibri" pitchFamily="34" charset="0"/>
                <a:ea typeface="Calibri" pitchFamily="34" charset="-122"/>
                <a:cs typeface="Calibri" pitchFamily="34" charset="-120"/>
              </a:rPr>
              <a:t>Memory governance</a:t>
            </a:r>
            <a:endParaRPr lang="en-US" sz="1400" dirty="0"/>
          </a:p>
        </p:txBody>
      </p:sp>
      <p:sp>
        <p:nvSpPr>
          <p:cNvPr id="30" name="Text 26"/>
          <p:cNvSpPr txBox="1"/>
          <p:nvPr/>
        </p:nvSpPr>
        <p:spPr>
          <a:xfrm>
            <a:off x="7269480" y="3191256"/>
            <a:ext cx="411480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persistence-aware controls</a:t>
            </a:r>
            <a:endParaRPr lang="en-US" sz="1100" dirty="0"/>
          </a:p>
        </p:txBody>
      </p:sp>
      <p:sp>
        <p:nvSpPr>
          <p:cNvPr id="31" name="Shape 27"/>
          <p:cNvSpPr/>
          <p:nvPr/>
        </p:nvSpPr>
        <p:spPr>
          <a:xfrm>
            <a:off x="548640" y="3785616"/>
            <a:ext cx="5394960" cy="868680"/>
          </a:xfrm>
          <a:prstGeom prst="roundRect">
            <a:avLst>
              <a:gd name="adj" fmla="val 8421"/>
            </a:avLst>
          </a:prstGeom>
          <a:solidFill>
            <a:srgbClr val="F7F9FC"/>
          </a:solidFill>
          <a:ln w="9525">
            <a:solidFill>
              <a:srgbClr val="D5DDE9"/>
            </a:solidFill>
            <a:prstDash val="solid"/>
          </a:ln>
        </p:spPr>
      </p:sp>
      <p:sp>
        <p:nvSpPr>
          <p:cNvPr id="32" name="Shape 28"/>
          <p:cNvSpPr/>
          <p:nvPr/>
        </p:nvSpPr>
        <p:spPr>
          <a:xfrm>
            <a:off x="685800" y="3968496"/>
            <a:ext cx="502920" cy="502920"/>
          </a:xfrm>
          <a:prstGeom prst="ellipse">
            <a:avLst/>
          </a:prstGeom>
          <a:solidFill>
            <a:srgbClr val="FBF1DE"/>
          </a:solidFill>
          <a:ln w="12700">
            <a:solidFill>
              <a:srgbClr val="FBF1DE"/>
            </a:solidFill>
            <a:prstDash val="solid"/>
          </a:ln>
        </p:spPr>
      </p:sp>
      <p:pic>
        <p:nvPicPr>
          <p:cNvPr id="33" name="Image 2" descr="preencoded.png">    </p:cNvPr>
          <p:cNvPicPr>
            <a:picLocks noChangeAspect="1"/>
          </p:cNvPicPr>
          <p:nvPr/>
        </p:nvPicPr>
        <p:blipFill>
          <a:blip r:embed="rId3"/>
          <a:stretch>
            <a:fillRect/>
          </a:stretch>
        </p:blipFill>
        <p:spPr>
          <a:xfrm>
            <a:off x="806501" y="4089197"/>
            <a:ext cx="261518" cy="261518"/>
          </a:xfrm>
          <a:prstGeom prst="rect">
            <a:avLst/>
          </a:prstGeom>
        </p:spPr>
      </p:pic>
      <p:sp>
        <p:nvSpPr>
          <p:cNvPr id="34" name="Text 29"/>
          <p:cNvSpPr txBox="1"/>
          <p:nvPr/>
        </p:nvSpPr>
        <p:spPr>
          <a:xfrm>
            <a:off x="1325880" y="3895344"/>
            <a:ext cx="201168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Graph risk</a:t>
            </a:r>
            <a:endParaRPr lang="en-US" sz="1400" dirty="0"/>
          </a:p>
        </p:txBody>
      </p:sp>
      <p:sp>
        <p:nvSpPr>
          <p:cNvPr id="35" name="Text 30"/>
          <p:cNvSpPr txBox="1"/>
          <p:nvPr/>
        </p:nvSpPr>
        <p:spPr>
          <a:xfrm>
            <a:off x="1325880" y="4215384"/>
            <a:ext cx="310896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bad edge creates new inferred facts</a:t>
            </a:r>
            <a:endParaRPr lang="en-US" sz="1100" dirty="0"/>
          </a:p>
        </p:txBody>
      </p:sp>
      <p:sp>
        <p:nvSpPr>
          <p:cNvPr id="36" name="Shape 31"/>
          <p:cNvSpPr/>
          <p:nvPr/>
        </p:nvSpPr>
        <p:spPr>
          <a:xfrm>
            <a:off x="4480560" y="4041648"/>
            <a:ext cx="1325880" cy="365760"/>
          </a:xfrm>
          <a:prstGeom prst="roundRect">
            <a:avLst>
              <a:gd name="adj" fmla="val 15000"/>
            </a:avLst>
          </a:prstGeom>
          <a:solidFill>
            <a:srgbClr val="FBF1DE"/>
          </a:solidFill>
          <a:ln w="12700">
            <a:solidFill>
              <a:srgbClr val="FBF1DE"/>
            </a:solidFill>
            <a:prstDash val="solid"/>
          </a:ln>
        </p:spPr>
      </p:sp>
      <p:sp>
        <p:nvSpPr>
          <p:cNvPr id="37" name="Text 32"/>
          <p:cNvSpPr txBox="1"/>
          <p:nvPr/>
        </p:nvSpPr>
        <p:spPr>
          <a:xfrm>
            <a:off x="4480560" y="4041648"/>
            <a:ext cx="1325880" cy="365760"/>
          </a:xfrm>
          <a:prstGeom prst="rect">
            <a:avLst/>
          </a:prstGeom>
          <a:noFill/>
          <a:ln/>
        </p:spPr>
        <p:txBody>
          <a:bodyPr wrap="square" lIns="0" tIns="0" rIns="0" bIns="0" rtlCol="0" anchor="ctr"/>
          <a:lstStyle/>
          <a:p>
            <a:pPr algn="ctr" indent="0" marL="0">
              <a:buNone/>
            </a:pPr>
            <a:r>
              <a:rPr lang="en-US" sz="1000" b="1" dirty="0">
                <a:solidFill>
                  <a:srgbClr val="D98E04"/>
                </a:solidFill>
                <a:latin typeface="Calibri" pitchFamily="34" charset="0"/>
                <a:ea typeface="Calibri" pitchFamily="34" charset="-122"/>
                <a:cs typeface="Calibri" pitchFamily="34" charset="-120"/>
              </a:rPr>
              <a:t>amplification</a:t>
            </a:r>
            <a:endParaRPr lang="en-US" sz="1000" dirty="0"/>
          </a:p>
        </p:txBody>
      </p:sp>
      <p:sp>
        <p:nvSpPr>
          <p:cNvPr id="38" name="Shape 33"/>
          <p:cNvSpPr/>
          <p:nvPr/>
        </p:nvSpPr>
        <p:spPr>
          <a:xfrm>
            <a:off x="6035040" y="4224528"/>
            <a:ext cx="822960" cy="0"/>
          </a:xfrm>
          <a:prstGeom prst="line">
            <a:avLst/>
          </a:prstGeom>
          <a:noFill/>
          <a:ln w="19050">
            <a:solidFill>
              <a:srgbClr val="D98E04"/>
            </a:solidFill>
            <a:prstDash val="solid"/>
            <a:tailEnd type="triangle"/>
          </a:ln>
        </p:spPr>
      </p:sp>
      <p:sp>
        <p:nvSpPr>
          <p:cNvPr id="39" name="Text 34"/>
          <p:cNvSpPr txBox="1"/>
          <p:nvPr/>
        </p:nvSpPr>
        <p:spPr>
          <a:xfrm>
            <a:off x="5989320" y="3831336"/>
            <a:ext cx="914400" cy="320040"/>
          </a:xfrm>
          <a:prstGeom prst="rect">
            <a:avLst/>
          </a:prstGeom>
          <a:noFill/>
          <a:ln/>
        </p:spPr>
        <p:txBody>
          <a:bodyPr wrap="square" lIns="0" tIns="0" rIns="0" bIns="0" rtlCol="0" anchor="t"/>
          <a:lstStyle/>
          <a:p>
            <a:pPr algn="ctr" indent="0" marL="0">
              <a:buNone/>
            </a:pPr>
            <a:r>
              <a:rPr lang="en-US" sz="900" dirty="0">
                <a:solidFill>
                  <a:srgbClr val="5C6B80"/>
                </a:solidFill>
                <a:latin typeface="Calibri" pitchFamily="34" charset="0"/>
                <a:ea typeface="Calibri" pitchFamily="34" charset="-122"/>
                <a:cs typeface="Calibri" pitchFamily="34" charset="-120"/>
              </a:rPr>
              <a:t>evolves into</a:t>
            </a:r>
            <a:endParaRPr lang="en-US" sz="900" dirty="0"/>
          </a:p>
        </p:txBody>
      </p:sp>
      <p:sp>
        <p:nvSpPr>
          <p:cNvPr id="40" name="Shape 35"/>
          <p:cNvSpPr/>
          <p:nvPr/>
        </p:nvSpPr>
        <p:spPr>
          <a:xfrm>
            <a:off x="7040880" y="3785616"/>
            <a:ext cx="4572000" cy="868680"/>
          </a:xfrm>
          <a:prstGeom prst="roundRect">
            <a:avLst>
              <a:gd name="adj" fmla="val 8421"/>
            </a:avLst>
          </a:prstGeom>
          <a:solidFill>
            <a:srgbClr val="FFFFFF"/>
          </a:solidFill>
          <a:ln w="9525">
            <a:solidFill>
              <a:srgbClr val="D5DDE9"/>
            </a:solidFill>
            <a:prstDash val="solid"/>
          </a:ln>
        </p:spPr>
      </p:sp>
      <p:sp>
        <p:nvSpPr>
          <p:cNvPr id="41" name="Text 36"/>
          <p:cNvSpPr txBox="1"/>
          <p:nvPr/>
        </p:nvSpPr>
        <p:spPr>
          <a:xfrm>
            <a:off x="7269480" y="3895344"/>
            <a:ext cx="4114800" cy="320040"/>
          </a:xfrm>
          <a:prstGeom prst="rect">
            <a:avLst/>
          </a:prstGeom>
          <a:noFill/>
          <a:ln/>
        </p:spPr>
        <p:txBody>
          <a:bodyPr wrap="square" lIns="0" tIns="0" rIns="0" bIns="0" rtlCol="0" anchor="ctr"/>
          <a:lstStyle/>
          <a:p>
            <a:pPr indent="0" marL="0">
              <a:buNone/>
            </a:pPr>
            <a:r>
              <a:rPr lang="en-US" sz="1400" b="1" dirty="0">
                <a:solidFill>
                  <a:srgbClr val="D98E04"/>
                </a:solidFill>
                <a:latin typeface="Calibri" pitchFamily="34" charset="0"/>
                <a:ea typeface="Calibri" pitchFamily="34" charset="-122"/>
                <a:cs typeface="Calibri" pitchFamily="34" charset="-120"/>
              </a:rPr>
              <a:t>Lineage + validation</a:t>
            </a:r>
            <a:endParaRPr lang="en-US" sz="1400" dirty="0"/>
          </a:p>
        </p:txBody>
      </p:sp>
      <p:sp>
        <p:nvSpPr>
          <p:cNvPr id="42" name="Text 37"/>
          <p:cNvSpPr txBox="1"/>
          <p:nvPr/>
        </p:nvSpPr>
        <p:spPr>
          <a:xfrm>
            <a:off x="7269480" y="4215384"/>
            <a:ext cx="411480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graph-specific controls</a:t>
            </a:r>
            <a:endParaRPr lang="en-US" sz="1100" dirty="0"/>
          </a:p>
        </p:txBody>
      </p:sp>
      <p:sp>
        <p:nvSpPr>
          <p:cNvPr id="43" name="Shape 38"/>
          <p:cNvSpPr/>
          <p:nvPr/>
        </p:nvSpPr>
        <p:spPr>
          <a:xfrm>
            <a:off x="548640" y="4809744"/>
            <a:ext cx="5394960" cy="868680"/>
          </a:xfrm>
          <a:prstGeom prst="roundRect">
            <a:avLst>
              <a:gd name="adj" fmla="val 8421"/>
            </a:avLst>
          </a:prstGeom>
          <a:solidFill>
            <a:srgbClr val="F7F9FC"/>
          </a:solidFill>
          <a:ln w="9525">
            <a:solidFill>
              <a:srgbClr val="D5DDE9"/>
            </a:solidFill>
            <a:prstDash val="solid"/>
          </a:ln>
        </p:spPr>
      </p:sp>
      <p:sp>
        <p:nvSpPr>
          <p:cNvPr id="44" name="Shape 39"/>
          <p:cNvSpPr/>
          <p:nvPr/>
        </p:nvSpPr>
        <p:spPr>
          <a:xfrm>
            <a:off x="685800" y="4992624"/>
            <a:ext cx="502920" cy="502920"/>
          </a:xfrm>
          <a:prstGeom prst="ellipse">
            <a:avLst/>
          </a:prstGeom>
          <a:solidFill>
            <a:srgbClr val="F8E3DE"/>
          </a:solidFill>
          <a:ln w="12700">
            <a:solidFill>
              <a:srgbClr val="F8E3DE"/>
            </a:solidFill>
            <a:prstDash val="solid"/>
          </a:ln>
        </p:spPr>
      </p:sp>
      <p:pic>
        <p:nvPicPr>
          <p:cNvPr id="45" name="Image 3" descr="preencoded.png">    </p:cNvPr>
          <p:cNvPicPr>
            <a:picLocks noChangeAspect="1"/>
          </p:cNvPicPr>
          <p:nvPr/>
        </p:nvPicPr>
        <p:blipFill>
          <a:blip r:embed="rId4"/>
          <a:stretch>
            <a:fillRect/>
          </a:stretch>
        </p:blipFill>
        <p:spPr>
          <a:xfrm>
            <a:off x="806501" y="5113325"/>
            <a:ext cx="261518" cy="261518"/>
          </a:xfrm>
          <a:prstGeom prst="rect">
            <a:avLst/>
          </a:prstGeom>
        </p:spPr>
      </p:pic>
      <p:sp>
        <p:nvSpPr>
          <p:cNvPr id="46" name="Text 40"/>
          <p:cNvSpPr txBox="1"/>
          <p:nvPr/>
        </p:nvSpPr>
        <p:spPr>
          <a:xfrm>
            <a:off x="1325880" y="4919472"/>
            <a:ext cx="201168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Platform risk</a:t>
            </a:r>
            <a:endParaRPr lang="en-US" sz="1400" dirty="0"/>
          </a:p>
        </p:txBody>
      </p:sp>
      <p:sp>
        <p:nvSpPr>
          <p:cNvPr id="47" name="Text 41"/>
          <p:cNvSpPr txBox="1"/>
          <p:nvPr/>
        </p:nvSpPr>
        <p:spPr>
          <a:xfrm>
            <a:off x="1325880" y="5239512"/>
            <a:ext cx="310896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Memory crosses users, agents, products or barriers</a:t>
            </a:r>
            <a:endParaRPr lang="en-US" sz="1100" dirty="0"/>
          </a:p>
        </p:txBody>
      </p:sp>
      <p:sp>
        <p:nvSpPr>
          <p:cNvPr id="48" name="Shape 42"/>
          <p:cNvSpPr/>
          <p:nvPr/>
        </p:nvSpPr>
        <p:spPr>
          <a:xfrm>
            <a:off x="4480560" y="5065776"/>
            <a:ext cx="1325880" cy="365760"/>
          </a:xfrm>
          <a:prstGeom prst="roundRect">
            <a:avLst>
              <a:gd name="adj" fmla="val 15000"/>
            </a:avLst>
          </a:prstGeom>
          <a:solidFill>
            <a:srgbClr val="F8E3DE"/>
          </a:solidFill>
          <a:ln w="12700">
            <a:solidFill>
              <a:srgbClr val="F8E3DE"/>
            </a:solidFill>
            <a:prstDash val="solid"/>
          </a:ln>
        </p:spPr>
      </p:sp>
      <p:sp>
        <p:nvSpPr>
          <p:cNvPr id="49" name="Text 43"/>
          <p:cNvSpPr txBox="1"/>
          <p:nvPr/>
        </p:nvSpPr>
        <p:spPr>
          <a:xfrm>
            <a:off x="4480560" y="5065776"/>
            <a:ext cx="1325880" cy="365760"/>
          </a:xfrm>
          <a:prstGeom prst="rect">
            <a:avLst/>
          </a:prstGeom>
          <a:noFill/>
          <a:ln/>
        </p:spPr>
        <p:txBody>
          <a:bodyPr wrap="square" lIns="0" tIns="0" rIns="0" bIns="0" rtlCol="0" anchor="ctr"/>
          <a:lstStyle/>
          <a:p>
            <a:pPr algn="ctr" indent="0" marL="0">
              <a:buNone/>
            </a:pPr>
            <a:r>
              <a:rPr lang="en-US" sz="1000" b="1" dirty="0">
                <a:solidFill>
                  <a:srgbClr val="C8452B"/>
                </a:solidFill>
                <a:latin typeface="Calibri" pitchFamily="34" charset="0"/>
                <a:ea typeface="Calibri" pitchFamily="34" charset="-122"/>
                <a:cs typeface="Calibri" pitchFamily="34" charset="-120"/>
              </a:rPr>
              <a:t>blast radius</a:t>
            </a:r>
            <a:endParaRPr lang="en-US" sz="1000" dirty="0"/>
          </a:p>
        </p:txBody>
      </p:sp>
      <p:sp>
        <p:nvSpPr>
          <p:cNvPr id="50" name="Shape 44"/>
          <p:cNvSpPr/>
          <p:nvPr/>
        </p:nvSpPr>
        <p:spPr>
          <a:xfrm>
            <a:off x="6035040" y="5248656"/>
            <a:ext cx="822960" cy="0"/>
          </a:xfrm>
          <a:prstGeom prst="line">
            <a:avLst/>
          </a:prstGeom>
          <a:noFill/>
          <a:ln w="19050">
            <a:solidFill>
              <a:srgbClr val="C8452B"/>
            </a:solidFill>
            <a:prstDash val="solid"/>
            <a:tailEnd type="triangle"/>
          </a:ln>
        </p:spPr>
      </p:sp>
      <p:sp>
        <p:nvSpPr>
          <p:cNvPr id="51" name="Text 45"/>
          <p:cNvSpPr txBox="1"/>
          <p:nvPr/>
        </p:nvSpPr>
        <p:spPr>
          <a:xfrm>
            <a:off x="5989320" y="4855464"/>
            <a:ext cx="914400" cy="320040"/>
          </a:xfrm>
          <a:prstGeom prst="rect">
            <a:avLst/>
          </a:prstGeom>
          <a:noFill/>
          <a:ln/>
        </p:spPr>
        <p:txBody>
          <a:bodyPr wrap="square" lIns="0" tIns="0" rIns="0" bIns="0" rtlCol="0" anchor="t"/>
          <a:lstStyle/>
          <a:p>
            <a:pPr algn="ctr" indent="0" marL="0">
              <a:buNone/>
            </a:pPr>
            <a:r>
              <a:rPr lang="en-US" sz="900" dirty="0">
                <a:solidFill>
                  <a:srgbClr val="5C6B80"/>
                </a:solidFill>
                <a:latin typeface="Calibri" pitchFamily="34" charset="0"/>
                <a:ea typeface="Calibri" pitchFamily="34" charset="-122"/>
                <a:cs typeface="Calibri" pitchFamily="34" charset="-120"/>
              </a:rPr>
              <a:t>requires</a:t>
            </a:r>
            <a:endParaRPr lang="en-US" sz="900" dirty="0"/>
          </a:p>
        </p:txBody>
      </p:sp>
      <p:sp>
        <p:nvSpPr>
          <p:cNvPr id="52" name="Shape 46"/>
          <p:cNvSpPr/>
          <p:nvPr/>
        </p:nvSpPr>
        <p:spPr>
          <a:xfrm>
            <a:off x="7040880" y="4809744"/>
            <a:ext cx="4572000" cy="868680"/>
          </a:xfrm>
          <a:prstGeom prst="roundRect">
            <a:avLst>
              <a:gd name="adj" fmla="val 8421"/>
            </a:avLst>
          </a:prstGeom>
          <a:solidFill>
            <a:srgbClr val="FFFFFF"/>
          </a:solidFill>
          <a:ln w="9525">
            <a:solidFill>
              <a:srgbClr val="D5DDE9"/>
            </a:solidFill>
            <a:prstDash val="solid"/>
          </a:ln>
        </p:spPr>
      </p:sp>
      <p:sp>
        <p:nvSpPr>
          <p:cNvPr id="53" name="Text 47"/>
          <p:cNvSpPr txBox="1"/>
          <p:nvPr/>
        </p:nvSpPr>
        <p:spPr>
          <a:xfrm>
            <a:off x="7269480" y="4919472"/>
            <a:ext cx="4114800" cy="320040"/>
          </a:xfrm>
          <a:prstGeom prst="rect">
            <a:avLst/>
          </a:prstGeom>
          <a:noFill/>
          <a:ln/>
        </p:spPr>
        <p:txBody>
          <a:bodyPr wrap="square" lIns="0" tIns="0" rIns="0" bIns="0" rtlCol="0" anchor="ctr"/>
          <a:lstStyle/>
          <a:p>
            <a:pPr indent="0" marL="0">
              <a:buNone/>
            </a:pPr>
            <a:r>
              <a:rPr lang="en-US" sz="1400" b="1" dirty="0">
                <a:solidFill>
                  <a:srgbClr val="C8452B"/>
                </a:solidFill>
                <a:latin typeface="Calibri" pitchFamily="34" charset="0"/>
                <a:ea typeface="Calibri" pitchFamily="34" charset="-122"/>
                <a:cs typeface="Calibri" pitchFamily="34" charset="-120"/>
              </a:rPr>
              <a:t>Platform policy</a:t>
            </a:r>
            <a:endParaRPr lang="en-US" sz="1400" dirty="0"/>
          </a:p>
        </p:txBody>
      </p:sp>
      <p:sp>
        <p:nvSpPr>
          <p:cNvPr id="54" name="Text 48"/>
          <p:cNvSpPr txBox="1"/>
          <p:nvPr/>
        </p:nvSpPr>
        <p:spPr>
          <a:xfrm>
            <a:off x="7269480" y="5239512"/>
            <a:ext cx="411480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enterprise segmentation</a:t>
            </a:r>
            <a:endParaRPr lang="en-US" sz="1100" dirty="0"/>
          </a:p>
        </p:txBody>
      </p:sp>
      <p:sp>
        <p:nvSpPr>
          <p:cNvPr id="55" name="Shape 49"/>
          <p:cNvSpPr/>
          <p:nvPr/>
        </p:nvSpPr>
        <p:spPr>
          <a:xfrm>
            <a:off x="548640" y="5852160"/>
            <a:ext cx="11094415" cy="502920"/>
          </a:xfrm>
          <a:prstGeom prst="roundRect">
            <a:avLst>
              <a:gd name="adj" fmla="val 18182"/>
            </a:avLst>
          </a:prstGeom>
          <a:solidFill>
            <a:srgbClr val="0B1F3A"/>
          </a:solidFill>
          <a:ln w="12700">
            <a:solidFill>
              <a:srgbClr val="0B1F3A"/>
            </a:solidFill>
            <a:prstDash val="solid"/>
          </a:ln>
        </p:spPr>
      </p:sp>
      <p:sp>
        <p:nvSpPr>
          <p:cNvPr id="56" name="Text 50"/>
          <p:cNvSpPr txBox="1"/>
          <p:nvPr/>
        </p:nvSpPr>
        <p:spPr>
          <a:xfrm>
            <a:off x="822960" y="5852160"/>
            <a:ext cx="10545775"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Regulatory implication: persistence increases accountability and operational responsibility — every additional hop of reuse is a new place a regulator can ask “why did the agent believe this?”</a:t>
            </a:r>
            <a:endParaRPr lang="en-US" sz="1200" dirty="0"/>
          </a:p>
        </p:txBody>
      </p:sp>
      <p:sp>
        <p:nvSpPr>
          <p:cNvPr id="57" name="Text 51"/>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Shape 0"/>
          <p:cNvSpPr/>
          <p:nvPr/>
        </p:nvSpPr>
        <p:spPr>
          <a:xfrm flipH="1">
            <a:off x="7863840" y="1143000"/>
            <a:ext cx="1028700" cy="800100"/>
          </a:xfrm>
          <a:prstGeom prst="line">
            <a:avLst/>
          </a:prstGeom>
          <a:noFill/>
          <a:ln w="12700">
            <a:solidFill>
              <a:srgbClr val="12867A">
                <a:alpha val="70000"/>
              </a:srgbClr>
            </a:solidFill>
            <a:prstDash val="solid"/>
          </a:ln>
        </p:spPr>
      </p:sp>
      <p:sp>
        <p:nvSpPr>
          <p:cNvPr id="3" name="Shape 1"/>
          <p:cNvSpPr/>
          <p:nvPr/>
        </p:nvSpPr>
        <p:spPr>
          <a:xfrm>
            <a:off x="8892540" y="1143000"/>
            <a:ext cx="1143000" cy="628650"/>
          </a:xfrm>
          <a:prstGeom prst="line">
            <a:avLst/>
          </a:prstGeom>
          <a:noFill/>
          <a:ln w="12700">
            <a:solidFill>
              <a:srgbClr val="12867A">
                <a:alpha val="70000"/>
              </a:srgbClr>
            </a:solidFill>
            <a:prstDash val="solid"/>
          </a:ln>
        </p:spPr>
      </p:sp>
      <p:sp>
        <p:nvSpPr>
          <p:cNvPr id="4" name="Shape 2"/>
          <p:cNvSpPr/>
          <p:nvPr/>
        </p:nvSpPr>
        <p:spPr>
          <a:xfrm flipH="1">
            <a:off x="9406890" y="1771650"/>
            <a:ext cx="628650" cy="1085850"/>
          </a:xfrm>
          <a:prstGeom prst="line">
            <a:avLst/>
          </a:prstGeom>
          <a:noFill/>
          <a:ln w="12700">
            <a:solidFill>
              <a:srgbClr val="12867A">
                <a:alpha val="70000"/>
              </a:srgbClr>
            </a:solidFill>
            <a:prstDash val="solid"/>
          </a:ln>
        </p:spPr>
      </p:sp>
      <p:sp>
        <p:nvSpPr>
          <p:cNvPr id="5" name="Shape 3"/>
          <p:cNvSpPr/>
          <p:nvPr/>
        </p:nvSpPr>
        <p:spPr>
          <a:xfrm flipH="1">
            <a:off x="9406890" y="2628900"/>
            <a:ext cx="1543050" cy="228600"/>
          </a:xfrm>
          <a:prstGeom prst="line">
            <a:avLst/>
          </a:prstGeom>
          <a:noFill/>
          <a:ln w="12700">
            <a:solidFill>
              <a:srgbClr val="12867A">
                <a:alpha val="70000"/>
              </a:srgbClr>
            </a:solidFill>
            <a:prstDash val="solid"/>
          </a:ln>
        </p:spPr>
      </p:sp>
      <p:sp>
        <p:nvSpPr>
          <p:cNvPr id="6" name="Shape 4"/>
          <p:cNvSpPr/>
          <p:nvPr/>
        </p:nvSpPr>
        <p:spPr>
          <a:xfrm>
            <a:off x="7863840" y="1943100"/>
            <a:ext cx="685800" cy="1485900"/>
          </a:xfrm>
          <a:prstGeom prst="line">
            <a:avLst/>
          </a:prstGeom>
          <a:noFill/>
          <a:ln w="12700">
            <a:solidFill>
              <a:srgbClr val="12867A">
                <a:alpha val="70000"/>
              </a:srgbClr>
            </a:solidFill>
            <a:prstDash val="solid"/>
          </a:ln>
        </p:spPr>
      </p:sp>
      <p:sp>
        <p:nvSpPr>
          <p:cNvPr id="7" name="Shape 5"/>
          <p:cNvSpPr/>
          <p:nvPr/>
        </p:nvSpPr>
        <p:spPr>
          <a:xfrm flipH="1">
            <a:off x="8549640" y="2857500"/>
            <a:ext cx="857250" cy="571500"/>
          </a:xfrm>
          <a:prstGeom prst="line">
            <a:avLst/>
          </a:prstGeom>
          <a:noFill/>
          <a:ln w="12700">
            <a:solidFill>
              <a:srgbClr val="12867A">
                <a:alpha val="70000"/>
              </a:srgbClr>
            </a:solidFill>
            <a:prstDash val="solid"/>
          </a:ln>
        </p:spPr>
      </p:sp>
      <p:sp>
        <p:nvSpPr>
          <p:cNvPr id="8" name="Shape 6"/>
          <p:cNvSpPr/>
          <p:nvPr/>
        </p:nvSpPr>
        <p:spPr>
          <a:xfrm flipH="1">
            <a:off x="10492740" y="2628900"/>
            <a:ext cx="457200" cy="1257300"/>
          </a:xfrm>
          <a:prstGeom prst="line">
            <a:avLst/>
          </a:prstGeom>
          <a:noFill/>
          <a:ln w="12700">
            <a:solidFill>
              <a:srgbClr val="12867A">
                <a:alpha val="70000"/>
              </a:srgbClr>
            </a:solidFill>
            <a:prstDash val="solid"/>
          </a:ln>
        </p:spPr>
      </p:sp>
      <p:sp>
        <p:nvSpPr>
          <p:cNvPr id="9" name="Shape 7"/>
          <p:cNvSpPr/>
          <p:nvPr/>
        </p:nvSpPr>
        <p:spPr>
          <a:xfrm>
            <a:off x="8549640" y="3429000"/>
            <a:ext cx="1943100" cy="457200"/>
          </a:xfrm>
          <a:prstGeom prst="line">
            <a:avLst/>
          </a:prstGeom>
          <a:noFill/>
          <a:ln w="12700">
            <a:solidFill>
              <a:srgbClr val="12867A">
                <a:alpha val="70000"/>
              </a:srgbClr>
            </a:solidFill>
            <a:prstDash val="solid"/>
          </a:ln>
        </p:spPr>
      </p:sp>
      <p:sp>
        <p:nvSpPr>
          <p:cNvPr id="10" name="Shape 8"/>
          <p:cNvSpPr/>
          <p:nvPr/>
        </p:nvSpPr>
        <p:spPr>
          <a:xfrm flipH="1">
            <a:off x="10035540" y="1600200"/>
            <a:ext cx="1714500" cy="171450"/>
          </a:xfrm>
          <a:prstGeom prst="line">
            <a:avLst/>
          </a:prstGeom>
          <a:noFill/>
          <a:ln w="12700">
            <a:solidFill>
              <a:srgbClr val="12867A">
                <a:alpha val="70000"/>
              </a:srgbClr>
            </a:solidFill>
            <a:prstDash val="solid"/>
          </a:ln>
        </p:spPr>
      </p:sp>
      <p:sp>
        <p:nvSpPr>
          <p:cNvPr id="11" name="Shape 9"/>
          <p:cNvSpPr/>
          <p:nvPr/>
        </p:nvSpPr>
        <p:spPr>
          <a:xfrm>
            <a:off x="11750040" y="1600200"/>
            <a:ext cx="228600" cy="1828800"/>
          </a:xfrm>
          <a:prstGeom prst="line">
            <a:avLst/>
          </a:prstGeom>
          <a:noFill/>
          <a:ln w="12700">
            <a:solidFill>
              <a:srgbClr val="12867A">
                <a:alpha val="70000"/>
              </a:srgbClr>
            </a:solidFill>
            <a:prstDash val="solid"/>
          </a:ln>
        </p:spPr>
      </p:sp>
      <p:sp>
        <p:nvSpPr>
          <p:cNvPr id="12" name="Shape 10"/>
          <p:cNvSpPr/>
          <p:nvPr/>
        </p:nvSpPr>
        <p:spPr>
          <a:xfrm>
            <a:off x="10949940" y="2628900"/>
            <a:ext cx="1028700" cy="800100"/>
          </a:xfrm>
          <a:prstGeom prst="line">
            <a:avLst/>
          </a:prstGeom>
          <a:noFill/>
          <a:ln w="12700">
            <a:solidFill>
              <a:srgbClr val="12867A">
                <a:alpha val="70000"/>
              </a:srgbClr>
            </a:solidFill>
            <a:prstDash val="solid"/>
          </a:ln>
        </p:spPr>
      </p:sp>
      <p:sp>
        <p:nvSpPr>
          <p:cNvPr id="13" name="Shape 11"/>
          <p:cNvSpPr/>
          <p:nvPr/>
        </p:nvSpPr>
        <p:spPr>
          <a:xfrm>
            <a:off x="7738110" y="1817370"/>
            <a:ext cx="251460" cy="251460"/>
          </a:xfrm>
          <a:prstGeom prst="ellipse">
            <a:avLst/>
          </a:prstGeom>
          <a:solidFill>
            <a:srgbClr val="D98E04"/>
          </a:solidFill>
          <a:ln w="12700">
            <a:solidFill>
              <a:srgbClr val="12867A"/>
            </a:solidFill>
            <a:prstDash val="solid"/>
          </a:ln>
        </p:spPr>
      </p:sp>
      <p:sp>
        <p:nvSpPr>
          <p:cNvPr id="14" name="Shape 12"/>
          <p:cNvSpPr/>
          <p:nvPr/>
        </p:nvSpPr>
        <p:spPr>
          <a:xfrm>
            <a:off x="8818245" y="1068705"/>
            <a:ext cx="148590" cy="148590"/>
          </a:xfrm>
          <a:prstGeom prst="ellipse">
            <a:avLst/>
          </a:prstGeom>
          <a:solidFill>
            <a:srgbClr val="12867A">
              <a:alpha val="70000"/>
            </a:srgbClr>
          </a:solidFill>
          <a:ln w="12700">
            <a:solidFill>
              <a:srgbClr val="12867A"/>
            </a:solidFill>
            <a:prstDash val="solid"/>
          </a:ln>
        </p:spPr>
      </p:sp>
      <p:sp>
        <p:nvSpPr>
          <p:cNvPr id="15" name="Shape 13"/>
          <p:cNvSpPr/>
          <p:nvPr/>
        </p:nvSpPr>
        <p:spPr>
          <a:xfrm>
            <a:off x="9961245" y="1697355"/>
            <a:ext cx="148590" cy="148590"/>
          </a:xfrm>
          <a:prstGeom prst="ellipse">
            <a:avLst/>
          </a:prstGeom>
          <a:solidFill>
            <a:srgbClr val="12867A">
              <a:alpha val="70000"/>
            </a:srgbClr>
          </a:solidFill>
          <a:ln w="12700">
            <a:solidFill>
              <a:srgbClr val="12867A"/>
            </a:solidFill>
            <a:prstDash val="solid"/>
          </a:ln>
        </p:spPr>
      </p:sp>
      <p:sp>
        <p:nvSpPr>
          <p:cNvPr id="16" name="Shape 14"/>
          <p:cNvSpPr/>
          <p:nvPr/>
        </p:nvSpPr>
        <p:spPr>
          <a:xfrm>
            <a:off x="9281160" y="2731770"/>
            <a:ext cx="251460" cy="251460"/>
          </a:xfrm>
          <a:prstGeom prst="ellipse">
            <a:avLst/>
          </a:prstGeom>
          <a:solidFill>
            <a:srgbClr val="12867A"/>
          </a:solidFill>
          <a:ln w="12700">
            <a:solidFill>
              <a:srgbClr val="12867A"/>
            </a:solidFill>
            <a:prstDash val="solid"/>
          </a:ln>
        </p:spPr>
      </p:sp>
      <p:sp>
        <p:nvSpPr>
          <p:cNvPr id="17" name="Shape 15"/>
          <p:cNvSpPr/>
          <p:nvPr/>
        </p:nvSpPr>
        <p:spPr>
          <a:xfrm>
            <a:off x="10875645" y="2554605"/>
            <a:ext cx="148590" cy="148590"/>
          </a:xfrm>
          <a:prstGeom prst="ellipse">
            <a:avLst/>
          </a:prstGeom>
          <a:solidFill>
            <a:srgbClr val="D98E04">
              <a:alpha val="70000"/>
            </a:srgbClr>
          </a:solidFill>
          <a:ln w="12700">
            <a:solidFill>
              <a:srgbClr val="12867A"/>
            </a:solidFill>
            <a:prstDash val="solid"/>
          </a:ln>
        </p:spPr>
      </p:sp>
      <p:sp>
        <p:nvSpPr>
          <p:cNvPr id="18" name="Shape 16"/>
          <p:cNvSpPr/>
          <p:nvPr/>
        </p:nvSpPr>
        <p:spPr>
          <a:xfrm>
            <a:off x="8475345" y="3354705"/>
            <a:ext cx="148590" cy="148590"/>
          </a:xfrm>
          <a:prstGeom prst="ellipse">
            <a:avLst/>
          </a:prstGeom>
          <a:solidFill>
            <a:srgbClr val="12867A">
              <a:alpha val="70000"/>
            </a:srgbClr>
          </a:solidFill>
          <a:ln w="12700">
            <a:solidFill>
              <a:srgbClr val="12867A"/>
            </a:solidFill>
            <a:prstDash val="solid"/>
          </a:ln>
        </p:spPr>
      </p:sp>
      <p:sp>
        <p:nvSpPr>
          <p:cNvPr id="19" name="Shape 17"/>
          <p:cNvSpPr/>
          <p:nvPr/>
        </p:nvSpPr>
        <p:spPr>
          <a:xfrm>
            <a:off x="10367010" y="3760470"/>
            <a:ext cx="251460" cy="251460"/>
          </a:xfrm>
          <a:prstGeom prst="ellipse">
            <a:avLst/>
          </a:prstGeom>
          <a:solidFill>
            <a:srgbClr val="12867A"/>
          </a:solidFill>
          <a:ln w="12700">
            <a:solidFill>
              <a:srgbClr val="12867A"/>
            </a:solidFill>
            <a:prstDash val="solid"/>
          </a:ln>
        </p:spPr>
      </p:sp>
      <p:sp>
        <p:nvSpPr>
          <p:cNvPr id="20" name="Shape 18"/>
          <p:cNvSpPr/>
          <p:nvPr/>
        </p:nvSpPr>
        <p:spPr>
          <a:xfrm>
            <a:off x="11675745" y="1525905"/>
            <a:ext cx="148590" cy="148590"/>
          </a:xfrm>
          <a:prstGeom prst="ellipse">
            <a:avLst/>
          </a:prstGeom>
          <a:solidFill>
            <a:srgbClr val="12867A">
              <a:alpha val="70000"/>
            </a:srgbClr>
          </a:solidFill>
          <a:ln w="12700">
            <a:solidFill>
              <a:srgbClr val="12867A"/>
            </a:solidFill>
            <a:prstDash val="solid"/>
          </a:ln>
        </p:spPr>
      </p:sp>
      <p:sp>
        <p:nvSpPr>
          <p:cNvPr id="21" name="Shape 19"/>
          <p:cNvSpPr/>
          <p:nvPr/>
        </p:nvSpPr>
        <p:spPr>
          <a:xfrm>
            <a:off x="11904345" y="3354705"/>
            <a:ext cx="148590" cy="148590"/>
          </a:xfrm>
          <a:prstGeom prst="ellipse">
            <a:avLst/>
          </a:prstGeom>
          <a:solidFill>
            <a:srgbClr val="D98E04">
              <a:alpha val="70000"/>
            </a:srgbClr>
          </a:solidFill>
          <a:ln w="12700">
            <a:solidFill>
              <a:srgbClr val="12867A"/>
            </a:solidFill>
            <a:prstDash val="solid"/>
          </a:ln>
        </p:spPr>
      </p:sp>
      <p:sp>
        <p:nvSpPr>
          <p:cNvPr id="22" name="Text 20"/>
          <p:cNvSpPr txBox="1"/>
          <p:nvPr/>
        </p:nvSpPr>
        <p:spPr>
          <a:xfrm>
            <a:off x="548640" y="1463040"/>
            <a:ext cx="2743200" cy="1097280"/>
          </a:xfrm>
          <a:prstGeom prst="rect">
            <a:avLst/>
          </a:prstGeom>
          <a:noFill/>
          <a:ln/>
        </p:spPr>
        <p:txBody>
          <a:bodyPr wrap="square" lIns="0" tIns="0" rIns="0" bIns="0" rtlCol="0" anchor="t"/>
          <a:lstStyle/>
          <a:p>
            <a:pPr indent="0" marL="0">
              <a:buNone/>
            </a:pPr>
            <a:r>
              <a:rPr lang="en-US" sz="7200" b="1" dirty="0">
                <a:solidFill>
                  <a:srgbClr val="D98E04"/>
                </a:solidFill>
                <a:latin typeface="Cambria" pitchFamily="34" charset="0"/>
                <a:ea typeface="Cambria" pitchFamily="34" charset="-122"/>
                <a:cs typeface="Cambria" pitchFamily="34" charset="-120"/>
              </a:rPr>
              <a:t>02</a:t>
            </a:r>
            <a:endParaRPr lang="en-US" sz="7200" dirty="0"/>
          </a:p>
        </p:txBody>
      </p:sp>
      <p:sp>
        <p:nvSpPr>
          <p:cNvPr id="23" name="Text 21"/>
          <p:cNvSpPr txBox="1"/>
          <p:nvPr/>
        </p:nvSpPr>
        <p:spPr>
          <a:xfrm>
            <a:off x="548640" y="2651760"/>
            <a:ext cx="749808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Regulatory and supervisory landscape</a:t>
            </a:r>
            <a:endParaRPr lang="en-US" sz="3400" dirty="0"/>
          </a:p>
        </p:txBody>
      </p:sp>
      <p:sp>
        <p:nvSpPr>
          <p:cNvPr id="24" name="Text 22"/>
          <p:cNvSpPr txBox="1"/>
          <p:nvPr/>
        </p:nvSpPr>
        <p:spPr>
          <a:xfrm>
            <a:off x="548640" y="4023360"/>
            <a:ext cx="6949440" cy="109728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The control requirements are derived from multiple overlapping regimes, each with a different legal status and a different degree of relevance to RockAI.</a:t>
            </a:r>
            <a:endParaRPr lang="en-US" sz="1500" dirty="0"/>
          </a:p>
        </p:txBody>
      </p:sp>
      <p:sp>
        <p:nvSpPr>
          <p:cNvPr id="25" name="Text 23"/>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RockAI Agent Memory Governance Framework  •  Internal research draft  •  Sept 2026  •  Not legal advice</a:t>
            </a:r>
            <a:endParaRPr lang="en-US" sz="900" dirty="0"/>
          </a:p>
        </p:txBody>
      </p:sp>
      <p:sp>
        <p:nvSpPr>
          <p:cNvPr id="26" name="Text 2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Regulatory map: what each source contributes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651760"/>
                <a:gridCol w="2377440"/>
                <a:gridCol w="6062472"/>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Memory relevance</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r>
              <a:tr h="4572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GDPR</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00" b="1" dirty="0">
                          <a:solidFill>
                            <a:srgbClr val="12867A"/>
                          </a:solidFill>
                          <a:latin typeface="Calibri" pitchFamily="34" charset="0"/>
                          <a:ea typeface="Calibri" pitchFamily="34" charset="-122"/>
                          <a:cs typeface="Calibri" pitchFamily="34" charset="-120"/>
                        </a:rPr>
                        <a:t>Binding EU privacy law</a:t>
                      </a:r>
                      <a:endParaRPr lang="en-US" sz="100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personal memory, profiling, lawful basis, minimisation, access, rectification, restriction, erasure, security, DPIA</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EU AI Act (+ Digital Omnibus 2026/1744)</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00" b="1" dirty="0">
                          <a:solidFill>
                            <a:srgbClr val="12867A"/>
                          </a:solidFill>
                          <a:latin typeface="Calibri" pitchFamily="34" charset="0"/>
                          <a:ea typeface="Calibri" pitchFamily="34" charset="-122"/>
                          <a:cs typeface="Calibri" pitchFamily="34" charset="-120"/>
                        </a:rPr>
                        <a:t>Binding by system/use classification</a:t>
                      </a:r>
                      <a:endParaRPr lang="en-US" sz="100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risk management, data governance, logging, transparency, human oversight, robustness, monitoring; high-risk from Dec 2027 / Aug 2028</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SEC Reg S-P</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00" b="1" dirty="0">
                          <a:solidFill>
                            <a:srgbClr val="12867A"/>
                          </a:solidFill>
                          <a:latin typeface="Calibri" pitchFamily="34" charset="0"/>
                          <a:ea typeface="Calibri" pitchFamily="34" charset="-122"/>
                          <a:cs typeface="Calibri" pitchFamily="34" charset="-120"/>
                        </a:rPr>
                        <a:t>Binding for covered U.S. financial firms</a:t>
                      </a:r>
                      <a:endParaRPr lang="en-US" sz="100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customer information safeguards, disposal, incident response, 30-day breach notification, service-provider oversight; larger entities since 3 Dec 2025</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Treasury FS AI RMF (Feb 2026)</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00" b="1" dirty="0">
                          <a:solidFill>
                            <a:srgbClr val="D98E04"/>
                          </a:solidFill>
                          <a:latin typeface="Calibri" pitchFamily="34" charset="0"/>
                          <a:ea typeface="Calibri" pitchFamily="34" charset="-122"/>
                          <a:cs typeface="Calibri" pitchFamily="34" charset="-120"/>
                        </a:rPr>
                        <a:t>U.S. sector framework</a:t>
                      </a:r>
                      <a:endParaRPr lang="en-US" sz="100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230 control objectives, four adoption stages; Govern / Map / Measure / Manage vocabulary for financial-services AI</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DORA</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00" b="1" dirty="0">
                          <a:solidFill>
                            <a:srgbClr val="12867A"/>
                          </a:solidFill>
                          <a:latin typeface="Calibri" pitchFamily="34" charset="0"/>
                          <a:ea typeface="Calibri" pitchFamily="34" charset="-122"/>
                          <a:cs typeface="Calibri" pitchFamily="34" charset="-120"/>
                        </a:rPr>
                        <a:t>Binding EU financial-sector resilience</a:t>
                      </a:r>
                      <a:endParaRPr lang="en-US" sz="100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ICT risk, third-party dependencies, resilience, exit strategies, registers, testing; CTPP oversight for designated providers</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FSB AI reports (2024, 2025)</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00" b="1" dirty="0">
                          <a:solidFill>
                            <a:srgbClr val="D98E04"/>
                          </a:solidFill>
                          <a:latin typeface="Calibri" pitchFamily="34" charset="0"/>
                          <a:ea typeface="Calibri" pitchFamily="34" charset="-122"/>
                          <a:cs typeface="Calibri" pitchFamily="34" charset="-120"/>
                        </a:rPr>
                        <a:t>International supervisory signal</a:t>
                      </a:r>
                      <a:endParaRPr lang="en-US" sz="100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third-party concentration, cyber, model risk, data quality, governance, systemic monitoring</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SR 26-2 (Apr 2026)</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00" b="1" dirty="0">
                          <a:solidFill>
                            <a:srgbClr val="5C6B80"/>
                          </a:solidFill>
                          <a:latin typeface="Calibri" pitchFamily="34" charset="0"/>
                          <a:ea typeface="Calibri" pitchFamily="34" charset="-122"/>
                          <a:cs typeface="Calibri" pitchFamily="34" charset="-120"/>
                        </a:rPr>
                        <a:t>Banking supervisory analogue</a:t>
                      </a:r>
                      <a:endParaRPr lang="en-US" sz="100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useful model-risk benchmark; generative and agentic AI carved out; not the asset-manager anchor</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530352">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NIST AI RMF / GenAI Profile / AI 100-2e2025</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00" b="1" dirty="0">
                          <a:solidFill>
                            <a:srgbClr val="D98E04"/>
                          </a:solidFill>
                          <a:latin typeface="Calibri" pitchFamily="34" charset="0"/>
                          <a:ea typeface="Calibri" pitchFamily="34" charset="-122"/>
                          <a:cs typeface="Calibri" pitchFamily="34" charset="-120"/>
                        </a:rPr>
                        <a:t>Voluntary engineering framework</a:t>
                      </a:r>
                      <a:endParaRPr lang="en-US" sz="100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risk lifecycle, component and value-chain risks, third-party libraries; adversarial taxonomy now names agent memory poisoning</a:t>
                      </a:r>
                      <a:endParaRPr lang="en-US" sz="1050" dirty="0">
                        <a:latin typeface="Calibri" charset="0"/>
                        <a:ea typeface="Calibri" charset="0"/>
                        <a:cs typeface="Calibri" charset="0"/>
                      </a:endParaRPr>
                    </a:p>
                  </a:txBody>
                  <a:tcPr marL="76200" marR="762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806440"/>
            <a:ext cx="5486400" cy="274320"/>
          </a:xfrm>
          <a:prstGeom prst="rect">
            <a:avLst/>
          </a:prstGeom>
          <a:noFill/>
          <a:ln/>
        </p:spPr>
        <p:txBody>
          <a:bodyPr wrap="square" lIns="0" tIns="0" rIns="0" bIns="0" rtlCol="0" anchor="t"/>
          <a:lstStyle/>
          <a:p>
            <a:pPr indent="0" marL="0">
              <a:buNone/>
            </a:pPr>
            <a:r>
              <a:rPr lang="en-US" sz="1000" b="1" dirty="0">
                <a:solidFill>
                  <a:srgbClr val="12867A"/>
                </a:solidFill>
                <a:latin typeface="Calibri" pitchFamily="34" charset="0"/>
                <a:ea typeface="Calibri" pitchFamily="34" charset="-122"/>
                <a:cs typeface="Calibri" pitchFamily="34" charset="-120"/>
              </a:rPr>
              <a:t>Binding</a:t>
            </a:r>
            <a:pPr indent="0" marL="0">
              <a:buNone/>
            </a:pPr>
            <a:r>
              <a:rPr lang="en-US" sz="1000" dirty="0">
                <a:solidFill>
                  <a:srgbClr val="1F2937"/>
                </a:solidFill>
                <a:latin typeface="Calibri" pitchFamily="34" charset="0"/>
                <a:ea typeface="Calibri" pitchFamily="34" charset="-122"/>
                <a:cs typeface="Calibri" pitchFamily="34" charset="-120"/>
              </a:rPr>
              <a:t>    </a:t>
            </a:r>
            <a:pPr indent="0" marL="0">
              <a:buNone/>
            </a:pPr>
            <a:r>
              <a:rPr lang="en-US" sz="1000" b="1" dirty="0">
                <a:solidFill>
                  <a:srgbClr val="D98E04"/>
                </a:solidFill>
                <a:latin typeface="Calibri" pitchFamily="34" charset="0"/>
                <a:ea typeface="Calibri" pitchFamily="34" charset="-122"/>
                <a:cs typeface="Calibri" pitchFamily="34" charset="-120"/>
              </a:rPr>
              <a:t>Framework / signal</a:t>
            </a:r>
            <a:pPr indent="0" marL="0">
              <a:buNone/>
            </a:pPr>
            <a:r>
              <a:rPr lang="en-US" sz="1000" dirty="0">
                <a:solidFill>
                  <a:srgbClr val="1F2937"/>
                </a:solidFill>
                <a:latin typeface="Calibri" pitchFamily="34" charset="0"/>
                <a:ea typeface="Calibri" pitchFamily="34" charset="-122"/>
                <a:cs typeface="Calibri" pitchFamily="34" charset="-120"/>
              </a:rPr>
              <a:t>    </a:t>
            </a:r>
            <a:pPr indent="0" marL="0">
              <a:buNone/>
            </a:pPr>
            <a:r>
              <a:rPr lang="en-US" sz="1000" b="1" dirty="0">
                <a:solidFill>
                  <a:srgbClr val="5C6B80"/>
                </a:solidFill>
                <a:latin typeface="Calibri" pitchFamily="34" charset="0"/>
                <a:ea typeface="Calibri" pitchFamily="34" charset="-122"/>
                <a:cs typeface="Calibri" pitchFamily="34" charset="-120"/>
              </a:rPr>
              <a:t>Analogue only</a:t>
            </a:r>
            <a:endParaRPr lang="en-US" sz="1000" dirty="0"/>
          </a:p>
        </p:txBody>
      </p:sp>
      <p:sp>
        <p:nvSpPr>
          <p:cNvPr id="7" name="Text 4"/>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Official sources: EUR-Lex (GDPR, AI Act, DORA, Omnibus); SEC Reg S-P; U.S. Treasury FS AI RMF; Federal Reserve SR 26-2; FSB AI reports; NIST AI RMF.</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GDPR → memory lifecycle controls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48640" y="1371600"/>
            <a:ext cx="3566160" cy="1965960"/>
          </a:xfrm>
          <a:prstGeom prst="roundRect">
            <a:avLst>
              <a:gd name="adj" fmla="val 3721"/>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Lawful basis &amp; purpose</a:t>
            </a:r>
            <a:endParaRPr lang="en-US" sz="1250" dirty="0"/>
          </a:p>
        </p:txBody>
      </p:sp>
      <p:sp>
        <p:nvSpPr>
          <p:cNvPr id="9" name="Text 6"/>
          <p:cNvSpPr txBox="1"/>
          <p:nvPr/>
        </p:nvSpPr>
        <p:spPr>
          <a:xfrm>
            <a:off x="731520" y="201168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Every personal memory needs an approved processing purpose and legal basis; “may be useful later” is insufficient.</a:t>
            </a:r>
            <a:endParaRPr lang="en-US" sz="1100" dirty="0"/>
          </a:p>
        </p:txBody>
      </p:sp>
      <p:sp>
        <p:nvSpPr>
          <p:cNvPr id="10" name="Shape 7"/>
          <p:cNvSpPr/>
          <p:nvPr/>
        </p:nvSpPr>
        <p:spPr>
          <a:xfrm>
            <a:off x="4315968" y="1371600"/>
            <a:ext cx="3566160" cy="1965960"/>
          </a:xfrm>
          <a:prstGeom prst="roundRect">
            <a:avLst>
              <a:gd name="adj" fmla="val 3721"/>
            </a:avLst>
          </a:prstGeom>
          <a:solidFill>
            <a:srgbClr val="F7F9FC"/>
          </a:solidFill>
          <a:ln w="9525">
            <a:solidFill>
              <a:srgbClr val="D5DDE9"/>
            </a:solidFill>
            <a:prstDash val="solid"/>
          </a:ln>
        </p:spPr>
      </p:sp>
      <p:sp>
        <p:nvSpPr>
          <p:cNvPr id="11" name="Shape 8"/>
          <p:cNvSpPr/>
          <p:nvPr/>
        </p:nvSpPr>
        <p:spPr>
          <a:xfrm>
            <a:off x="4480560" y="1536192"/>
            <a:ext cx="384048" cy="384048"/>
          </a:xfrm>
          <a:prstGeom prst="ellipse">
            <a:avLst/>
          </a:prstGeom>
          <a:solidFill>
            <a:srgbClr val="DDF0ED"/>
          </a:solidFill>
          <a:ln w="12700">
            <a:solidFill>
              <a:srgbClr val="DDF0ED"/>
            </a:solidFill>
            <a:prstDash val="solid"/>
          </a:ln>
        </p:spPr>
      </p:sp>
      <p:pic>
        <p:nvPicPr>
          <p:cNvPr id="12" name="Image 1" descr="preencoded.png">    </p:cNvPr>
          <p:cNvPicPr>
            <a:picLocks noChangeAspect="1"/>
          </p:cNvPicPr>
          <p:nvPr/>
        </p:nvPicPr>
        <p:blipFill>
          <a:blip r:embed="rId2"/>
          <a:stretch>
            <a:fillRect/>
          </a:stretch>
        </p:blipFill>
        <p:spPr>
          <a:xfrm>
            <a:off x="4572732" y="1628364"/>
            <a:ext cx="199705" cy="199705"/>
          </a:xfrm>
          <a:prstGeom prst="rect">
            <a:avLst/>
          </a:prstGeom>
        </p:spPr>
      </p:pic>
      <p:sp>
        <p:nvSpPr>
          <p:cNvPr id="13" name="Text 9"/>
          <p:cNvSpPr txBox="1"/>
          <p:nvPr/>
        </p:nvSpPr>
        <p:spPr>
          <a:xfrm>
            <a:off x="4974336" y="153619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Minimisation</a:t>
            </a:r>
            <a:endParaRPr lang="en-US" sz="1250" dirty="0"/>
          </a:p>
        </p:txBody>
      </p:sp>
      <p:sp>
        <p:nvSpPr>
          <p:cNvPr id="14" name="Text 10"/>
          <p:cNvSpPr txBox="1"/>
          <p:nvPr/>
        </p:nvSpPr>
        <p:spPr>
          <a:xfrm>
            <a:off x="4498848" y="201168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Persist only what is necessary; default-deny sensitive or inferred attributes without an approved use case.</a:t>
            </a:r>
            <a:endParaRPr lang="en-US" sz="1100" dirty="0"/>
          </a:p>
        </p:txBody>
      </p:sp>
      <p:sp>
        <p:nvSpPr>
          <p:cNvPr id="15" name="Shape 11"/>
          <p:cNvSpPr/>
          <p:nvPr/>
        </p:nvSpPr>
        <p:spPr>
          <a:xfrm>
            <a:off x="8083296" y="1371600"/>
            <a:ext cx="3566160" cy="1965960"/>
          </a:xfrm>
          <a:prstGeom prst="roundRect">
            <a:avLst>
              <a:gd name="adj" fmla="val 3721"/>
            </a:avLst>
          </a:prstGeom>
          <a:solidFill>
            <a:srgbClr val="F7F9FC"/>
          </a:solidFill>
          <a:ln w="9525">
            <a:solidFill>
              <a:srgbClr val="D5DDE9"/>
            </a:solidFill>
            <a:prstDash val="solid"/>
          </a:ln>
        </p:spPr>
      </p:sp>
      <p:sp>
        <p:nvSpPr>
          <p:cNvPr id="16" name="Shape 12"/>
          <p:cNvSpPr/>
          <p:nvPr/>
        </p:nvSpPr>
        <p:spPr>
          <a:xfrm>
            <a:off x="8247888" y="1536192"/>
            <a:ext cx="384048" cy="384048"/>
          </a:xfrm>
          <a:prstGeom prst="ellipse">
            <a:avLst/>
          </a:prstGeom>
          <a:solidFill>
            <a:srgbClr val="E3E9F3"/>
          </a:solidFill>
          <a:ln w="12700">
            <a:solidFill>
              <a:srgbClr val="E3E9F3"/>
            </a:solidFill>
            <a:prstDash val="solid"/>
          </a:ln>
        </p:spPr>
      </p:sp>
      <p:pic>
        <p:nvPicPr>
          <p:cNvPr id="17" name="Image 2" descr="preencoded.png">    </p:cNvPr>
          <p:cNvPicPr>
            <a:picLocks noChangeAspect="1"/>
          </p:cNvPicPr>
          <p:nvPr/>
        </p:nvPicPr>
        <p:blipFill>
          <a:blip r:embed="rId3"/>
          <a:stretch>
            <a:fillRect/>
          </a:stretch>
        </p:blipFill>
        <p:spPr>
          <a:xfrm>
            <a:off x="8340060" y="1628364"/>
            <a:ext cx="199705" cy="199705"/>
          </a:xfrm>
          <a:prstGeom prst="rect">
            <a:avLst/>
          </a:prstGeom>
        </p:spPr>
      </p:pic>
      <p:sp>
        <p:nvSpPr>
          <p:cNvPr id="18" name="Text 13"/>
          <p:cNvSpPr txBox="1"/>
          <p:nvPr/>
        </p:nvSpPr>
        <p:spPr>
          <a:xfrm>
            <a:off x="8741664" y="153619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Accuracy &amp; updating</a:t>
            </a:r>
            <a:endParaRPr lang="en-US" sz="1250" dirty="0"/>
          </a:p>
        </p:txBody>
      </p:sp>
      <p:sp>
        <p:nvSpPr>
          <p:cNvPr id="19" name="Text 14"/>
          <p:cNvSpPr txBox="1"/>
          <p:nvPr/>
        </p:nvSpPr>
        <p:spPr>
          <a:xfrm>
            <a:off x="8266176" y="201168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Memory objects need source, timestamp, confidence, authority and validity windows — accuracy is a property of the graph, not just the record.</a:t>
            </a:r>
            <a:endParaRPr lang="en-US" sz="1100" dirty="0"/>
          </a:p>
        </p:txBody>
      </p:sp>
      <p:sp>
        <p:nvSpPr>
          <p:cNvPr id="20" name="Shape 15"/>
          <p:cNvSpPr/>
          <p:nvPr/>
        </p:nvSpPr>
        <p:spPr>
          <a:xfrm>
            <a:off x="548640" y="3520440"/>
            <a:ext cx="3566160" cy="1965960"/>
          </a:xfrm>
          <a:prstGeom prst="roundRect">
            <a:avLst>
              <a:gd name="adj" fmla="val 3721"/>
            </a:avLst>
          </a:prstGeom>
          <a:solidFill>
            <a:srgbClr val="F7F9FC"/>
          </a:solidFill>
          <a:ln w="9525">
            <a:solidFill>
              <a:srgbClr val="D5DDE9"/>
            </a:solidFill>
            <a:prstDash val="solid"/>
          </a:ln>
        </p:spPr>
      </p:sp>
      <p:sp>
        <p:nvSpPr>
          <p:cNvPr id="21" name="Shape 16"/>
          <p:cNvSpPr/>
          <p:nvPr/>
        </p:nvSpPr>
        <p:spPr>
          <a:xfrm>
            <a:off x="713232" y="3685032"/>
            <a:ext cx="384048" cy="384048"/>
          </a:xfrm>
          <a:prstGeom prst="ellipse">
            <a:avLst/>
          </a:prstGeom>
          <a:solidFill>
            <a:srgbClr val="FBF1DE"/>
          </a:solidFill>
          <a:ln w="12700">
            <a:solidFill>
              <a:srgbClr val="FBF1DE"/>
            </a:solidFill>
            <a:prstDash val="solid"/>
          </a:ln>
        </p:spPr>
      </p:sp>
      <p:pic>
        <p:nvPicPr>
          <p:cNvPr id="22" name="Image 3" descr="preencoded.png">    </p:cNvPr>
          <p:cNvPicPr>
            <a:picLocks noChangeAspect="1"/>
          </p:cNvPicPr>
          <p:nvPr/>
        </p:nvPicPr>
        <p:blipFill>
          <a:blip r:embed="rId4"/>
          <a:stretch>
            <a:fillRect/>
          </a:stretch>
        </p:blipFill>
        <p:spPr>
          <a:xfrm>
            <a:off x="805404" y="3777204"/>
            <a:ext cx="199705" cy="199705"/>
          </a:xfrm>
          <a:prstGeom prst="rect">
            <a:avLst/>
          </a:prstGeom>
        </p:spPr>
      </p:pic>
      <p:sp>
        <p:nvSpPr>
          <p:cNvPr id="23" name="Text 17"/>
          <p:cNvSpPr txBox="1"/>
          <p:nvPr/>
        </p:nvSpPr>
        <p:spPr>
          <a:xfrm>
            <a:off x="1207008" y="368503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Access / rectification / restriction / erasure</a:t>
            </a:r>
            <a:endParaRPr lang="en-US" sz="1250" dirty="0"/>
          </a:p>
        </p:txBody>
      </p:sp>
      <p:sp>
        <p:nvSpPr>
          <p:cNvPr id="24" name="Text 18"/>
          <p:cNvSpPr txBox="1"/>
          <p:nvPr/>
        </p:nvSpPr>
        <p:spPr>
          <a:xfrm>
            <a:off x="731520" y="416052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Subject rights must traverse raw episodes, summaries, KG nodes and edges, vectors, caches and derived facts.</a:t>
            </a:r>
            <a:endParaRPr lang="en-US" sz="1100" dirty="0"/>
          </a:p>
        </p:txBody>
      </p:sp>
      <p:sp>
        <p:nvSpPr>
          <p:cNvPr id="25" name="Shape 19"/>
          <p:cNvSpPr/>
          <p:nvPr/>
        </p:nvSpPr>
        <p:spPr>
          <a:xfrm>
            <a:off x="4315968" y="3520440"/>
            <a:ext cx="3566160" cy="1965960"/>
          </a:xfrm>
          <a:prstGeom prst="roundRect">
            <a:avLst>
              <a:gd name="adj" fmla="val 3721"/>
            </a:avLst>
          </a:prstGeom>
          <a:solidFill>
            <a:srgbClr val="F7F9FC"/>
          </a:solidFill>
          <a:ln w="9525">
            <a:solidFill>
              <a:srgbClr val="D5DDE9"/>
            </a:solidFill>
            <a:prstDash val="solid"/>
          </a:ln>
        </p:spPr>
      </p:sp>
      <p:sp>
        <p:nvSpPr>
          <p:cNvPr id="26" name="Shape 20"/>
          <p:cNvSpPr/>
          <p:nvPr/>
        </p:nvSpPr>
        <p:spPr>
          <a:xfrm>
            <a:off x="4480560" y="3685032"/>
            <a:ext cx="384048" cy="384048"/>
          </a:xfrm>
          <a:prstGeom prst="ellipse">
            <a:avLst/>
          </a:prstGeom>
          <a:solidFill>
            <a:srgbClr val="DDF0ED"/>
          </a:solidFill>
          <a:ln w="12700">
            <a:solidFill>
              <a:srgbClr val="DDF0ED"/>
            </a:solidFill>
            <a:prstDash val="solid"/>
          </a:ln>
        </p:spPr>
      </p:sp>
      <p:pic>
        <p:nvPicPr>
          <p:cNvPr id="27" name="Image 4" descr="preencoded.png">    </p:cNvPr>
          <p:cNvPicPr>
            <a:picLocks noChangeAspect="1"/>
          </p:cNvPicPr>
          <p:nvPr/>
        </p:nvPicPr>
        <p:blipFill>
          <a:blip r:embed="rId5"/>
          <a:stretch>
            <a:fillRect/>
          </a:stretch>
        </p:blipFill>
        <p:spPr>
          <a:xfrm>
            <a:off x="4572732" y="3777204"/>
            <a:ext cx="199705" cy="199705"/>
          </a:xfrm>
          <a:prstGeom prst="rect">
            <a:avLst/>
          </a:prstGeom>
        </p:spPr>
      </p:pic>
      <p:sp>
        <p:nvSpPr>
          <p:cNvPr id="28" name="Text 21"/>
          <p:cNvSpPr txBox="1"/>
          <p:nvPr/>
        </p:nvSpPr>
        <p:spPr>
          <a:xfrm>
            <a:off x="4974336" y="368503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Privacy by design</a:t>
            </a:r>
            <a:endParaRPr lang="en-US" sz="1250" dirty="0"/>
          </a:p>
        </p:txBody>
      </p:sp>
      <p:sp>
        <p:nvSpPr>
          <p:cNvPr id="29" name="Text 22"/>
          <p:cNvSpPr txBox="1"/>
          <p:nvPr/>
        </p:nvSpPr>
        <p:spPr>
          <a:xfrm>
            <a:off x="4498848" y="416052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Controls belong inside the library and gateway, not in each agent prompt.</a:t>
            </a:r>
            <a:endParaRPr lang="en-US" sz="1100" dirty="0"/>
          </a:p>
        </p:txBody>
      </p:sp>
      <p:sp>
        <p:nvSpPr>
          <p:cNvPr id="30" name="Shape 23"/>
          <p:cNvSpPr/>
          <p:nvPr/>
        </p:nvSpPr>
        <p:spPr>
          <a:xfrm>
            <a:off x="8083296" y="3520440"/>
            <a:ext cx="3566160" cy="1965960"/>
          </a:xfrm>
          <a:prstGeom prst="roundRect">
            <a:avLst>
              <a:gd name="adj" fmla="val 3721"/>
            </a:avLst>
          </a:prstGeom>
          <a:solidFill>
            <a:srgbClr val="F7F9FC"/>
          </a:solidFill>
          <a:ln w="9525">
            <a:solidFill>
              <a:srgbClr val="D5DDE9"/>
            </a:solidFill>
            <a:prstDash val="solid"/>
          </a:ln>
        </p:spPr>
      </p:sp>
      <p:sp>
        <p:nvSpPr>
          <p:cNvPr id="31" name="Shape 24"/>
          <p:cNvSpPr/>
          <p:nvPr/>
        </p:nvSpPr>
        <p:spPr>
          <a:xfrm>
            <a:off x="8247888" y="3685032"/>
            <a:ext cx="384048" cy="384048"/>
          </a:xfrm>
          <a:prstGeom prst="ellipse">
            <a:avLst/>
          </a:prstGeom>
          <a:solidFill>
            <a:srgbClr val="F8E3DE"/>
          </a:solidFill>
          <a:ln w="12700">
            <a:solidFill>
              <a:srgbClr val="F8E3DE"/>
            </a:solidFill>
            <a:prstDash val="solid"/>
          </a:ln>
        </p:spPr>
      </p:sp>
      <p:pic>
        <p:nvPicPr>
          <p:cNvPr id="32" name="Image 5" descr="preencoded.png">    </p:cNvPr>
          <p:cNvPicPr>
            <a:picLocks noChangeAspect="1"/>
          </p:cNvPicPr>
          <p:nvPr/>
        </p:nvPicPr>
        <p:blipFill>
          <a:blip r:embed="rId6"/>
          <a:stretch>
            <a:fillRect/>
          </a:stretch>
        </p:blipFill>
        <p:spPr>
          <a:xfrm>
            <a:off x="8340060" y="3777204"/>
            <a:ext cx="199705" cy="199705"/>
          </a:xfrm>
          <a:prstGeom prst="rect">
            <a:avLst/>
          </a:prstGeom>
        </p:spPr>
      </p:pic>
      <p:sp>
        <p:nvSpPr>
          <p:cNvPr id="33" name="Text 25"/>
          <p:cNvSpPr txBox="1"/>
          <p:nvPr/>
        </p:nvSpPr>
        <p:spPr>
          <a:xfrm>
            <a:off x="8741664" y="368503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Anonymity is not assumed</a:t>
            </a:r>
            <a:endParaRPr lang="en-US" sz="1250" dirty="0"/>
          </a:p>
        </p:txBody>
      </p:sp>
      <p:sp>
        <p:nvSpPr>
          <p:cNvPr id="34" name="Text 26"/>
          <p:cNvSpPr txBox="1"/>
          <p:nvPr/>
        </p:nvSpPr>
        <p:spPr>
          <a:xfrm>
            <a:off x="8266176" y="416052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EDPB Opinion 28/2024: AI artifacts derived from personal data are not presumed anonymous; embeddings and KG edges remain personal data.</a:t>
            </a:r>
            <a:endParaRPr lang="en-US" sz="1100" dirty="0"/>
          </a:p>
        </p:txBody>
      </p:sp>
      <p:sp>
        <p:nvSpPr>
          <p:cNvPr id="35" name="Shape 27"/>
          <p:cNvSpPr/>
          <p:nvPr/>
        </p:nvSpPr>
        <p:spPr>
          <a:xfrm>
            <a:off x="548640" y="5715000"/>
            <a:ext cx="11094415" cy="457200"/>
          </a:xfrm>
          <a:prstGeom prst="roundRect">
            <a:avLst>
              <a:gd name="adj" fmla="val 20000"/>
            </a:avLst>
          </a:prstGeom>
          <a:solidFill>
            <a:srgbClr val="0B1F3A"/>
          </a:solidFill>
          <a:ln w="12700">
            <a:solidFill>
              <a:srgbClr val="0B1F3A"/>
            </a:solidFill>
            <a:prstDash val="solid"/>
          </a:ln>
        </p:spPr>
      </p:sp>
      <p:sp>
        <p:nvSpPr>
          <p:cNvPr id="36" name="Text 28"/>
          <p:cNvSpPr txBox="1"/>
          <p:nvPr/>
        </p:nvSpPr>
        <p:spPr>
          <a:xfrm>
            <a:off x="822960" y="5715000"/>
            <a:ext cx="10545775"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For graph memory: governance attaches to edges and derivations, not just to user records.</a:t>
            </a:r>
            <a:endParaRPr lang="en-US" sz="1200" dirty="0"/>
          </a:p>
        </p:txBody>
      </p:sp>
      <p:sp>
        <p:nvSpPr>
          <p:cNvPr id="37" name="Text 29"/>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GDPR Arts. 5, 6, 9, 15–18, 20, 25, 30, 32, 35; EDPB Opinion 28/2024 on AI-derived personal data and anonymity.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Data-subject rights become graph operations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9</a:t>
            </a:r>
            <a:endParaRPr lang="en-US" sz="900" dirty="0"/>
          </a:p>
        </p:txBody>
      </p:sp>
      <p:sp>
        <p:nvSpPr>
          <p:cNvPr id="5" name="Text 3"/>
          <p:cNvSpPr txBox="1"/>
          <p:nvPr/>
        </p:nvSpPr>
        <p:spPr>
          <a:xfrm>
            <a:off x="548640" y="1325880"/>
            <a:ext cx="9144000" cy="274320"/>
          </a:xfrm>
          <a:prstGeom prst="rect">
            <a:avLst/>
          </a:prstGeom>
          <a:noFill/>
          <a:ln/>
        </p:spPr>
        <p:txBody>
          <a:bodyPr wrap="square" lIns="0" tIns="0" rIns="0" bIns="0" rtlCol="0" anchor="t"/>
          <a:lstStyle/>
          <a:p>
            <a:pPr indent="0" marL="0">
              <a:buNone/>
            </a:pPr>
            <a:r>
              <a:rPr lang="en-US" sz="900" b="1" spc="200" kern="0" dirty="0">
                <a:solidFill>
                  <a:srgbClr val="5C6B80"/>
                </a:solidFill>
                <a:latin typeface="Calibri" pitchFamily="34" charset="0"/>
                <a:ea typeface="Calibri" pitchFamily="34" charset="-122"/>
                <a:cs typeface="Calibri" pitchFamily="34" charset="-120"/>
              </a:rPr>
              <a:t>ONE SUBJECT, SIX REPRESENTATIONS — EVERY RIGHT MUST TRAVERSE ALL OF THEM</a:t>
            </a:r>
            <a:endParaRPr lang="en-US" sz="900" dirty="0"/>
          </a:p>
        </p:txBody>
      </p:sp>
      <p:sp>
        <p:nvSpPr>
          <p:cNvPr id="6" name="Shape 4"/>
          <p:cNvSpPr/>
          <p:nvPr/>
        </p:nvSpPr>
        <p:spPr>
          <a:xfrm>
            <a:off x="1261872" y="2139696"/>
            <a:ext cx="1363005" cy="0"/>
          </a:xfrm>
          <a:prstGeom prst="line">
            <a:avLst/>
          </a:prstGeom>
          <a:noFill/>
          <a:ln w="19050">
            <a:solidFill>
              <a:srgbClr val="12867A"/>
            </a:solidFill>
            <a:prstDash val="solid"/>
            <a:tailEnd type="triangle"/>
          </a:ln>
        </p:spPr>
      </p:sp>
      <p:sp>
        <p:nvSpPr>
          <p:cNvPr id="7" name="Shape 5"/>
          <p:cNvSpPr/>
          <p:nvPr/>
        </p:nvSpPr>
        <p:spPr>
          <a:xfrm>
            <a:off x="548640" y="1783080"/>
            <a:ext cx="713232" cy="713232"/>
          </a:xfrm>
          <a:prstGeom prst="ellipse">
            <a:avLst/>
          </a:prstGeom>
          <a:solidFill>
            <a:srgbClr val="0B1F3A"/>
          </a:solidFill>
          <a:ln w="12700">
            <a:solidFill>
              <a:srgbClr val="0B1F3A"/>
            </a:solidFill>
            <a:prstDash val="solid"/>
          </a:ln>
        </p:spPr>
      </p:sp>
      <p:sp>
        <p:nvSpPr>
          <p:cNvPr id="8" name="Text 6"/>
          <p:cNvSpPr txBox="1"/>
          <p:nvPr/>
        </p:nvSpPr>
        <p:spPr>
          <a:xfrm>
            <a:off x="548640" y="1783080"/>
            <a:ext cx="713232" cy="71323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E</a:t>
            </a:r>
            <a:endParaRPr lang="en-US" sz="1800" dirty="0"/>
          </a:p>
        </p:txBody>
      </p:sp>
      <p:sp>
        <p:nvSpPr>
          <p:cNvPr id="9" name="Text 7"/>
          <p:cNvSpPr txBox="1"/>
          <p:nvPr/>
        </p:nvSpPr>
        <p:spPr>
          <a:xfrm>
            <a:off x="182880" y="2587752"/>
            <a:ext cx="1444752" cy="411480"/>
          </a:xfrm>
          <a:prstGeom prst="rect">
            <a:avLst/>
          </a:prstGeom>
          <a:noFill/>
          <a:ln/>
        </p:spPr>
        <p:txBody>
          <a:bodyPr wrap="square" lIns="0" tIns="0" rIns="0" bIns="0" rtlCol="0" anchor="t"/>
          <a:lstStyle/>
          <a:p>
            <a:pPr algn="ctr" indent="0" marL="0">
              <a:buNone/>
            </a:pPr>
            <a:r>
              <a:rPr lang="en-US" sz="1150" b="1" dirty="0">
                <a:solidFill>
                  <a:srgbClr val="0B1F3A"/>
                </a:solidFill>
                <a:latin typeface="Calibri" pitchFamily="34" charset="0"/>
                <a:ea typeface="Calibri" pitchFamily="34" charset="-122"/>
                <a:cs typeface="Calibri" pitchFamily="34" charset="-120"/>
              </a:rPr>
              <a:t>Raw episode</a:t>
            </a:r>
            <a:endParaRPr lang="en-US" sz="1150" dirty="0"/>
          </a:p>
        </p:txBody>
      </p:sp>
      <p:sp>
        <p:nvSpPr>
          <p:cNvPr id="10" name="Shape 8"/>
          <p:cNvSpPr/>
          <p:nvPr/>
        </p:nvSpPr>
        <p:spPr>
          <a:xfrm>
            <a:off x="3338109" y="2139696"/>
            <a:ext cx="1363005" cy="0"/>
          </a:xfrm>
          <a:prstGeom prst="line">
            <a:avLst/>
          </a:prstGeom>
          <a:noFill/>
          <a:ln w="19050">
            <a:solidFill>
              <a:srgbClr val="12867A"/>
            </a:solidFill>
            <a:prstDash val="solid"/>
            <a:tailEnd type="triangle"/>
          </a:ln>
        </p:spPr>
      </p:sp>
      <p:sp>
        <p:nvSpPr>
          <p:cNvPr id="11" name="Shape 9"/>
          <p:cNvSpPr/>
          <p:nvPr/>
        </p:nvSpPr>
        <p:spPr>
          <a:xfrm>
            <a:off x="2624877" y="1783080"/>
            <a:ext cx="713232" cy="713232"/>
          </a:xfrm>
          <a:prstGeom prst="ellipse">
            <a:avLst/>
          </a:prstGeom>
          <a:solidFill>
            <a:srgbClr val="0B1F3A"/>
          </a:solidFill>
          <a:ln w="12700">
            <a:solidFill>
              <a:srgbClr val="0B1F3A"/>
            </a:solidFill>
            <a:prstDash val="solid"/>
          </a:ln>
        </p:spPr>
      </p:sp>
      <p:sp>
        <p:nvSpPr>
          <p:cNvPr id="12" name="Text 10"/>
          <p:cNvSpPr txBox="1"/>
          <p:nvPr/>
        </p:nvSpPr>
        <p:spPr>
          <a:xfrm>
            <a:off x="2624877" y="1783080"/>
            <a:ext cx="713232" cy="71323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a:t>
            </a:r>
            <a:endParaRPr lang="en-US" sz="1800" dirty="0"/>
          </a:p>
        </p:txBody>
      </p:sp>
      <p:sp>
        <p:nvSpPr>
          <p:cNvPr id="13" name="Text 11"/>
          <p:cNvSpPr txBox="1"/>
          <p:nvPr/>
        </p:nvSpPr>
        <p:spPr>
          <a:xfrm>
            <a:off x="2259117" y="2587752"/>
            <a:ext cx="1444752" cy="411480"/>
          </a:xfrm>
          <a:prstGeom prst="rect">
            <a:avLst/>
          </a:prstGeom>
          <a:noFill/>
          <a:ln/>
        </p:spPr>
        <p:txBody>
          <a:bodyPr wrap="square" lIns="0" tIns="0" rIns="0" bIns="0" rtlCol="0" anchor="t"/>
          <a:lstStyle/>
          <a:p>
            <a:pPr algn="ctr" indent="0" marL="0">
              <a:buNone/>
            </a:pPr>
            <a:r>
              <a:rPr lang="en-US" sz="1150" b="1" dirty="0">
                <a:solidFill>
                  <a:srgbClr val="0B1F3A"/>
                </a:solidFill>
                <a:latin typeface="Calibri" pitchFamily="34" charset="0"/>
                <a:ea typeface="Calibri" pitchFamily="34" charset="-122"/>
                <a:cs typeface="Calibri" pitchFamily="34" charset="-120"/>
              </a:rPr>
              <a:t>Session summary</a:t>
            </a:r>
            <a:endParaRPr lang="en-US" sz="1150" dirty="0"/>
          </a:p>
        </p:txBody>
      </p:sp>
      <p:sp>
        <p:nvSpPr>
          <p:cNvPr id="14" name="Shape 12"/>
          <p:cNvSpPr/>
          <p:nvPr/>
        </p:nvSpPr>
        <p:spPr>
          <a:xfrm>
            <a:off x="5414345" y="2139696"/>
            <a:ext cx="1363005" cy="0"/>
          </a:xfrm>
          <a:prstGeom prst="line">
            <a:avLst/>
          </a:prstGeom>
          <a:noFill/>
          <a:ln w="19050">
            <a:solidFill>
              <a:srgbClr val="12867A"/>
            </a:solidFill>
            <a:prstDash val="solid"/>
            <a:tailEnd type="triangle"/>
          </a:ln>
        </p:spPr>
      </p:sp>
      <p:sp>
        <p:nvSpPr>
          <p:cNvPr id="15" name="Shape 13"/>
          <p:cNvSpPr/>
          <p:nvPr/>
        </p:nvSpPr>
        <p:spPr>
          <a:xfrm>
            <a:off x="4701113" y="1783080"/>
            <a:ext cx="713232" cy="713232"/>
          </a:xfrm>
          <a:prstGeom prst="ellipse">
            <a:avLst/>
          </a:prstGeom>
          <a:solidFill>
            <a:srgbClr val="0B1F3A"/>
          </a:solidFill>
          <a:ln w="12700">
            <a:solidFill>
              <a:srgbClr val="0B1F3A"/>
            </a:solidFill>
            <a:prstDash val="solid"/>
          </a:ln>
        </p:spPr>
      </p:sp>
      <p:sp>
        <p:nvSpPr>
          <p:cNvPr id="16" name="Text 14"/>
          <p:cNvSpPr txBox="1"/>
          <p:nvPr/>
        </p:nvSpPr>
        <p:spPr>
          <a:xfrm>
            <a:off x="4701113" y="1783080"/>
            <a:ext cx="713232" cy="71323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N</a:t>
            </a:r>
            <a:endParaRPr lang="en-US" sz="1800" dirty="0"/>
          </a:p>
        </p:txBody>
      </p:sp>
      <p:sp>
        <p:nvSpPr>
          <p:cNvPr id="17" name="Text 15"/>
          <p:cNvSpPr txBox="1"/>
          <p:nvPr/>
        </p:nvSpPr>
        <p:spPr>
          <a:xfrm>
            <a:off x="4335353" y="2587752"/>
            <a:ext cx="1444752" cy="411480"/>
          </a:xfrm>
          <a:prstGeom prst="rect">
            <a:avLst/>
          </a:prstGeom>
          <a:noFill/>
          <a:ln/>
        </p:spPr>
        <p:txBody>
          <a:bodyPr wrap="square" lIns="0" tIns="0" rIns="0" bIns="0" rtlCol="0" anchor="t"/>
          <a:lstStyle/>
          <a:p>
            <a:pPr algn="ctr" indent="0" marL="0">
              <a:buNone/>
            </a:pPr>
            <a:r>
              <a:rPr lang="en-US" sz="1150" b="1" dirty="0">
                <a:solidFill>
                  <a:srgbClr val="0B1F3A"/>
                </a:solidFill>
                <a:latin typeface="Calibri" pitchFamily="34" charset="0"/>
                <a:ea typeface="Calibri" pitchFamily="34" charset="-122"/>
                <a:cs typeface="Calibri" pitchFamily="34" charset="-120"/>
              </a:rPr>
              <a:t>KG node</a:t>
            </a:r>
            <a:endParaRPr lang="en-US" sz="1150" dirty="0"/>
          </a:p>
        </p:txBody>
      </p:sp>
      <p:sp>
        <p:nvSpPr>
          <p:cNvPr id="18" name="Shape 16"/>
          <p:cNvSpPr/>
          <p:nvPr/>
        </p:nvSpPr>
        <p:spPr>
          <a:xfrm>
            <a:off x="7490582" y="2139696"/>
            <a:ext cx="1363005" cy="0"/>
          </a:xfrm>
          <a:prstGeom prst="line">
            <a:avLst/>
          </a:prstGeom>
          <a:noFill/>
          <a:ln w="19050">
            <a:solidFill>
              <a:srgbClr val="12867A"/>
            </a:solidFill>
            <a:prstDash val="solid"/>
            <a:tailEnd type="triangle"/>
          </a:ln>
        </p:spPr>
      </p:sp>
      <p:sp>
        <p:nvSpPr>
          <p:cNvPr id="19" name="Shape 17"/>
          <p:cNvSpPr/>
          <p:nvPr/>
        </p:nvSpPr>
        <p:spPr>
          <a:xfrm>
            <a:off x="6777350" y="1783080"/>
            <a:ext cx="713232" cy="713232"/>
          </a:xfrm>
          <a:prstGeom prst="ellipse">
            <a:avLst/>
          </a:prstGeom>
          <a:solidFill>
            <a:srgbClr val="0B1F3A"/>
          </a:solidFill>
          <a:ln w="12700">
            <a:solidFill>
              <a:srgbClr val="0B1F3A"/>
            </a:solidFill>
            <a:prstDash val="solid"/>
          </a:ln>
        </p:spPr>
      </p:sp>
      <p:sp>
        <p:nvSpPr>
          <p:cNvPr id="20" name="Text 18"/>
          <p:cNvSpPr txBox="1"/>
          <p:nvPr/>
        </p:nvSpPr>
        <p:spPr>
          <a:xfrm>
            <a:off x="6777350" y="1783080"/>
            <a:ext cx="713232" cy="71323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t>
            </a:r>
            <a:endParaRPr lang="en-US" sz="1800" dirty="0"/>
          </a:p>
        </p:txBody>
      </p:sp>
      <p:sp>
        <p:nvSpPr>
          <p:cNvPr id="21" name="Text 19"/>
          <p:cNvSpPr txBox="1"/>
          <p:nvPr/>
        </p:nvSpPr>
        <p:spPr>
          <a:xfrm>
            <a:off x="6411590" y="2587752"/>
            <a:ext cx="1444752" cy="411480"/>
          </a:xfrm>
          <a:prstGeom prst="rect">
            <a:avLst/>
          </a:prstGeom>
          <a:noFill/>
          <a:ln/>
        </p:spPr>
        <p:txBody>
          <a:bodyPr wrap="square" lIns="0" tIns="0" rIns="0" bIns="0" rtlCol="0" anchor="t"/>
          <a:lstStyle/>
          <a:p>
            <a:pPr algn="ctr" indent="0" marL="0">
              <a:buNone/>
            </a:pPr>
            <a:r>
              <a:rPr lang="en-US" sz="1150" b="1" dirty="0">
                <a:solidFill>
                  <a:srgbClr val="0B1F3A"/>
                </a:solidFill>
                <a:latin typeface="Calibri" pitchFamily="34" charset="0"/>
                <a:ea typeface="Calibri" pitchFamily="34" charset="-122"/>
                <a:cs typeface="Calibri" pitchFamily="34" charset="-120"/>
              </a:rPr>
              <a:t>KG edge</a:t>
            </a:r>
            <a:endParaRPr lang="en-US" sz="1150" dirty="0"/>
          </a:p>
        </p:txBody>
      </p:sp>
      <p:sp>
        <p:nvSpPr>
          <p:cNvPr id="22" name="Shape 20"/>
          <p:cNvSpPr/>
          <p:nvPr/>
        </p:nvSpPr>
        <p:spPr>
          <a:xfrm>
            <a:off x="9566819" y="2139696"/>
            <a:ext cx="1363005" cy="0"/>
          </a:xfrm>
          <a:prstGeom prst="line">
            <a:avLst/>
          </a:prstGeom>
          <a:noFill/>
          <a:ln w="19050">
            <a:solidFill>
              <a:srgbClr val="12867A"/>
            </a:solidFill>
            <a:prstDash val="solid"/>
            <a:tailEnd type="triangle"/>
          </a:ln>
        </p:spPr>
      </p:sp>
      <p:sp>
        <p:nvSpPr>
          <p:cNvPr id="23" name="Shape 21"/>
          <p:cNvSpPr/>
          <p:nvPr/>
        </p:nvSpPr>
        <p:spPr>
          <a:xfrm>
            <a:off x="8853587" y="1783080"/>
            <a:ext cx="713232" cy="713232"/>
          </a:xfrm>
          <a:prstGeom prst="ellipse">
            <a:avLst/>
          </a:prstGeom>
          <a:solidFill>
            <a:srgbClr val="0B1F3A"/>
          </a:solidFill>
          <a:ln w="12700">
            <a:solidFill>
              <a:srgbClr val="0B1F3A"/>
            </a:solidFill>
            <a:prstDash val="solid"/>
          </a:ln>
        </p:spPr>
      </p:sp>
      <p:sp>
        <p:nvSpPr>
          <p:cNvPr id="24" name="Text 22"/>
          <p:cNvSpPr txBox="1"/>
          <p:nvPr/>
        </p:nvSpPr>
        <p:spPr>
          <a:xfrm>
            <a:off x="8853587" y="1783080"/>
            <a:ext cx="713232" cy="71323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V</a:t>
            </a:r>
            <a:endParaRPr lang="en-US" sz="1800" dirty="0"/>
          </a:p>
        </p:txBody>
      </p:sp>
      <p:sp>
        <p:nvSpPr>
          <p:cNvPr id="25" name="Text 23"/>
          <p:cNvSpPr txBox="1"/>
          <p:nvPr/>
        </p:nvSpPr>
        <p:spPr>
          <a:xfrm>
            <a:off x="8487827" y="2587752"/>
            <a:ext cx="1444752" cy="411480"/>
          </a:xfrm>
          <a:prstGeom prst="rect">
            <a:avLst/>
          </a:prstGeom>
          <a:noFill/>
          <a:ln/>
        </p:spPr>
        <p:txBody>
          <a:bodyPr wrap="square" lIns="0" tIns="0" rIns="0" bIns="0" rtlCol="0" anchor="t"/>
          <a:lstStyle/>
          <a:p>
            <a:pPr algn="ctr" indent="0" marL="0">
              <a:buNone/>
            </a:pPr>
            <a:r>
              <a:rPr lang="en-US" sz="1150" b="1" dirty="0">
                <a:solidFill>
                  <a:srgbClr val="0B1F3A"/>
                </a:solidFill>
                <a:latin typeface="Calibri" pitchFamily="34" charset="0"/>
                <a:ea typeface="Calibri" pitchFamily="34" charset="-122"/>
                <a:cs typeface="Calibri" pitchFamily="34" charset="-120"/>
              </a:rPr>
              <a:t>Embedding / index</a:t>
            </a:r>
            <a:endParaRPr lang="en-US" sz="1150" dirty="0"/>
          </a:p>
        </p:txBody>
      </p:sp>
      <p:sp>
        <p:nvSpPr>
          <p:cNvPr id="26" name="Shape 24"/>
          <p:cNvSpPr/>
          <p:nvPr/>
        </p:nvSpPr>
        <p:spPr>
          <a:xfrm>
            <a:off x="10929823" y="1783080"/>
            <a:ext cx="713232" cy="713232"/>
          </a:xfrm>
          <a:prstGeom prst="ellipse">
            <a:avLst/>
          </a:prstGeom>
          <a:solidFill>
            <a:srgbClr val="D98E04"/>
          </a:solidFill>
          <a:ln w="12700">
            <a:solidFill>
              <a:srgbClr val="D98E04"/>
            </a:solidFill>
            <a:prstDash val="solid"/>
          </a:ln>
        </p:spPr>
      </p:sp>
      <p:sp>
        <p:nvSpPr>
          <p:cNvPr id="27" name="Text 25"/>
          <p:cNvSpPr txBox="1"/>
          <p:nvPr/>
        </p:nvSpPr>
        <p:spPr>
          <a:xfrm>
            <a:off x="10929823" y="1783080"/>
            <a:ext cx="713232" cy="71323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28" name="Text 26"/>
          <p:cNvSpPr txBox="1"/>
          <p:nvPr/>
        </p:nvSpPr>
        <p:spPr>
          <a:xfrm>
            <a:off x="10564063" y="2587752"/>
            <a:ext cx="1444752" cy="411480"/>
          </a:xfrm>
          <a:prstGeom prst="rect">
            <a:avLst/>
          </a:prstGeom>
          <a:noFill/>
          <a:ln/>
        </p:spPr>
        <p:txBody>
          <a:bodyPr wrap="square" lIns="0" tIns="0" rIns="0" bIns="0" rtlCol="0" anchor="t"/>
          <a:lstStyle/>
          <a:p>
            <a:pPr algn="ctr" indent="0" marL="0">
              <a:buNone/>
            </a:pPr>
            <a:r>
              <a:rPr lang="en-US" sz="1150" b="1" dirty="0">
                <a:solidFill>
                  <a:srgbClr val="0B1F3A"/>
                </a:solidFill>
                <a:latin typeface="Calibri" pitchFamily="34" charset="0"/>
                <a:ea typeface="Calibri" pitchFamily="34" charset="-122"/>
                <a:cs typeface="Calibri" pitchFamily="34" charset="-120"/>
              </a:rPr>
              <a:t>Derived memory</a:t>
            </a:r>
            <a:endParaRPr lang="en-US" sz="1150" dirty="0"/>
          </a:p>
        </p:txBody>
      </p:sp>
      <p:sp>
        <p:nvSpPr>
          <p:cNvPr id="29" name="Shape 27"/>
          <p:cNvSpPr/>
          <p:nvPr/>
        </p:nvSpPr>
        <p:spPr>
          <a:xfrm>
            <a:off x="548640" y="3246120"/>
            <a:ext cx="3566160" cy="2148840"/>
          </a:xfrm>
          <a:prstGeom prst="roundRect">
            <a:avLst>
              <a:gd name="adj" fmla="val 3404"/>
            </a:avLst>
          </a:prstGeom>
          <a:solidFill>
            <a:srgbClr val="F7F9FC"/>
          </a:solidFill>
          <a:ln w="9525">
            <a:solidFill>
              <a:srgbClr val="D5DDE9"/>
            </a:solidFill>
            <a:prstDash val="solid"/>
          </a:ln>
        </p:spPr>
      </p:sp>
      <p:sp>
        <p:nvSpPr>
          <p:cNvPr id="30" name="Shape 28"/>
          <p:cNvSpPr/>
          <p:nvPr/>
        </p:nvSpPr>
        <p:spPr>
          <a:xfrm>
            <a:off x="713232" y="3410712"/>
            <a:ext cx="384048" cy="384048"/>
          </a:xfrm>
          <a:prstGeom prst="ellipse">
            <a:avLst/>
          </a:prstGeom>
          <a:solidFill>
            <a:srgbClr val="E3E9F3"/>
          </a:solidFill>
          <a:ln w="12700">
            <a:solidFill>
              <a:srgbClr val="E3E9F3"/>
            </a:solidFill>
            <a:prstDash val="solid"/>
          </a:ln>
        </p:spPr>
      </p:sp>
      <p:pic>
        <p:nvPicPr>
          <p:cNvPr id="31" name="Image 0" descr="preencoded.png">    </p:cNvPr>
          <p:cNvPicPr>
            <a:picLocks noChangeAspect="1"/>
          </p:cNvPicPr>
          <p:nvPr/>
        </p:nvPicPr>
        <p:blipFill>
          <a:blip r:embed="rId1"/>
          <a:stretch>
            <a:fillRect/>
          </a:stretch>
        </p:blipFill>
        <p:spPr>
          <a:xfrm>
            <a:off x="805404" y="3502884"/>
            <a:ext cx="199705" cy="199705"/>
          </a:xfrm>
          <a:prstGeom prst="rect">
            <a:avLst/>
          </a:prstGeom>
        </p:spPr>
      </p:pic>
      <p:sp>
        <p:nvSpPr>
          <p:cNvPr id="32" name="Text 29"/>
          <p:cNvSpPr txBox="1"/>
          <p:nvPr/>
        </p:nvSpPr>
        <p:spPr>
          <a:xfrm>
            <a:off x="1207008" y="341071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Rectification</a:t>
            </a:r>
            <a:endParaRPr lang="en-US" sz="1300" dirty="0"/>
          </a:p>
        </p:txBody>
      </p:sp>
      <p:sp>
        <p:nvSpPr>
          <p:cNvPr id="33" name="Text 30"/>
          <p:cNvSpPr txBox="1"/>
          <p:nvPr/>
        </p:nvSpPr>
        <p:spPr>
          <a:xfrm>
            <a:off x="731520" y="3886200"/>
            <a:ext cx="320040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Correcting an upstream fact must invalidate or recompute downstream edges, summaries, embeddings and derived memories.</a:t>
            </a:r>
            <a:endParaRPr lang="en-US" sz="1200" dirty="0"/>
          </a:p>
        </p:txBody>
      </p:sp>
      <p:sp>
        <p:nvSpPr>
          <p:cNvPr id="34" name="Shape 31"/>
          <p:cNvSpPr/>
          <p:nvPr/>
        </p:nvSpPr>
        <p:spPr>
          <a:xfrm>
            <a:off x="4315968" y="3246120"/>
            <a:ext cx="3566160" cy="2148840"/>
          </a:xfrm>
          <a:prstGeom prst="roundRect">
            <a:avLst>
              <a:gd name="adj" fmla="val 3404"/>
            </a:avLst>
          </a:prstGeom>
          <a:solidFill>
            <a:srgbClr val="F7F9FC"/>
          </a:solidFill>
          <a:ln w="9525">
            <a:solidFill>
              <a:srgbClr val="D5DDE9"/>
            </a:solidFill>
            <a:prstDash val="solid"/>
          </a:ln>
        </p:spPr>
      </p:sp>
      <p:sp>
        <p:nvSpPr>
          <p:cNvPr id="35" name="Shape 32"/>
          <p:cNvSpPr/>
          <p:nvPr/>
        </p:nvSpPr>
        <p:spPr>
          <a:xfrm>
            <a:off x="4480560" y="3410712"/>
            <a:ext cx="384048" cy="384048"/>
          </a:xfrm>
          <a:prstGeom prst="ellipse">
            <a:avLst/>
          </a:prstGeom>
          <a:solidFill>
            <a:srgbClr val="FBF1DE"/>
          </a:solidFill>
          <a:ln w="12700">
            <a:solidFill>
              <a:srgbClr val="FBF1DE"/>
            </a:solidFill>
            <a:prstDash val="solid"/>
          </a:ln>
        </p:spPr>
      </p:sp>
      <p:pic>
        <p:nvPicPr>
          <p:cNvPr id="36" name="Image 1" descr="preencoded.png">    </p:cNvPr>
          <p:cNvPicPr>
            <a:picLocks noChangeAspect="1"/>
          </p:cNvPicPr>
          <p:nvPr/>
        </p:nvPicPr>
        <p:blipFill>
          <a:blip r:embed="rId2"/>
          <a:stretch>
            <a:fillRect/>
          </a:stretch>
        </p:blipFill>
        <p:spPr>
          <a:xfrm>
            <a:off x="4572732" y="3502884"/>
            <a:ext cx="199705" cy="199705"/>
          </a:xfrm>
          <a:prstGeom prst="rect">
            <a:avLst/>
          </a:prstGeom>
        </p:spPr>
      </p:pic>
      <p:sp>
        <p:nvSpPr>
          <p:cNvPr id="37" name="Text 33"/>
          <p:cNvSpPr txBox="1"/>
          <p:nvPr/>
        </p:nvSpPr>
        <p:spPr>
          <a:xfrm>
            <a:off x="4974336" y="341071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Restriction</a:t>
            </a:r>
            <a:endParaRPr lang="en-US" sz="1300" dirty="0"/>
          </a:p>
        </p:txBody>
      </p:sp>
      <p:sp>
        <p:nvSpPr>
          <p:cNvPr id="38" name="Text 34"/>
          <p:cNvSpPr txBox="1"/>
          <p:nvPr/>
        </p:nvSpPr>
        <p:spPr>
          <a:xfrm>
            <a:off x="4498848" y="3886200"/>
            <a:ext cx="320040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Sometimes the right action is “retain but stop using,” not immediate physical deletion — e.g. under a legal hold or disputed accuracy.</a:t>
            </a:r>
            <a:endParaRPr lang="en-US" sz="1200" dirty="0"/>
          </a:p>
        </p:txBody>
      </p:sp>
      <p:sp>
        <p:nvSpPr>
          <p:cNvPr id="39" name="Shape 35"/>
          <p:cNvSpPr/>
          <p:nvPr/>
        </p:nvSpPr>
        <p:spPr>
          <a:xfrm>
            <a:off x="8083296" y="3246120"/>
            <a:ext cx="3566160" cy="2148840"/>
          </a:xfrm>
          <a:prstGeom prst="roundRect">
            <a:avLst>
              <a:gd name="adj" fmla="val 3404"/>
            </a:avLst>
          </a:prstGeom>
          <a:solidFill>
            <a:srgbClr val="F7F9FC"/>
          </a:solidFill>
          <a:ln w="9525">
            <a:solidFill>
              <a:srgbClr val="D5DDE9"/>
            </a:solidFill>
            <a:prstDash val="solid"/>
          </a:ln>
        </p:spPr>
      </p:sp>
      <p:sp>
        <p:nvSpPr>
          <p:cNvPr id="40" name="Shape 36"/>
          <p:cNvSpPr/>
          <p:nvPr/>
        </p:nvSpPr>
        <p:spPr>
          <a:xfrm>
            <a:off x="8247888" y="3410712"/>
            <a:ext cx="384048" cy="384048"/>
          </a:xfrm>
          <a:prstGeom prst="ellipse">
            <a:avLst/>
          </a:prstGeom>
          <a:solidFill>
            <a:srgbClr val="F8E3DE"/>
          </a:solidFill>
          <a:ln w="12700">
            <a:solidFill>
              <a:srgbClr val="F8E3DE"/>
            </a:solidFill>
            <a:prstDash val="solid"/>
          </a:ln>
        </p:spPr>
      </p:sp>
      <p:pic>
        <p:nvPicPr>
          <p:cNvPr id="41" name="Image 2" descr="preencoded.png">    </p:cNvPr>
          <p:cNvPicPr>
            <a:picLocks noChangeAspect="1"/>
          </p:cNvPicPr>
          <p:nvPr/>
        </p:nvPicPr>
        <p:blipFill>
          <a:blip r:embed="rId3"/>
          <a:stretch>
            <a:fillRect/>
          </a:stretch>
        </p:blipFill>
        <p:spPr>
          <a:xfrm>
            <a:off x="8340060" y="3502884"/>
            <a:ext cx="199705" cy="199705"/>
          </a:xfrm>
          <a:prstGeom prst="rect">
            <a:avLst/>
          </a:prstGeom>
        </p:spPr>
      </p:pic>
      <p:sp>
        <p:nvSpPr>
          <p:cNvPr id="42" name="Text 37"/>
          <p:cNvSpPr txBox="1"/>
          <p:nvPr/>
        </p:nvSpPr>
        <p:spPr>
          <a:xfrm>
            <a:off x="8741664" y="341071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Erasure</a:t>
            </a:r>
            <a:endParaRPr lang="en-US" sz="1300" dirty="0"/>
          </a:p>
        </p:txBody>
      </p:sp>
      <p:sp>
        <p:nvSpPr>
          <p:cNvPr id="43" name="Text 38"/>
          <p:cNvSpPr txBox="1"/>
          <p:nvPr/>
        </p:nvSpPr>
        <p:spPr>
          <a:xfrm>
            <a:off x="8266176" y="3886200"/>
            <a:ext cx="320040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Deletion requires dependency traversal plus a verification receipt across all representations — including caches, replicas and restoration paths.</a:t>
            </a:r>
            <a:endParaRPr lang="en-US" sz="1200" dirty="0"/>
          </a:p>
        </p:txBody>
      </p:sp>
      <p:sp>
        <p:nvSpPr>
          <p:cNvPr id="44" name="Shape 39"/>
          <p:cNvSpPr/>
          <p:nvPr/>
        </p:nvSpPr>
        <p:spPr>
          <a:xfrm>
            <a:off x="548640" y="5623560"/>
            <a:ext cx="11094415" cy="502920"/>
          </a:xfrm>
          <a:prstGeom prst="roundRect">
            <a:avLst>
              <a:gd name="adj" fmla="val 18182"/>
            </a:avLst>
          </a:prstGeom>
          <a:solidFill>
            <a:srgbClr val="12867A"/>
          </a:solidFill>
          <a:ln w="12700">
            <a:solidFill>
              <a:srgbClr val="12867A"/>
            </a:solidFill>
            <a:prstDash val="solid"/>
          </a:ln>
        </p:spPr>
      </p:sp>
      <p:sp>
        <p:nvSpPr>
          <p:cNvPr id="45" name="Text 40"/>
          <p:cNvSpPr txBox="1"/>
          <p:nvPr/>
        </p:nvSpPr>
        <p:spPr>
          <a:xfrm>
            <a:off x="822960" y="5623560"/>
            <a:ext cx="10545775"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Implementation implication: a subject-rights orchestration service that owns the traversal, not per-backend delete buttons.</a:t>
            </a:r>
            <a:endParaRPr lang="en-US" sz="1200" dirty="0"/>
          </a:p>
        </p:txBody>
      </p:sp>
      <p:sp>
        <p:nvSpPr>
          <p:cNvPr id="46" name="Text 41"/>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GDPR rights: access, rectification, erasure, restriction, portability (Arts. 15–20).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EU AI Act → traceable memory decisions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548640" y="1371600"/>
            <a:ext cx="5440680" cy="1783080"/>
          </a:xfrm>
          <a:prstGeom prst="roundRect">
            <a:avLst>
              <a:gd name="adj" fmla="val 4103"/>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Classification is use-case dependent</a:t>
            </a:r>
            <a:endParaRPr lang="en-US" sz="1300" dirty="0"/>
          </a:p>
        </p:txBody>
      </p:sp>
      <p:sp>
        <p:nvSpPr>
          <p:cNvPr id="9" name="Text 6"/>
          <p:cNvSpPr txBox="1"/>
          <p:nvPr/>
        </p:nvSpPr>
        <p:spPr>
          <a:xfrm>
            <a:off x="731520" y="2011680"/>
            <a:ext cx="5074920" cy="10058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memory library is not automatically “high-risk”; obligations depend on the intended AI system, its use, and whether RockAI is provider or deployer.</a:t>
            </a:r>
            <a:endParaRPr lang="en-US" sz="1150" dirty="0"/>
          </a:p>
        </p:txBody>
      </p:sp>
      <p:sp>
        <p:nvSpPr>
          <p:cNvPr id="10" name="Shape 7"/>
          <p:cNvSpPr/>
          <p:nvPr/>
        </p:nvSpPr>
        <p:spPr>
          <a:xfrm>
            <a:off x="6190488" y="1371600"/>
            <a:ext cx="5440680" cy="1783080"/>
          </a:xfrm>
          <a:prstGeom prst="roundRect">
            <a:avLst>
              <a:gd name="adj" fmla="val 4103"/>
            </a:avLst>
          </a:prstGeom>
          <a:solidFill>
            <a:srgbClr val="F7F9FC"/>
          </a:solidFill>
          <a:ln w="9525">
            <a:solidFill>
              <a:srgbClr val="D5DDE9"/>
            </a:solidFill>
            <a:prstDash val="solid"/>
          </a:ln>
        </p:spPr>
      </p:sp>
      <p:sp>
        <p:nvSpPr>
          <p:cNvPr id="11" name="Shape 8"/>
          <p:cNvSpPr/>
          <p:nvPr/>
        </p:nvSpPr>
        <p:spPr>
          <a:xfrm>
            <a:off x="6355080" y="1536192"/>
            <a:ext cx="384048" cy="384048"/>
          </a:xfrm>
          <a:prstGeom prst="ellipse">
            <a:avLst/>
          </a:prstGeom>
          <a:solidFill>
            <a:srgbClr val="DDF0ED"/>
          </a:solidFill>
          <a:ln w="12700">
            <a:solidFill>
              <a:srgbClr val="DDF0ED"/>
            </a:solidFill>
            <a:prstDash val="solid"/>
          </a:ln>
        </p:spPr>
      </p:sp>
      <p:pic>
        <p:nvPicPr>
          <p:cNvPr id="12" name="Image 1" descr="preencoded.png">    </p:cNvPr>
          <p:cNvPicPr>
            <a:picLocks noChangeAspect="1"/>
          </p:cNvPicPr>
          <p:nvPr/>
        </p:nvPicPr>
        <p:blipFill>
          <a:blip r:embed="rId2"/>
          <a:stretch>
            <a:fillRect/>
          </a:stretch>
        </p:blipFill>
        <p:spPr>
          <a:xfrm>
            <a:off x="6447252" y="1628364"/>
            <a:ext cx="199705" cy="199705"/>
          </a:xfrm>
          <a:prstGeom prst="rect">
            <a:avLst/>
          </a:prstGeom>
        </p:spPr>
      </p:pic>
      <p:sp>
        <p:nvSpPr>
          <p:cNvPr id="13" name="Text 9"/>
          <p:cNvSpPr txBox="1"/>
          <p:nvPr/>
        </p:nvSpPr>
        <p:spPr>
          <a:xfrm>
            <a:off x="6848856" y="15361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High-risk implications</a:t>
            </a:r>
            <a:endParaRPr lang="en-US" sz="1300" dirty="0"/>
          </a:p>
        </p:txBody>
      </p:sp>
      <p:sp>
        <p:nvSpPr>
          <p:cNvPr id="14" name="Text 10"/>
          <p:cNvSpPr txBox="1"/>
          <p:nvPr/>
        </p:nvSpPr>
        <p:spPr>
          <a:xfrm>
            <a:off x="6373368" y="2011680"/>
            <a:ext cx="5074920" cy="10058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Risk management (Art. 9), data governance (Art. 10), technical documentation (Art. 11), logging (Art. 12), human oversight (Art. 14), robustness/cybersecurity (Art. 15) and deployer duties (Art. 26).</a:t>
            </a:r>
            <a:endParaRPr lang="en-US" sz="1150" dirty="0"/>
          </a:p>
        </p:txBody>
      </p:sp>
      <p:sp>
        <p:nvSpPr>
          <p:cNvPr id="15" name="Shape 11"/>
          <p:cNvSpPr/>
          <p:nvPr/>
        </p:nvSpPr>
        <p:spPr>
          <a:xfrm>
            <a:off x="548640" y="3337560"/>
            <a:ext cx="5440680" cy="1783080"/>
          </a:xfrm>
          <a:prstGeom prst="roundRect">
            <a:avLst>
              <a:gd name="adj" fmla="val 4103"/>
            </a:avLst>
          </a:prstGeom>
          <a:solidFill>
            <a:srgbClr val="F7F9FC"/>
          </a:solidFill>
          <a:ln w="9525">
            <a:solidFill>
              <a:srgbClr val="D5DDE9"/>
            </a:solidFill>
            <a:prstDash val="solid"/>
          </a:ln>
        </p:spPr>
      </p:sp>
      <p:sp>
        <p:nvSpPr>
          <p:cNvPr id="16" name="Shape 12"/>
          <p:cNvSpPr/>
          <p:nvPr/>
        </p:nvSpPr>
        <p:spPr>
          <a:xfrm>
            <a:off x="713232" y="3502152"/>
            <a:ext cx="384048" cy="384048"/>
          </a:xfrm>
          <a:prstGeom prst="ellipse">
            <a:avLst/>
          </a:prstGeom>
          <a:solidFill>
            <a:srgbClr val="FBF1DE"/>
          </a:solidFill>
          <a:ln w="12700">
            <a:solidFill>
              <a:srgbClr val="FBF1DE"/>
            </a:solidFill>
            <a:prstDash val="solid"/>
          </a:ln>
        </p:spPr>
      </p:sp>
      <p:pic>
        <p:nvPicPr>
          <p:cNvPr id="17" name="Image 2" descr="preencoded.png">    </p:cNvPr>
          <p:cNvPicPr>
            <a:picLocks noChangeAspect="1"/>
          </p:cNvPicPr>
          <p:nvPr/>
        </p:nvPicPr>
        <p:blipFill>
          <a:blip r:embed="rId3"/>
          <a:stretch>
            <a:fillRect/>
          </a:stretch>
        </p:blipFill>
        <p:spPr>
          <a:xfrm>
            <a:off x="805404" y="3594324"/>
            <a:ext cx="199705" cy="199705"/>
          </a:xfrm>
          <a:prstGeom prst="rect">
            <a:avLst/>
          </a:prstGeom>
        </p:spPr>
      </p:pic>
      <p:sp>
        <p:nvSpPr>
          <p:cNvPr id="18" name="Text 13"/>
          <p:cNvSpPr txBox="1"/>
          <p:nvPr/>
        </p:nvSpPr>
        <p:spPr>
          <a:xfrm>
            <a:off x="1207008" y="350215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Logging translates to memory-event logs</a:t>
            </a:r>
            <a:endParaRPr lang="en-US" sz="1300" dirty="0"/>
          </a:p>
        </p:txBody>
      </p:sp>
      <p:sp>
        <p:nvSpPr>
          <p:cNvPr id="19" name="Text 14"/>
          <p:cNvSpPr txBox="1"/>
          <p:nvPr/>
        </p:nvSpPr>
        <p:spPr>
          <a:xfrm>
            <a:off x="731520" y="3977640"/>
            <a:ext cx="5074920" cy="10058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WRITE, RETRIEVE, SUPPRESS, UPDATE, MERGE, INVALIDATE, DELETE — each with actor, model, policy, purpose, source and timestamp; deployers retain logs ≥ 6 months (Art. 26(6)).</a:t>
            </a:r>
            <a:endParaRPr lang="en-US" sz="1150" dirty="0"/>
          </a:p>
        </p:txBody>
      </p:sp>
      <p:sp>
        <p:nvSpPr>
          <p:cNvPr id="20" name="Shape 15"/>
          <p:cNvSpPr/>
          <p:nvPr/>
        </p:nvSpPr>
        <p:spPr>
          <a:xfrm>
            <a:off x="6190488" y="3337560"/>
            <a:ext cx="5440680" cy="1783080"/>
          </a:xfrm>
          <a:prstGeom prst="roundRect">
            <a:avLst>
              <a:gd name="adj" fmla="val 4103"/>
            </a:avLst>
          </a:prstGeom>
          <a:solidFill>
            <a:srgbClr val="F7F9FC"/>
          </a:solidFill>
          <a:ln w="9525">
            <a:solidFill>
              <a:srgbClr val="D5DDE9"/>
            </a:solidFill>
            <a:prstDash val="solid"/>
          </a:ln>
        </p:spPr>
      </p:sp>
      <p:sp>
        <p:nvSpPr>
          <p:cNvPr id="21" name="Shape 16"/>
          <p:cNvSpPr/>
          <p:nvPr/>
        </p:nvSpPr>
        <p:spPr>
          <a:xfrm>
            <a:off x="6355080" y="3502152"/>
            <a:ext cx="384048" cy="384048"/>
          </a:xfrm>
          <a:prstGeom prst="ellipse">
            <a:avLst/>
          </a:prstGeom>
          <a:solidFill>
            <a:srgbClr val="F8E3DE"/>
          </a:solidFill>
          <a:ln w="12700">
            <a:solidFill>
              <a:srgbClr val="F8E3DE"/>
            </a:solidFill>
            <a:prstDash val="solid"/>
          </a:ln>
        </p:spPr>
      </p:sp>
      <p:pic>
        <p:nvPicPr>
          <p:cNvPr id="22" name="Image 3" descr="preencoded.png">    </p:cNvPr>
          <p:cNvPicPr>
            <a:picLocks noChangeAspect="1"/>
          </p:cNvPicPr>
          <p:nvPr/>
        </p:nvPicPr>
        <p:blipFill>
          <a:blip r:embed="rId4"/>
          <a:stretch>
            <a:fillRect/>
          </a:stretch>
        </p:blipFill>
        <p:spPr>
          <a:xfrm>
            <a:off x="6447252" y="3594324"/>
            <a:ext cx="199705" cy="199705"/>
          </a:xfrm>
          <a:prstGeom prst="rect">
            <a:avLst/>
          </a:prstGeom>
        </p:spPr>
      </p:pic>
      <p:sp>
        <p:nvSpPr>
          <p:cNvPr id="23" name="Text 17"/>
          <p:cNvSpPr txBox="1"/>
          <p:nvPr/>
        </p:nvSpPr>
        <p:spPr>
          <a:xfrm>
            <a:off x="6848856" y="350215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Anti-manipulation relevance</a:t>
            </a:r>
            <a:endParaRPr lang="en-US" sz="1300" dirty="0"/>
          </a:p>
        </p:txBody>
      </p:sp>
      <p:sp>
        <p:nvSpPr>
          <p:cNvPr id="24" name="Text 18"/>
          <p:cNvSpPr txBox="1"/>
          <p:nvPr/>
        </p:nvSpPr>
        <p:spPr>
          <a:xfrm>
            <a:off x="6373368" y="3977640"/>
            <a:ext cx="5074920" cy="10058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Art. 5(1)(a)/(b): persistent personalization must not become a substrate for manipulation, exploitation of vulnerability, or unauthorized decision steering — Commission guidance cites high-interest credit targeting.</a:t>
            </a:r>
            <a:endParaRPr lang="en-US" sz="1150" dirty="0"/>
          </a:p>
        </p:txBody>
      </p:sp>
      <p:sp>
        <p:nvSpPr>
          <p:cNvPr id="25" name="Shape 19"/>
          <p:cNvSpPr/>
          <p:nvPr/>
        </p:nvSpPr>
        <p:spPr>
          <a:xfrm>
            <a:off x="548640" y="5349240"/>
            <a:ext cx="11094415" cy="868680"/>
          </a:xfrm>
          <a:prstGeom prst="roundRect">
            <a:avLst>
              <a:gd name="adj" fmla="val 10526"/>
            </a:avLst>
          </a:prstGeom>
          <a:solidFill>
            <a:srgbClr val="0B1F3A"/>
          </a:solidFill>
          <a:ln w="12700">
            <a:solidFill>
              <a:srgbClr val="0B1F3A"/>
            </a:solidFill>
            <a:prstDash val="solid"/>
          </a:ln>
        </p:spPr>
      </p:sp>
      <p:sp>
        <p:nvSpPr>
          <p:cNvPr id="26" name="Text 20"/>
          <p:cNvSpPr txBox="1"/>
          <p:nvPr/>
        </p:nvSpPr>
        <p:spPr>
          <a:xfrm>
            <a:off x="868680" y="5440680"/>
            <a:ext cx="2560320" cy="274320"/>
          </a:xfrm>
          <a:prstGeom prst="rect">
            <a:avLst/>
          </a:prstGeom>
          <a:noFill/>
          <a:ln/>
        </p:spPr>
        <p:txBody>
          <a:bodyPr wrap="square" lIns="0" tIns="0" rIns="0" bIns="0" rtlCol="0" anchor="t"/>
          <a:lstStyle/>
          <a:p>
            <a:pPr indent="0" marL="0">
              <a:buNone/>
            </a:pPr>
            <a:r>
              <a:rPr lang="en-US" sz="1200" b="1" dirty="0">
                <a:solidFill>
                  <a:srgbClr val="D98E04"/>
                </a:solidFill>
                <a:latin typeface="Calibri" pitchFamily="34" charset="0"/>
                <a:ea typeface="Calibri" pitchFamily="34" charset="-122"/>
                <a:cs typeface="Calibri" pitchFamily="34" charset="-120"/>
              </a:rPr>
              <a:t>27 Jul 2026</a:t>
            </a:r>
            <a:endParaRPr lang="en-US" sz="1200" dirty="0"/>
          </a:p>
        </p:txBody>
      </p:sp>
      <p:sp>
        <p:nvSpPr>
          <p:cNvPr id="27" name="Text 21"/>
          <p:cNvSpPr txBox="1"/>
          <p:nvPr/>
        </p:nvSpPr>
        <p:spPr>
          <a:xfrm>
            <a:off x="868680" y="5715000"/>
            <a:ext cx="2560320"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Digital Omnibus (Reg. 2026/1744) in force</a:t>
            </a:r>
            <a:endParaRPr lang="en-US" sz="1050" dirty="0"/>
          </a:p>
        </p:txBody>
      </p:sp>
      <p:sp>
        <p:nvSpPr>
          <p:cNvPr id="28" name="Text 22"/>
          <p:cNvSpPr txBox="1"/>
          <p:nvPr/>
        </p:nvSpPr>
        <p:spPr>
          <a:xfrm>
            <a:off x="3611880" y="5440680"/>
            <a:ext cx="2560320" cy="274320"/>
          </a:xfrm>
          <a:prstGeom prst="rect">
            <a:avLst/>
          </a:prstGeom>
          <a:noFill/>
          <a:ln/>
        </p:spPr>
        <p:txBody>
          <a:bodyPr wrap="square" lIns="0" tIns="0" rIns="0" bIns="0" rtlCol="0" anchor="t"/>
          <a:lstStyle/>
          <a:p>
            <a:pPr indent="0" marL="0">
              <a:buNone/>
            </a:pPr>
            <a:r>
              <a:rPr lang="en-US" sz="1200" b="1" dirty="0">
                <a:solidFill>
                  <a:srgbClr val="D98E04"/>
                </a:solidFill>
                <a:latin typeface="Calibri" pitchFamily="34" charset="0"/>
                <a:ea typeface="Calibri" pitchFamily="34" charset="-122"/>
                <a:cs typeface="Calibri" pitchFamily="34" charset="-120"/>
              </a:rPr>
              <a:t>2 Dec 2026</a:t>
            </a:r>
            <a:endParaRPr lang="en-US" sz="1200" dirty="0"/>
          </a:p>
        </p:txBody>
      </p:sp>
      <p:sp>
        <p:nvSpPr>
          <p:cNvPr id="29" name="Text 23"/>
          <p:cNvSpPr txBox="1"/>
          <p:nvPr/>
        </p:nvSpPr>
        <p:spPr>
          <a:xfrm>
            <a:off x="3611880" y="5715000"/>
            <a:ext cx="2560320"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Art. 50(2) legacy transparency</a:t>
            </a:r>
            <a:endParaRPr lang="en-US" sz="1050" dirty="0"/>
          </a:p>
        </p:txBody>
      </p:sp>
      <p:sp>
        <p:nvSpPr>
          <p:cNvPr id="30" name="Text 24"/>
          <p:cNvSpPr txBox="1"/>
          <p:nvPr/>
        </p:nvSpPr>
        <p:spPr>
          <a:xfrm>
            <a:off x="6355080" y="5440680"/>
            <a:ext cx="2560320" cy="274320"/>
          </a:xfrm>
          <a:prstGeom prst="rect">
            <a:avLst/>
          </a:prstGeom>
          <a:noFill/>
          <a:ln/>
        </p:spPr>
        <p:txBody>
          <a:bodyPr wrap="square" lIns="0" tIns="0" rIns="0" bIns="0" rtlCol="0" anchor="t"/>
          <a:lstStyle/>
          <a:p>
            <a:pPr indent="0" marL="0">
              <a:buNone/>
            </a:pPr>
            <a:r>
              <a:rPr lang="en-US" sz="1200" b="1" dirty="0">
                <a:solidFill>
                  <a:srgbClr val="D98E04"/>
                </a:solidFill>
                <a:latin typeface="Calibri" pitchFamily="34" charset="0"/>
                <a:ea typeface="Calibri" pitchFamily="34" charset="-122"/>
                <a:cs typeface="Calibri" pitchFamily="34" charset="-120"/>
              </a:rPr>
              <a:t>2 Dec 2027</a:t>
            </a:r>
            <a:endParaRPr lang="en-US" sz="1200" dirty="0"/>
          </a:p>
        </p:txBody>
      </p:sp>
      <p:sp>
        <p:nvSpPr>
          <p:cNvPr id="31" name="Text 25"/>
          <p:cNvSpPr txBox="1"/>
          <p:nvPr/>
        </p:nvSpPr>
        <p:spPr>
          <a:xfrm>
            <a:off x="6355080" y="5715000"/>
            <a:ext cx="2560320"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Annex III high-risk obligations</a:t>
            </a:r>
            <a:endParaRPr lang="en-US" sz="1050" dirty="0"/>
          </a:p>
        </p:txBody>
      </p:sp>
      <p:sp>
        <p:nvSpPr>
          <p:cNvPr id="32" name="Text 26"/>
          <p:cNvSpPr txBox="1"/>
          <p:nvPr/>
        </p:nvSpPr>
        <p:spPr>
          <a:xfrm>
            <a:off x="9098280" y="5440680"/>
            <a:ext cx="2560320" cy="274320"/>
          </a:xfrm>
          <a:prstGeom prst="rect">
            <a:avLst/>
          </a:prstGeom>
          <a:noFill/>
          <a:ln/>
        </p:spPr>
        <p:txBody>
          <a:bodyPr wrap="square" lIns="0" tIns="0" rIns="0" bIns="0" rtlCol="0" anchor="t"/>
          <a:lstStyle/>
          <a:p>
            <a:pPr indent="0" marL="0">
              <a:buNone/>
            </a:pPr>
            <a:r>
              <a:rPr lang="en-US" sz="1200" b="1" dirty="0">
                <a:solidFill>
                  <a:srgbClr val="D98E04"/>
                </a:solidFill>
                <a:latin typeface="Calibri" pitchFamily="34" charset="0"/>
                <a:ea typeface="Calibri" pitchFamily="34" charset="-122"/>
                <a:cs typeface="Calibri" pitchFamily="34" charset="-120"/>
              </a:rPr>
              <a:t>2 Aug 2028</a:t>
            </a:r>
            <a:endParaRPr lang="en-US" sz="1200" dirty="0"/>
          </a:p>
        </p:txBody>
      </p:sp>
      <p:sp>
        <p:nvSpPr>
          <p:cNvPr id="33" name="Text 27"/>
          <p:cNvSpPr txBox="1"/>
          <p:nvPr/>
        </p:nvSpPr>
        <p:spPr>
          <a:xfrm>
            <a:off x="9098280" y="5715000"/>
            <a:ext cx="2560320" cy="45720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Annex I high-risk obligations</a:t>
            </a:r>
            <a:endParaRPr lang="en-US" sz="1050" dirty="0"/>
          </a:p>
        </p:txBody>
      </p:sp>
      <p:sp>
        <p:nvSpPr>
          <p:cNvPr id="34" name="Text 28"/>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Reg. (EU) 2024/1689 as amended by 2026/1744; Art. 5 and Arts. 51–55 not deferred. Art. 12 standard prEN 18229-1 (Logging): vote closed 20 Aug 2026; oversight is Part 3 (prEN 18229-3), enquiry open to 22 Sept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U.S. financial-sector anchors for an asset manager</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548640" y="1371600"/>
            <a:ext cx="5440680" cy="1874520"/>
          </a:xfrm>
          <a:prstGeom prst="roundRect">
            <a:avLst>
              <a:gd name="adj" fmla="val 3902"/>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DDF0ED"/>
          </a:solidFill>
          <a:ln w="12700">
            <a:solidFill>
              <a:srgbClr val="DDF0ED"/>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SEC Regulation S-P — binding</a:t>
            </a:r>
            <a:endParaRPr lang="en-US" sz="1300" dirty="0"/>
          </a:p>
        </p:txBody>
      </p:sp>
      <p:sp>
        <p:nvSpPr>
          <p:cNvPr id="9" name="Text 6"/>
          <p:cNvSpPr txBox="1"/>
          <p:nvPr/>
        </p:nvSpPr>
        <p:spPr>
          <a:xfrm>
            <a:off x="731520" y="2011680"/>
            <a:ext cx="5074920" cy="10972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Written administrative, technical and physical safeguards for customer information</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Incident-response program; 30-day breach notification; disposal rules</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Expanded service-provider oversight — the direct hook for OSS memory libraries</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Larger entities in scope since 3 Dec 2025; enforcement precedent Nov 2025 (M Holdings)</a:t>
            </a:r>
            <a:endParaRPr lang="en-US" sz="1150" dirty="0"/>
          </a:p>
        </p:txBody>
      </p:sp>
      <p:sp>
        <p:nvSpPr>
          <p:cNvPr id="10" name="Shape 7"/>
          <p:cNvSpPr/>
          <p:nvPr/>
        </p:nvSpPr>
        <p:spPr>
          <a:xfrm>
            <a:off x="6190488" y="1371600"/>
            <a:ext cx="5440680" cy="1874520"/>
          </a:xfrm>
          <a:prstGeom prst="roundRect">
            <a:avLst>
              <a:gd name="adj" fmla="val 3902"/>
            </a:avLst>
          </a:prstGeom>
          <a:solidFill>
            <a:srgbClr val="F7F9FC"/>
          </a:solidFill>
          <a:ln w="9525">
            <a:solidFill>
              <a:srgbClr val="D5DDE9"/>
            </a:solidFill>
            <a:prstDash val="solid"/>
          </a:ln>
        </p:spPr>
      </p:sp>
      <p:sp>
        <p:nvSpPr>
          <p:cNvPr id="11" name="Shape 8"/>
          <p:cNvSpPr/>
          <p:nvPr/>
        </p:nvSpPr>
        <p:spPr>
          <a:xfrm>
            <a:off x="6355080" y="1536192"/>
            <a:ext cx="384048" cy="384048"/>
          </a:xfrm>
          <a:prstGeom prst="ellipse">
            <a:avLst/>
          </a:prstGeom>
          <a:solidFill>
            <a:srgbClr val="E3E9F3"/>
          </a:solidFill>
          <a:ln w="12700">
            <a:solidFill>
              <a:srgbClr val="E3E9F3"/>
            </a:solidFill>
            <a:prstDash val="solid"/>
          </a:ln>
        </p:spPr>
      </p:sp>
      <p:pic>
        <p:nvPicPr>
          <p:cNvPr id="12" name="Image 1" descr="preencoded.png">    </p:cNvPr>
          <p:cNvPicPr>
            <a:picLocks noChangeAspect="1"/>
          </p:cNvPicPr>
          <p:nvPr/>
        </p:nvPicPr>
        <p:blipFill>
          <a:blip r:embed="rId2"/>
          <a:stretch>
            <a:fillRect/>
          </a:stretch>
        </p:blipFill>
        <p:spPr>
          <a:xfrm>
            <a:off x="6447252" y="1628364"/>
            <a:ext cx="199705" cy="199705"/>
          </a:xfrm>
          <a:prstGeom prst="rect">
            <a:avLst/>
          </a:prstGeom>
        </p:spPr>
      </p:pic>
      <p:sp>
        <p:nvSpPr>
          <p:cNvPr id="13" name="Text 9"/>
          <p:cNvSpPr txBox="1"/>
          <p:nvPr/>
        </p:nvSpPr>
        <p:spPr>
          <a:xfrm>
            <a:off x="6848856" y="15361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Treasury FS AI RMF (Feb 2026) — sector framework</a:t>
            </a:r>
            <a:endParaRPr lang="en-US" sz="1300" dirty="0"/>
          </a:p>
        </p:txBody>
      </p:sp>
      <p:sp>
        <p:nvSpPr>
          <p:cNvPr id="14" name="Text 10"/>
          <p:cNvSpPr txBox="1"/>
          <p:nvPr/>
        </p:nvSpPr>
        <p:spPr>
          <a:xfrm>
            <a:off x="6373368" y="2011680"/>
            <a:ext cx="5074920" cy="10972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230 control objectives on NIST Govern / Map / Measure / Manage</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Four adoption stages: Initial → Minimal → Evolving → Embedded</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Data-integrity, third-party and monitoring domains map directly to memory</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Sector-wide (100+ institutions), not bank-only</a:t>
            </a:r>
            <a:endParaRPr lang="en-US" sz="1150" dirty="0"/>
          </a:p>
        </p:txBody>
      </p:sp>
      <p:sp>
        <p:nvSpPr>
          <p:cNvPr id="15" name="Shape 11"/>
          <p:cNvSpPr/>
          <p:nvPr/>
        </p:nvSpPr>
        <p:spPr>
          <a:xfrm>
            <a:off x="548640" y="3429000"/>
            <a:ext cx="5440680" cy="1874520"/>
          </a:xfrm>
          <a:prstGeom prst="roundRect">
            <a:avLst>
              <a:gd name="adj" fmla="val 3902"/>
            </a:avLst>
          </a:prstGeom>
          <a:solidFill>
            <a:srgbClr val="F7F9FC"/>
          </a:solidFill>
          <a:ln w="9525">
            <a:solidFill>
              <a:srgbClr val="D5DDE9"/>
            </a:solidFill>
            <a:prstDash val="solid"/>
          </a:ln>
        </p:spPr>
      </p:sp>
      <p:sp>
        <p:nvSpPr>
          <p:cNvPr id="16" name="Shape 12"/>
          <p:cNvSpPr/>
          <p:nvPr/>
        </p:nvSpPr>
        <p:spPr>
          <a:xfrm>
            <a:off x="713232" y="3593592"/>
            <a:ext cx="384048" cy="384048"/>
          </a:xfrm>
          <a:prstGeom prst="ellipse">
            <a:avLst/>
          </a:prstGeom>
          <a:solidFill>
            <a:srgbClr val="FBF1DE"/>
          </a:solidFill>
          <a:ln w="12700">
            <a:solidFill>
              <a:srgbClr val="FBF1DE"/>
            </a:solidFill>
            <a:prstDash val="solid"/>
          </a:ln>
        </p:spPr>
      </p:sp>
      <p:pic>
        <p:nvPicPr>
          <p:cNvPr id="17" name="Image 2" descr="preencoded.png">    </p:cNvPr>
          <p:cNvPicPr>
            <a:picLocks noChangeAspect="1"/>
          </p:cNvPicPr>
          <p:nvPr/>
        </p:nvPicPr>
        <p:blipFill>
          <a:blip r:embed="rId3"/>
          <a:stretch>
            <a:fillRect/>
          </a:stretch>
        </p:blipFill>
        <p:spPr>
          <a:xfrm>
            <a:off x="805404" y="3685764"/>
            <a:ext cx="199705" cy="199705"/>
          </a:xfrm>
          <a:prstGeom prst="rect">
            <a:avLst/>
          </a:prstGeom>
        </p:spPr>
      </p:pic>
      <p:sp>
        <p:nvSpPr>
          <p:cNvPr id="18" name="Text 13"/>
          <p:cNvSpPr txBox="1"/>
          <p:nvPr/>
        </p:nvSpPr>
        <p:spPr>
          <a:xfrm>
            <a:off x="1207008" y="35935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SR 26-2 — supervisory analogue only</a:t>
            </a:r>
            <a:endParaRPr lang="en-US" sz="1300" dirty="0"/>
          </a:p>
        </p:txBody>
      </p:sp>
      <p:sp>
        <p:nvSpPr>
          <p:cNvPr id="19" name="Text 14"/>
          <p:cNvSpPr txBox="1"/>
          <p:nvPr/>
        </p:nvSpPr>
        <p:spPr>
          <a:xfrm>
            <a:off x="731520" y="4069080"/>
            <a:ext cx="5074920" cy="10972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Fed/OCC/FDIC guidance for banking organizations, not RIAs</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Expressly excludes generative and agentic AI from model-risk scope</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Validation, inventory, change-management and vendor principles remain useful benchmarks</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Agencies have signalled an RFI on AI/GenAI/agentic model risk</a:t>
            </a:r>
            <a:endParaRPr lang="en-US" sz="1150" dirty="0"/>
          </a:p>
        </p:txBody>
      </p:sp>
      <p:sp>
        <p:nvSpPr>
          <p:cNvPr id="20" name="Shape 15"/>
          <p:cNvSpPr/>
          <p:nvPr/>
        </p:nvSpPr>
        <p:spPr>
          <a:xfrm>
            <a:off x="6190488" y="3429000"/>
            <a:ext cx="5440680" cy="1874520"/>
          </a:xfrm>
          <a:prstGeom prst="roundRect">
            <a:avLst>
              <a:gd name="adj" fmla="val 3902"/>
            </a:avLst>
          </a:prstGeom>
          <a:solidFill>
            <a:srgbClr val="F7F9FC"/>
          </a:solidFill>
          <a:ln w="9525">
            <a:solidFill>
              <a:srgbClr val="D5DDE9"/>
            </a:solidFill>
            <a:prstDash val="solid"/>
          </a:ln>
        </p:spPr>
      </p:sp>
      <p:sp>
        <p:nvSpPr>
          <p:cNvPr id="21" name="Shape 16"/>
          <p:cNvSpPr/>
          <p:nvPr/>
        </p:nvSpPr>
        <p:spPr>
          <a:xfrm>
            <a:off x="6355080" y="3593592"/>
            <a:ext cx="384048" cy="384048"/>
          </a:xfrm>
          <a:prstGeom prst="ellipse">
            <a:avLst/>
          </a:prstGeom>
          <a:solidFill>
            <a:srgbClr val="F8E3DE"/>
          </a:solidFill>
          <a:ln w="12700">
            <a:solidFill>
              <a:srgbClr val="F8E3DE"/>
            </a:solidFill>
            <a:prstDash val="solid"/>
          </a:ln>
        </p:spPr>
      </p:sp>
      <p:pic>
        <p:nvPicPr>
          <p:cNvPr id="22" name="Image 3" descr="preencoded.png">    </p:cNvPr>
          <p:cNvPicPr>
            <a:picLocks noChangeAspect="1"/>
          </p:cNvPicPr>
          <p:nvPr/>
        </p:nvPicPr>
        <p:blipFill>
          <a:blip r:embed="rId4"/>
          <a:stretch>
            <a:fillRect/>
          </a:stretch>
        </p:blipFill>
        <p:spPr>
          <a:xfrm>
            <a:off x="6447252" y="3685764"/>
            <a:ext cx="199705" cy="199705"/>
          </a:xfrm>
          <a:prstGeom prst="rect">
            <a:avLst/>
          </a:prstGeom>
        </p:spPr>
      </p:pic>
      <p:sp>
        <p:nvSpPr>
          <p:cNvPr id="23" name="Text 17"/>
          <p:cNvSpPr txBox="1"/>
          <p:nvPr/>
        </p:nvSpPr>
        <p:spPr>
          <a:xfrm>
            <a:off x="6848856" y="35935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Practical reading for RockAI</a:t>
            </a:r>
            <a:endParaRPr lang="en-US" sz="1300" dirty="0"/>
          </a:p>
        </p:txBody>
      </p:sp>
      <p:sp>
        <p:nvSpPr>
          <p:cNvPr id="24" name="Text 18"/>
          <p:cNvSpPr txBox="1"/>
          <p:nvPr/>
        </p:nvSpPr>
        <p:spPr>
          <a:xfrm>
            <a:off x="6373368" y="4069080"/>
            <a:ext cx="5074920" cy="10972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Use Treasury / NIST for AI control design</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Use Reg S-P for U.S. customer-information safeguards and vendor oversight</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Use SR 26-2 only as a benchmark of “good” model-risk practice</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Fiduciary / Advisers Act anti-fraud and “AI-washing” risk attach to any client-facing personalization</a:t>
            </a:r>
            <a:endParaRPr lang="en-US" sz="1150" dirty="0"/>
          </a:p>
        </p:txBody>
      </p:sp>
      <p:sp>
        <p:nvSpPr>
          <p:cNvPr id="25" name="Shape 19"/>
          <p:cNvSpPr/>
          <p:nvPr/>
        </p:nvSpPr>
        <p:spPr>
          <a:xfrm>
            <a:off x="548640" y="5577840"/>
            <a:ext cx="11094415" cy="548640"/>
          </a:xfrm>
          <a:prstGeom prst="roundRect">
            <a:avLst>
              <a:gd name="adj" fmla="val 16667"/>
            </a:avLst>
          </a:prstGeom>
          <a:solidFill>
            <a:srgbClr val="0B1F3A"/>
          </a:solidFill>
          <a:ln w="12700">
            <a:solidFill>
              <a:srgbClr val="0B1F3A"/>
            </a:solidFill>
            <a:prstDash val="solid"/>
          </a:ln>
        </p:spPr>
      </p:sp>
      <p:sp>
        <p:nvSpPr>
          <p:cNvPr id="26" name="Text 20"/>
          <p:cNvSpPr txBox="1"/>
          <p:nvPr/>
        </p:nvSpPr>
        <p:spPr>
          <a:xfrm>
            <a:off x="822960" y="5577840"/>
            <a:ext cx="10545775"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Books-and-records retention (Advisers Act) and GDPR erasure pull in opposite directions — retention must be resolved at the record level, not by geography.</a:t>
            </a:r>
            <a:endParaRPr lang="en-US" sz="1200" dirty="0"/>
          </a:p>
        </p:txBody>
      </p:sp>
      <p:sp>
        <p:nvSpPr>
          <p:cNvPr id="27" name="Text 21"/>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Sources: SEC Reg S-P final amendments (May 2024); U.S. Treasury FS AI RMF (Feb 2026); Federal Reserve SR 26-2 (Apr 2026). Confirm entity-specific obligations with legal/regulatory affairs.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2700" b="1" dirty="0">
                <a:solidFill>
                  <a:srgbClr val="0B1F3A"/>
                </a:solidFill>
                <a:latin typeface="Cambria" pitchFamily="34" charset="0"/>
                <a:ea typeface="Cambria" pitchFamily="34" charset="-122"/>
                <a:cs typeface="Cambria" pitchFamily="34" charset="-120"/>
              </a:rPr>
              <a:t>U.S. state layer: ADMT rules reach memory-driven profiling</a:t>
            </a:r>
            <a:endParaRPr lang="en-US" sz="27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548640" y="1371600"/>
            <a:ext cx="5440680" cy="2468880"/>
          </a:xfrm>
          <a:prstGeom prst="roundRect">
            <a:avLst>
              <a:gd name="adj" fmla="val 2963"/>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DDF0ED"/>
          </a:solidFill>
          <a:ln w="12700">
            <a:solidFill>
              <a:srgbClr val="DDF0ED"/>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California — CPPA ADMT &amp; risk-assessment regulations</a:t>
            </a:r>
            <a:endParaRPr lang="en-US" sz="1300" dirty="0"/>
          </a:p>
        </p:txBody>
      </p:sp>
      <p:sp>
        <p:nvSpPr>
          <p:cNvPr id="9" name="Text 6"/>
          <p:cNvSpPr txBox="1"/>
          <p:nvPr/>
        </p:nvSpPr>
        <p:spPr>
          <a:xfrm>
            <a:off x="731520" y="2011680"/>
            <a:ext cx="5074920" cy="169164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In force 1 Jan 2026; ADMT used for “significant decisions” must comply by 1 Jan 2027</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Risk assessments for pre-2026 processing due 31 Dec 2027; attestations to CPPA by 1 Apr 2028 (&gt;$100M revenue)</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GLBA exemption is data-level, not entity-level — employee, prospect and non-GLBA data stay in scope</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Access to ADMT logic and outputs; opt-out or human appeal for significant decisions</a:t>
            </a:r>
            <a:endParaRPr lang="en-US" sz="1150" dirty="0"/>
          </a:p>
        </p:txBody>
      </p:sp>
      <p:sp>
        <p:nvSpPr>
          <p:cNvPr id="10" name="Shape 7"/>
          <p:cNvSpPr/>
          <p:nvPr/>
        </p:nvSpPr>
        <p:spPr>
          <a:xfrm>
            <a:off x="6190488" y="1371600"/>
            <a:ext cx="5440680" cy="2468880"/>
          </a:xfrm>
          <a:prstGeom prst="roundRect">
            <a:avLst>
              <a:gd name="adj" fmla="val 2963"/>
            </a:avLst>
          </a:prstGeom>
          <a:solidFill>
            <a:srgbClr val="F7F9FC"/>
          </a:solidFill>
          <a:ln w="9525">
            <a:solidFill>
              <a:srgbClr val="D5DDE9"/>
            </a:solidFill>
            <a:prstDash val="solid"/>
          </a:ln>
        </p:spPr>
      </p:sp>
      <p:sp>
        <p:nvSpPr>
          <p:cNvPr id="11" name="Shape 8"/>
          <p:cNvSpPr/>
          <p:nvPr/>
        </p:nvSpPr>
        <p:spPr>
          <a:xfrm>
            <a:off x="6355080" y="1536192"/>
            <a:ext cx="384048" cy="384048"/>
          </a:xfrm>
          <a:prstGeom prst="ellipse">
            <a:avLst/>
          </a:prstGeom>
          <a:solidFill>
            <a:srgbClr val="FBF1DE"/>
          </a:solidFill>
          <a:ln w="12700">
            <a:solidFill>
              <a:srgbClr val="FBF1DE"/>
            </a:solidFill>
            <a:prstDash val="solid"/>
          </a:ln>
        </p:spPr>
      </p:sp>
      <p:pic>
        <p:nvPicPr>
          <p:cNvPr id="12" name="Image 1" descr="preencoded.png">    </p:cNvPr>
          <p:cNvPicPr>
            <a:picLocks noChangeAspect="1"/>
          </p:cNvPicPr>
          <p:nvPr/>
        </p:nvPicPr>
        <p:blipFill>
          <a:blip r:embed="rId2"/>
          <a:stretch>
            <a:fillRect/>
          </a:stretch>
        </p:blipFill>
        <p:spPr>
          <a:xfrm>
            <a:off x="6447252" y="1628364"/>
            <a:ext cx="199705" cy="199705"/>
          </a:xfrm>
          <a:prstGeom prst="rect">
            <a:avLst/>
          </a:prstGeom>
        </p:spPr>
      </p:pic>
      <p:sp>
        <p:nvSpPr>
          <p:cNvPr id="13" name="Text 9"/>
          <p:cNvSpPr txBox="1"/>
          <p:nvPr/>
        </p:nvSpPr>
        <p:spPr>
          <a:xfrm>
            <a:off x="6848856" y="15361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Colorado — SB 26-189 (ADMT Act) replaces SB 24-205</a:t>
            </a:r>
            <a:endParaRPr lang="en-US" sz="1300" dirty="0"/>
          </a:p>
        </p:txBody>
      </p:sp>
      <p:sp>
        <p:nvSpPr>
          <p:cNvPr id="14" name="Text 10"/>
          <p:cNvSpPr txBox="1"/>
          <p:nvPr/>
        </p:nvSpPr>
        <p:spPr>
          <a:xfrm>
            <a:off x="6373368" y="2011680"/>
            <a:ext cx="5074920" cy="169164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Original AI Act never took effect: stayed 27 Apr 2026 (xAI suit, DOJ intervening)</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Replacement signed 14 May 2026; effective 1 Jan 2027; enforcement waits on AG rulemaking</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Narrower notice-and-rights framework; discrimination duties and impact assessments dropped</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Litigation against the replacement statute already signalled</a:t>
            </a:r>
            <a:endParaRPr lang="en-US" sz="1150" dirty="0"/>
          </a:p>
        </p:txBody>
      </p:sp>
      <p:sp>
        <p:nvSpPr>
          <p:cNvPr id="15" name="Shape 11"/>
          <p:cNvSpPr/>
          <p:nvPr/>
        </p:nvSpPr>
        <p:spPr>
          <a:xfrm>
            <a:off x="548640" y="4069080"/>
            <a:ext cx="11094415" cy="777240"/>
          </a:xfrm>
          <a:prstGeom prst="roundRect">
            <a:avLst>
              <a:gd name="adj" fmla="val 9412"/>
            </a:avLst>
          </a:prstGeom>
          <a:solidFill>
            <a:srgbClr val="F8E3DE"/>
          </a:solidFill>
          <a:ln w="12700">
            <a:solidFill>
              <a:srgbClr val="F8E3DE"/>
            </a:solidFill>
            <a:prstDash val="solid"/>
          </a:ln>
        </p:spPr>
      </p:sp>
      <p:sp>
        <p:nvSpPr>
          <p:cNvPr id="16" name="Text 12"/>
          <p:cNvSpPr txBox="1"/>
          <p:nvPr/>
        </p:nvSpPr>
        <p:spPr>
          <a:xfrm>
            <a:off x="777240" y="4069080"/>
            <a:ext cx="10637215" cy="777240"/>
          </a:xfrm>
          <a:prstGeom prst="rect">
            <a:avLst/>
          </a:prstGeom>
          <a:noFill/>
          <a:ln/>
        </p:spPr>
        <p:txBody>
          <a:bodyPr wrap="square" lIns="0" tIns="0" rIns="0" bIns="0" rtlCol="0" anchor="ctr"/>
          <a:lstStyle/>
          <a:p>
            <a:pPr indent="0" marL="0">
              <a:buNone/>
            </a:pPr>
            <a:r>
              <a:rPr lang="en-US" sz="1150" b="1" dirty="0">
                <a:solidFill>
                  <a:srgbClr val="C8452B"/>
                </a:solidFill>
                <a:latin typeface="Calibri" pitchFamily="34" charset="0"/>
                <a:ea typeface="Calibri" pitchFamily="34" charset="-122"/>
                <a:cs typeface="Calibri" pitchFamily="34" charset="-120"/>
              </a:rPr>
              <a:t>Volatility warning:  </a:t>
            </a:r>
            <a:pPr indent="0" marL="0">
              <a:buNone/>
            </a:pPr>
            <a:r>
              <a:rPr lang="en-US" sz="1150" dirty="0">
                <a:solidFill>
                  <a:srgbClr val="1F2937"/>
                </a:solidFill>
                <a:latin typeface="Calibri" pitchFamily="34" charset="0"/>
                <a:ea typeface="Calibri" pitchFamily="34" charset="-122"/>
                <a:cs typeface="Calibri" pitchFamily="34" charset="-120"/>
              </a:rPr>
              <a:t>a December 2025 executive order created a DOJ AI Litigation Task Force aimed at state AI laws. State obligations belong in the currency register (memo Appendix E), not hard-coded into the specification.</a:t>
            </a:r>
            <a:endParaRPr lang="en-US" sz="1150" dirty="0"/>
          </a:p>
        </p:txBody>
      </p:sp>
      <p:sp>
        <p:nvSpPr>
          <p:cNvPr id="17" name="Shape 13"/>
          <p:cNvSpPr/>
          <p:nvPr/>
        </p:nvSpPr>
        <p:spPr>
          <a:xfrm>
            <a:off x="548640" y="5074920"/>
            <a:ext cx="11094415" cy="566928"/>
          </a:xfrm>
          <a:prstGeom prst="roundRect">
            <a:avLst>
              <a:gd name="adj" fmla="val 16129"/>
            </a:avLst>
          </a:prstGeom>
          <a:solidFill>
            <a:srgbClr val="0B1F3A"/>
          </a:solidFill>
          <a:ln w="12700">
            <a:solidFill>
              <a:srgbClr val="0B1F3A"/>
            </a:solidFill>
            <a:prstDash val="solid"/>
          </a:ln>
        </p:spPr>
      </p:sp>
      <p:sp>
        <p:nvSpPr>
          <p:cNvPr id="18" name="Text 14"/>
          <p:cNvSpPr txBox="1"/>
          <p:nvPr/>
        </p:nvSpPr>
        <p:spPr>
          <a:xfrm>
            <a:off x="822960" y="5074920"/>
            <a:ext cx="10545775"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Memory implication: C16 and C21 should carry a “significant decision” flag so ADMT notice, opt-out, access and risk-assessment duties trigger on use, not on storage.</a:t>
            </a:r>
            <a:endParaRPr lang="en-US" sz="1200" dirty="0"/>
          </a:p>
        </p:txBody>
      </p:sp>
      <p:sp>
        <p:nvSpPr>
          <p:cNvPr id="19" name="Text 15"/>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Sources: CPPA regulations (OAL-approved 23 Sept 2025); Colorado SB 26-189; D. Colo. stay order 27 Apr 2026. Memo Section 5.5.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DORA + FSB → platform and dependency risk</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548640" y="1371600"/>
            <a:ext cx="3566160" cy="1965960"/>
          </a:xfrm>
          <a:prstGeom prst="roundRect">
            <a:avLst>
              <a:gd name="adj" fmla="val 3721"/>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ICT dependency register</a:t>
            </a:r>
            <a:endParaRPr lang="en-US" sz="1250" dirty="0"/>
          </a:p>
        </p:txBody>
      </p:sp>
      <p:sp>
        <p:nvSpPr>
          <p:cNvPr id="9" name="Text 6"/>
          <p:cNvSpPr txBox="1"/>
          <p:nvPr/>
        </p:nvSpPr>
        <p:spPr>
          <a:xfrm>
            <a:off x="731520" y="201168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Memory backends, graph DBs, embedders, LLMs, telemetry and hosting are all dependency candidates — including self-hosted OSS.</a:t>
            </a:r>
            <a:endParaRPr lang="en-US" sz="1100" dirty="0"/>
          </a:p>
        </p:txBody>
      </p:sp>
      <p:sp>
        <p:nvSpPr>
          <p:cNvPr id="10" name="Shape 7"/>
          <p:cNvSpPr/>
          <p:nvPr/>
        </p:nvSpPr>
        <p:spPr>
          <a:xfrm>
            <a:off x="4315968" y="1371600"/>
            <a:ext cx="3566160" cy="1965960"/>
          </a:xfrm>
          <a:prstGeom prst="roundRect">
            <a:avLst>
              <a:gd name="adj" fmla="val 3721"/>
            </a:avLst>
          </a:prstGeom>
          <a:solidFill>
            <a:srgbClr val="F7F9FC"/>
          </a:solidFill>
          <a:ln w="9525">
            <a:solidFill>
              <a:srgbClr val="D5DDE9"/>
            </a:solidFill>
            <a:prstDash val="solid"/>
          </a:ln>
        </p:spPr>
      </p:sp>
      <p:sp>
        <p:nvSpPr>
          <p:cNvPr id="11" name="Shape 8"/>
          <p:cNvSpPr/>
          <p:nvPr/>
        </p:nvSpPr>
        <p:spPr>
          <a:xfrm>
            <a:off x="4480560" y="1536192"/>
            <a:ext cx="384048" cy="384048"/>
          </a:xfrm>
          <a:prstGeom prst="ellipse">
            <a:avLst/>
          </a:prstGeom>
          <a:solidFill>
            <a:srgbClr val="DDF0ED"/>
          </a:solidFill>
          <a:ln w="12700">
            <a:solidFill>
              <a:srgbClr val="DDF0ED"/>
            </a:solidFill>
            <a:prstDash val="solid"/>
          </a:ln>
        </p:spPr>
      </p:sp>
      <p:pic>
        <p:nvPicPr>
          <p:cNvPr id="12" name="Image 1" descr="preencoded.png">    </p:cNvPr>
          <p:cNvPicPr>
            <a:picLocks noChangeAspect="1"/>
          </p:cNvPicPr>
          <p:nvPr/>
        </p:nvPicPr>
        <p:blipFill>
          <a:blip r:embed="rId2"/>
          <a:stretch>
            <a:fillRect/>
          </a:stretch>
        </p:blipFill>
        <p:spPr>
          <a:xfrm>
            <a:off x="4572732" y="1628364"/>
            <a:ext cx="199705" cy="199705"/>
          </a:xfrm>
          <a:prstGeom prst="rect">
            <a:avLst/>
          </a:prstGeom>
        </p:spPr>
      </p:pic>
      <p:sp>
        <p:nvSpPr>
          <p:cNvPr id="13" name="Text 9"/>
          <p:cNvSpPr txBox="1"/>
          <p:nvPr/>
        </p:nvSpPr>
        <p:spPr>
          <a:xfrm>
            <a:off x="4974336" y="153619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Operational resilience</a:t>
            </a:r>
            <a:endParaRPr lang="en-US" sz="1250" dirty="0"/>
          </a:p>
        </p:txBody>
      </p:sp>
      <p:sp>
        <p:nvSpPr>
          <p:cNvPr id="14" name="Text 10"/>
          <p:cNvSpPr txBox="1"/>
          <p:nvPr/>
        </p:nvSpPr>
        <p:spPr>
          <a:xfrm>
            <a:off x="4498848" y="201168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Define failover and degraded mode: fail closed, operate without memory, or use a restricted fallback.</a:t>
            </a:r>
            <a:endParaRPr lang="en-US" sz="1100" dirty="0"/>
          </a:p>
        </p:txBody>
      </p:sp>
      <p:sp>
        <p:nvSpPr>
          <p:cNvPr id="15" name="Shape 11"/>
          <p:cNvSpPr/>
          <p:nvPr/>
        </p:nvSpPr>
        <p:spPr>
          <a:xfrm>
            <a:off x="8083296" y="1371600"/>
            <a:ext cx="3566160" cy="1965960"/>
          </a:xfrm>
          <a:prstGeom prst="roundRect">
            <a:avLst>
              <a:gd name="adj" fmla="val 3721"/>
            </a:avLst>
          </a:prstGeom>
          <a:solidFill>
            <a:srgbClr val="F7F9FC"/>
          </a:solidFill>
          <a:ln w="9525">
            <a:solidFill>
              <a:srgbClr val="D5DDE9"/>
            </a:solidFill>
            <a:prstDash val="solid"/>
          </a:ln>
        </p:spPr>
      </p:sp>
      <p:sp>
        <p:nvSpPr>
          <p:cNvPr id="16" name="Shape 12"/>
          <p:cNvSpPr/>
          <p:nvPr/>
        </p:nvSpPr>
        <p:spPr>
          <a:xfrm>
            <a:off x="8247888" y="1536192"/>
            <a:ext cx="384048" cy="384048"/>
          </a:xfrm>
          <a:prstGeom prst="ellipse">
            <a:avLst/>
          </a:prstGeom>
          <a:solidFill>
            <a:srgbClr val="FBF1DE"/>
          </a:solidFill>
          <a:ln w="12700">
            <a:solidFill>
              <a:srgbClr val="FBF1DE"/>
            </a:solidFill>
            <a:prstDash val="solid"/>
          </a:ln>
        </p:spPr>
      </p:sp>
      <p:pic>
        <p:nvPicPr>
          <p:cNvPr id="17" name="Image 2" descr="preencoded.png">    </p:cNvPr>
          <p:cNvPicPr>
            <a:picLocks noChangeAspect="1"/>
          </p:cNvPicPr>
          <p:nvPr/>
        </p:nvPicPr>
        <p:blipFill>
          <a:blip r:embed="rId3"/>
          <a:stretch>
            <a:fillRect/>
          </a:stretch>
        </p:blipFill>
        <p:spPr>
          <a:xfrm>
            <a:off x="8340060" y="1628364"/>
            <a:ext cx="199705" cy="199705"/>
          </a:xfrm>
          <a:prstGeom prst="rect">
            <a:avLst/>
          </a:prstGeom>
        </p:spPr>
      </p:pic>
      <p:sp>
        <p:nvSpPr>
          <p:cNvPr id="18" name="Text 13"/>
          <p:cNvSpPr txBox="1"/>
          <p:nvPr/>
        </p:nvSpPr>
        <p:spPr>
          <a:xfrm>
            <a:off x="8741664" y="153619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Exit / migration</a:t>
            </a:r>
            <a:endParaRPr lang="en-US" sz="1250" dirty="0"/>
          </a:p>
        </p:txBody>
      </p:sp>
      <p:sp>
        <p:nvSpPr>
          <p:cNvPr id="19" name="Text 14"/>
          <p:cNvSpPr txBox="1"/>
          <p:nvPr/>
        </p:nvSpPr>
        <p:spPr>
          <a:xfrm>
            <a:off x="8266176" y="201168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Data return, portability, deletion, rollback and provider substitution must be tested, not assumed.</a:t>
            </a:r>
            <a:endParaRPr lang="en-US" sz="1100" dirty="0"/>
          </a:p>
        </p:txBody>
      </p:sp>
      <p:sp>
        <p:nvSpPr>
          <p:cNvPr id="20" name="Shape 15"/>
          <p:cNvSpPr/>
          <p:nvPr/>
        </p:nvSpPr>
        <p:spPr>
          <a:xfrm>
            <a:off x="548640" y="3520440"/>
            <a:ext cx="3566160" cy="1965960"/>
          </a:xfrm>
          <a:prstGeom prst="roundRect">
            <a:avLst>
              <a:gd name="adj" fmla="val 3721"/>
            </a:avLst>
          </a:prstGeom>
          <a:solidFill>
            <a:srgbClr val="F7F9FC"/>
          </a:solidFill>
          <a:ln w="9525">
            <a:solidFill>
              <a:srgbClr val="D5DDE9"/>
            </a:solidFill>
            <a:prstDash val="solid"/>
          </a:ln>
        </p:spPr>
      </p:sp>
      <p:sp>
        <p:nvSpPr>
          <p:cNvPr id="21" name="Shape 16"/>
          <p:cNvSpPr/>
          <p:nvPr/>
        </p:nvSpPr>
        <p:spPr>
          <a:xfrm>
            <a:off x="713232" y="3685032"/>
            <a:ext cx="384048" cy="384048"/>
          </a:xfrm>
          <a:prstGeom prst="ellipse">
            <a:avLst/>
          </a:prstGeom>
          <a:solidFill>
            <a:srgbClr val="F8E3DE"/>
          </a:solidFill>
          <a:ln w="12700">
            <a:solidFill>
              <a:srgbClr val="F8E3DE"/>
            </a:solidFill>
            <a:prstDash val="solid"/>
          </a:ln>
        </p:spPr>
      </p:sp>
      <p:pic>
        <p:nvPicPr>
          <p:cNvPr id="22" name="Image 3" descr="preencoded.png">    </p:cNvPr>
          <p:cNvPicPr>
            <a:picLocks noChangeAspect="1"/>
          </p:cNvPicPr>
          <p:nvPr/>
        </p:nvPicPr>
        <p:blipFill>
          <a:blip r:embed="rId4"/>
          <a:stretch>
            <a:fillRect/>
          </a:stretch>
        </p:blipFill>
        <p:spPr>
          <a:xfrm>
            <a:off x="805404" y="3777204"/>
            <a:ext cx="199705" cy="199705"/>
          </a:xfrm>
          <a:prstGeom prst="rect">
            <a:avLst/>
          </a:prstGeom>
        </p:spPr>
      </p:pic>
      <p:sp>
        <p:nvSpPr>
          <p:cNvPr id="23" name="Text 17"/>
          <p:cNvSpPr txBox="1"/>
          <p:nvPr/>
        </p:nvSpPr>
        <p:spPr>
          <a:xfrm>
            <a:off x="1207008" y="368503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Concentration monitoring</a:t>
            </a:r>
            <a:endParaRPr lang="en-US" sz="1250" dirty="0"/>
          </a:p>
        </p:txBody>
      </p:sp>
      <p:sp>
        <p:nvSpPr>
          <p:cNvPr id="24" name="Text 18"/>
          <p:cNvSpPr txBox="1"/>
          <p:nvPr/>
        </p:nvSpPr>
        <p:spPr>
          <a:xfrm>
            <a:off x="731520" y="416052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Track reliance on common LLM providers, graph stores and shared memory services; FSB flags this as a systemic vulnerability.</a:t>
            </a:r>
            <a:endParaRPr lang="en-US" sz="1100" dirty="0"/>
          </a:p>
        </p:txBody>
      </p:sp>
      <p:sp>
        <p:nvSpPr>
          <p:cNvPr id="25" name="Shape 19"/>
          <p:cNvSpPr/>
          <p:nvPr/>
        </p:nvSpPr>
        <p:spPr>
          <a:xfrm>
            <a:off x="4315968" y="3520440"/>
            <a:ext cx="3566160" cy="1965960"/>
          </a:xfrm>
          <a:prstGeom prst="roundRect">
            <a:avLst>
              <a:gd name="adj" fmla="val 3721"/>
            </a:avLst>
          </a:prstGeom>
          <a:solidFill>
            <a:srgbClr val="F7F9FC"/>
          </a:solidFill>
          <a:ln w="9525">
            <a:solidFill>
              <a:srgbClr val="D5DDE9"/>
            </a:solidFill>
            <a:prstDash val="solid"/>
          </a:ln>
        </p:spPr>
      </p:sp>
      <p:sp>
        <p:nvSpPr>
          <p:cNvPr id="26" name="Shape 20"/>
          <p:cNvSpPr/>
          <p:nvPr/>
        </p:nvSpPr>
        <p:spPr>
          <a:xfrm>
            <a:off x="4480560" y="3685032"/>
            <a:ext cx="384048" cy="384048"/>
          </a:xfrm>
          <a:prstGeom prst="ellipse">
            <a:avLst/>
          </a:prstGeom>
          <a:solidFill>
            <a:srgbClr val="DDF0ED"/>
          </a:solidFill>
          <a:ln w="12700">
            <a:solidFill>
              <a:srgbClr val="DDF0ED"/>
            </a:solidFill>
            <a:prstDash val="solid"/>
          </a:ln>
        </p:spPr>
      </p:sp>
      <p:pic>
        <p:nvPicPr>
          <p:cNvPr id="27" name="Image 4" descr="preencoded.png">    </p:cNvPr>
          <p:cNvPicPr>
            <a:picLocks noChangeAspect="1"/>
          </p:cNvPicPr>
          <p:nvPr/>
        </p:nvPicPr>
        <p:blipFill>
          <a:blip r:embed="rId5"/>
          <a:stretch>
            <a:fillRect/>
          </a:stretch>
        </p:blipFill>
        <p:spPr>
          <a:xfrm>
            <a:off x="4572732" y="3777204"/>
            <a:ext cx="199705" cy="199705"/>
          </a:xfrm>
          <a:prstGeom prst="rect">
            <a:avLst/>
          </a:prstGeom>
        </p:spPr>
      </p:pic>
      <p:sp>
        <p:nvSpPr>
          <p:cNvPr id="28" name="Text 21"/>
          <p:cNvSpPr txBox="1"/>
          <p:nvPr/>
        </p:nvSpPr>
        <p:spPr>
          <a:xfrm>
            <a:off x="4974336" y="368503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OSS is not a third party by default</a:t>
            </a:r>
            <a:endParaRPr lang="en-US" sz="1250" dirty="0"/>
          </a:p>
        </p:txBody>
      </p:sp>
      <p:sp>
        <p:nvSpPr>
          <p:cNvPr id="29" name="Text 22"/>
          <p:cNvSpPr txBox="1"/>
          <p:nvPr/>
        </p:nvSpPr>
        <p:spPr>
          <a:xfrm>
            <a:off x="4498848" y="416052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self-hosted library’s maintainer is not automatically an ICT third-party provider under DORA — but the LLM/embedding providers it calls may be.</a:t>
            </a:r>
            <a:endParaRPr lang="en-US" sz="1100" dirty="0"/>
          </a:p>
        </p:txBody>
      </p:sp>
      <p:sp>
        <p:nvSpPr>
          <p:cNvPr id="30" name="Shape 23"/>
          <p:cNvSpPr/>
          <p:nvPr/>
        </p:nvSpPr>
        <p:spPr>
          <a:xfrm>
            <a:off x="8083296" y="3520440"/>
            <a:ext cx="3566160" cy="1965960"/>
          </a:xfrm>
          <a:prstGeom prst="roundRect">
            <a:avLst>
              <a:gd name="adj" fmla="val 3721"/>
            </a:avLst>
          </a:prstGeom>
          <a:solidFill>
            <a:srgbClr val="F7F9FC"/>
          </a:solidFill>
          <a:ln w="9525">
            <a:solidFill>
              <a:srgbClr val="D5DDE9"/>
            </a:solidFill>
            <a:prstDash val="solid"/>
          </a:ln>
        </p:spPr>
      </p:sp>
      <p:sp>
        <p:nvSpPr>
          <p:cNvPr id="31" name="Shape 24"/>
          <p:cNvSpPr/>
          <p:nvPr/>
        </p:nvSpPr>
        <p:spPr>
          <a:xfrm>
            <a:off x="8247888" y="3685032"/>
            <a:ext cx="384048" cy="384048"/>
          </a:xfrm>
          <a:prstGeom prst="ellipse">
            <a:avLst/>
          </a:prstGeom>
          <a:solidFill>
            <a:srgbClr val="E3E9F3"/>
          </a:solidFill>
          <a:ln w="12700">
            <a:solidFill>
              <a:srgbClr val="E3E9F3"/>
            </a:solidFill>
            <a:prstDash val="solid"/>
          </a:ln>
        </p:spPr>
      </p:sp>
      <p:pic>
        <p:nvPicPr>
          <p:cNvPr id="32" name="Image 5" descr="preencoded.png">    </p:cNvPr>
          <p:cNvPicPr>
            <a:picLocks noChangeAspect="1"/>
          </p:cNvPicPr>
          <p:nvPr/>
        </p:nvPicPr>
        <p:blipFill>
          <a:blip r:embed="rId6"/>
          <a:stretch>
            <a:fillRect/>
          </a:stretch>
        </p:blipFill>
        <p:spPr>
          <a:xfrm>
            <a:off x="8340060" y="3777204"/>
            <a:ext cx="199705" cy="199705"/>
          </a:xfrm>
          <a:prstGeom prst="rect">
            <a:avLst/>
          </a:prstGeom>
        </p:spPr>
      </p:pic>
      <p:sp>
        <p:nvSpPr>
          <p:cNvPr id="33" name="Text 25"/>
          <p:cNvSpPr txBox="1"/>
          <p:nvPr/>
        </p:nvSpPr>
        <p:spPr>
          <a:xfrm>
            <a:off x="8741664" y="3685032"/>
            <a:ext cx="274320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Platform criticality (Aladdin)</a:t>
            </a:r>
            <a:endParaRPr lang="en-US" sz="1250" dirty="0"/>
          </a:p>
        </p:txBody>
      </p:sp>
      <p:sp>
        <p:nvSpPr>
          <p:cNvPr id="34" name="Text 26"/>
          <p:cNvSpPr txBox="1"/>
          <p:nvPr/>
        </p:nvSpPr>
        <p:spPr>
          <a:xfrm>
            <a:off x="8266176" y="4160520"/>
            <a:ext cx="3200400" cy="11887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Aladdin is not on the first DORA CTPP list (Nov 2025), but BlackRock’s own filings and the FCA already flag its systemic footprint — scope decides the oversight tier.</a:t>
            </a:r>
            <a:endParaRPr lang="en-US" sz="1100" dirty="0"/>
          </a:p>
        </p:txBody>
      </p:sp>
      <p:sp>
        <p:nvSpPr>
          <p:cNvPr id="35" name="Shape 27"/>
          <p:cNvSpPr/>
          <p:nvPr/>
        </p:nvSpPr>
        <p:spPr>
          <a:xfrm>
            <a:off x="548640" y="5715000"/>
            <a:ext cx="11094415" cy="457200"/>
          </a:xfrm>
          <a:prstGeom prst="roundRect">
            <a:avLst>
              <a:gd name="adj" fmla="val 20000"/>
            </a:avLst>
          </a:prstGeom>
          <a:solidFill>
            <a:srgbClr val="0B1F3A"/>
          </a:solidFill>
          <a:ln w="12700">
            <a:solidFill>
              <a:srgbClr val="0B1F3A"/>
            </a:solidFill>
            <a:prstDash val="solid"/>
          </a:ln>
        </p:spPr>
      </p:sp>
      <p:sp>
        <p:nvSpPr>
          <p:cNvPr id="36" name="Text 28"/>
          <p:cNvSpPr txBox="1"/>
          <p:nvPr/>
        </p:nvSpPr>
        <p:spPr>
          <a:xfrm>
            <a:off x="822960" y="5715000"/>
            <a:ext cx="10545775"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FSB’s AI risk categories map cleanly to memory: third-party concentration, cyber risk, model/data quality, governance, and misalignment.</a:t>
            </a:r>
            <a:endParaRPr lang="en-US" sz="1200" dirty="0"/>
          </a:p>
        </p:txBody>
      </p:sp>
      <p:sp>
        <p:nvSpPr>
          <p:cNvPr id="37" name="Text 29"/>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Sources: DORA Regulation (EU) 2022/2554; ESA CTPP designation list (18 Nov 2025); FSB 2024 AI financial-stability report and 2025 adoption/vulnerability monitoring.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Beyond the core map: DPA, UK and APAC signals</a:t>
            </a:r>
            <a:endParaRPr lang="en-US" sz="28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548640" y="1371600"/>
            <a:ext cx="3566160" cy="1965960"/>
          </a:xfrm>
          <a:prstGeom prst="roundRect">
            <a:avLst>
              <a:gd name="adj" fmla="val 3721"/>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2743200" cy="38404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AEPD agentic-AI guidance (Feb 2026)</a:t>
            </a:r>
            <a:endParaRPr lang="en-US" sz="1200" dirty="0"/>
          </a:p>
        </p:txBody>
      </p:sp>
      <p:sp>
        <p:nvSpPr>
          <p:cNvPr id="9" name="Text 6"/>
          <p:cNvSpPr txBox="1"/>
          <p:nvPr/>
        </p:nvSpPr>
        <p:spPr>
          <a:xfrm>
            <a:off x="731520" y="2011680"/>
            <a:ext cx="3200400"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81-page Spanish DPA treatment of privacy vulnerabilities in agentic systems — the most detailed European DPA analysis; cross-check for the threat model.</a:t>
            </a:r>
            <a:endParaRPr lang="en-US" sz="1050" dirty="0"/>
          </a:p>
        </p:txBody>
      </p:sp>
      <p:sp>
        <p:nvSpPr>
          <p:cNvPr id="10" name="Shape 7"/>
          <p:cNvSpPr/>
          <p:nvPr/>
        </p:nvSpPr>
        <p:spPr>
          <a:xfrm>
            <a:off x="4315968" y="1371600"/>
            <a:ext cx="3566160" cy="1965960"/>
          </a:xfrm>
          <a:prstGeom prst="roundRect">
            <a:avLst>
              <a:gd name="adj" fmla="val 3721"/>
            </a:avLst>
          </a:prstGeom>
          <a:solidFill>
            <a:srgbClr val="F7F9FC"/>
          </a:solidFill>
          <a:ln w="9525">
            <a:solidFill>
              <a:srgbClr val="D5DDE9"/>
            </a:solidFill>
            <a:prstDash val="solid"/>
          </a:ln>
        </p:spPr>
      </p:sp>
      <p:sp>
        <p:nvSpPr>
          <p:cNvPr id="11" name="Shape 8"/>
          <p:cNvSpPr/>
          <p:nvPr/>
        </p:nvSpPr>
        <p:spPr>
          <a:xfrm>
            <a:off x="4480560" y="1536192"/>
            <a:ext cx="384048" cy="384048"/>
          </a:xfrm>
          <a:prstGeom prst="ellipse">
            <a:avLst/>
          </a:prstGeom>
          <a:solidFill>
            <a:srgbClr val="DDF0ED"/>
          </a:solidFill>
          <a:ln w="12700">
            <a:solidFill>
              <a:srgbClr val="DDF0ED"/>
            </a:solidFill>
            <a:prstDash val="solid"/>
          </a:ln>
        </p:spPr>
      </p:sp>
      <p:pic>
        <p:nvPicPr>
          <p:cNvPr id="12" name="Image 1" descr="preencoded.png">    </p:cNvPr>
          <p:cNvPicPr>
            <a:picLocks noChangeAspect="1"/>
          </p:cNvPicPr>
          <p:nvPr/>
        </p:nvPicPr>
        <p:blipFill>
          <a:blip r:embed="rId2"/>
          <a:stretch>
            <a:fillRect/>
          </a:stretch>
        </p:blipFill>
        <p:spPr>
          <a:xfrm>
            <a:off x="4572732" y="1628364"/>
            <a:ext cx="199705" cy="199705"/>
          </a:xfrm>
          <a:prstGeom prst="rect">
            <a:avLst/>
          </a:prstGeom>
        </p:spPr>
      </p:pic>
      <p:sp>
        <p:nvSpPr>
          <p:cNvPr id="13" name="Text 9"/>
          <p:cNvSpPr txBox="1"/>
          <p:nvPr/>
        </p:nvSpPr>
        <p:spPr>
          <a:xfrm>
            <a:off x="4974336" y="1536192"/>
            <a:ext cx="2743200" cy="38404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EDPB Guidelines 02/2026 — anonymisation</a:t>
            </a:r>
            <a:endParaRPr lang="en-US" sz="1200" dirty="0"/>
          </a:p>
        </p:txBody>
      </p:sp>
      <p:sp>
        <p:nvSpPr>
          <p:cNvPr id="14" name="Text 10"/>
          <p:cNvSpPr txBox="1"/>
          <p:nvPr/>
        </p:nvSpPr>
        <p:spPr>
          <a:xfrm>
            <a:off x="4498848" y="2011680"/>
            <a:ext cx="3200400"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Names agentic AI as lowering re-identification cost; reinforces that embeddings and KG edges are personal data. Consultation open to 30 Oct 2026.</a:t>
            </a:r>
            <a:endParaRPr lang="en-US" sz="1050" dirty="0"/>
          </a:p>
        </p:txBody>
      </p:sp>
      <p:sp>
        <p:nvSpPr>
          <p:cNvPr id="15" name="Shape 11"/>
          <p:cNvSpPr/>
          <p:nvPr/>
        </p:nvSpPr>
        <p:spPr>
          <a:xfrm>
            <a:off x="8083296" y="1371600"/>
            <a:ext cx="3566160" cy="1965960"/>
          </a:xfrm>
          <a:prstGeom prst="roundRect">
            <a:avLst>
              <a:gd name="adj" fmla="val 3721"/>
            </a:avLst>
          </a:prstGeom>
          <a:solidFill>
            <a:srgbClr val="F7F9FC"/>
          </a:solidFill>
          <a:ln w="9525">
            <a:solidFill>
              <a:srgbClr val="D5DDE9"/>
            </a:solidFill>
            <a:prstDash val="solid"/>
          </a:ln>
        </p:spPr>
      </p:sp>
      <p:sp>
        <p:nvSpPr>
          <p:cNvPr id="16" name="Shape 12"/>
          <p:cNvSpPr/>
          <p:nvPr/>
        </p:nvSpPr>
        <p:spPr>
          <a:xfrm>
            <a:off x="8247888" y="1536192"/>
            <a:ext cx="384048" cy="384048"/>
          </a:xfrm>
          <a:prstGeom prst="ellipse">
            <a:avLst/>
          </a:prstGeom>
          <a:solidFill>
            <a:srgbClr val="FBF1DE"/>
          </a:solidFill>
          <a:ln w="12700">
            <a:solidFill>
              <a:srgbClr val="FBF1DE"/>
            </a:solidFill>
            <a:prstDash val="solid"/>
          </a:ln>
        </p:spPr>
      </p:sp>
      <p:pic>
        <p:nvPicPr>
          <p:cNvPr id="17" name="Image 2" descr="preencoded.png">    </p:cNvPr>
          <p:cNvPicPr>
            <a:picLocks noChangeAspect="1"/>
          </p:cNvPicPr>
          <p:nvPr/>
        </p:nvPicPr>
        <p:blipFill>
          <a:blip r:embed="rId3"/>
          <a:stretch>
            <a:fillRect/>
          </a:stretch>
        </p:blipFill>
        <p:spPr>
          <a:xfrm>
            <a:off x="8340060" y="1628364"/>
            <a:ext cx="199705" cy="199705"/>
          </a:xfrm>
          <a:prstGeom prst="rect">
            <a:avLst/>
          </a:prstGeom>
        </p:spPr>
      </p:pic>
      <p:sp>
        <p:nvSpPr>
          <p:cNvPr id="18" name="Text 13"/>
          <p:cNvSpPr txBox="1"/>
          <p:nvPr/>
        </p:nvSpPr>
        <p:spPr>
          <a:xfrm>
            <a:off x="8741664" y="1536192"/>
            <a:ext cx="2743200" cy="38404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ICO–FCA vulnerability-data statement (Mar 2026)</a:t>
            </a:r>
            <a:endParaRPr lang="en-US" sz="1200" dirty="0"/>
          </a:p>
        </p:txBody>
      </p:sp>
      <p:sp>
        <p:nvSpPr>
          <p:cNvPr id="19" name="Text 14"/>
          <p:cNvSpPr txBox="1"/>
          <p:nvPr/>
        </p:nvSpPr>
        <p:spPr>
          <a:xfrm>
            <a:off x="8266176" y="2011680"/>
            <a:ext cx="3200400"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Aligns Consumer Duty with lawful use of vulnerability data — inferred vulnerability held as memory is both a conduct input and a privacy risk (C16).</a:t>
            </a:r>
            <a:endParaRPr lang="en-US" sz="1050" dirty="0"/>
          </a:p>
        </p:txBody>
      </p:sp>
      <p:sp>
        <p:nvSpPr>
          <p:cNvPr id="20" name="Shape 15"/>
          <p:cNvSpPr/>
          <p:nvPr/>
        </p:nvSpPr>
        <p:spPr>
          <a:xfrm>
            <a:off x="548640" y="3520440"/>
            <a:ext cx="3566160" cy="1965960"/>
          </a:xfrm>
          <a:prstGeom prst="roundRect">
            <a:avLst>
              <a:gd name="adj" fmla="val 3721"/>
            </a:avLst>
          </a:prstGeom>
          <a:solidFill>
            <a:srgbClr val="F7F9FC"/>
          </a:solidFill>
          <a:ln w="9525">
            <a:solidFill>
              <a:srgbClr val="D5DDE9"/>
            </a:solidFill>
            <a:prstDash val="solid"/>
          </a:ln>
        </p:spPr>
      </p:sp>
      <p:sp>
        <p:nvSpPr>
          <p:cNvPr id="21" name="Shape 16"/>
          <p:cNvSpPr/>
          <p:nvPr/>
        </p:nvSpPr>
        <p:spPr>
          <a:xfrm>
            <a:off x="713232" y="3685032"/>
            <a:ext cx="384048" cy="384048"/>
          </a:xfrm>
          <a:prstGeom prst="ellipse">
            <a:avLst/>
          </a:prstGeom>
          <a:solidFill>
            <a:srgbClr val="F8E3DE"/>
          </a:solidFill>
          <a:ln w="12700">
            <a:solidFill>
              <a:srgbClr val="F8E3DE"/>
            </a:solidFill>
            <a:prstDash val="solid"/>
          </a:ln>
        </p:spPr>
      </p:sp>
      <p:pic>
        <p:nvPicPr>
          <p:cNvPr id="22" name="Image 3" descr="preencoded.png">    </p:cNvPr>
          <p:cNvPicPr>
            <a:picLocks noChangeAspect="1"/>
          </p:cNvPicPr>
          <p:nvPr/>
        </p:nvPicPr>
        <p:blipFill>
          <a:blip r:embed="rId4"/>
          <a:stretch>
            <a:fillRect/>
          </a:stretch>
        </p:blipFill>
        <p:spPr>
          <a:xfrm>
            <a:off x="805404" y="3777204"/>
            <a:ext cx="199705" cy="199705"/>
          </a:xfrm>
          <a:prstGeom prst="rect">
            <a:avLst/>
          </a:prstGeom>
        </p:spPr>
      </p:pic>
      <p:sp>
        <p:nvSpPr>
          <p:cNvPr id="23" name="Text 17"/>
          <p:cNvSpPr txBox="1"/>
          <p:nvPr/>
        </p:nvSpPr>
        <p:spPr>
          <a:xfrm>
            <a:off x="1207008" y="3685032"/>
            <a:ext cx="2743200" cy="38404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Hong Kong SFC (Nov 2024; Jun 2026)</a:t>
            </a:r>
            <a:endParaRPr lang="en-US" sz="1200" dirty="0"/>
          </a:p>
        </p:txBody>
      </p:sp>
      <p:sp>
        <p:nvSpPr>
          <p:cNvPr id="24" name="Text 18"/>
          <p:cNvSpPr txBox="1"/>
          <p:nvPr/>
        </p:nvSpPr>
        <p:spPr>
          <a:xfrm>
            <a:off x="731520" y="4160520"/>
            <a:ext cx="3200400"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AI-generated investment advice / research is a designated high-risk use with notification duties; internal and open-source AI deployments are attack surface.</a:t>
            </a:r>
            <a:endParaRPr lang="en-US" sz="1050" dirty="0"/>
          </a:p>
        </p:txBody>
      </p:sp>
      <p:sp>
        <p:nvSpPr>
          <p:cNvPr id="25" name="Shape 19"/>
          <p:cNvSpPr/>
          <p:nvPr/>
        </p:nvSpPr>
        <p:spPr>
          <a:xfrm>
            <a:off x="4315968" y="3520440"/>
            <a:ext cx="3566160" cy="1965960"/>
          </a:xfrm>
          <a:prstGeom prst="roundRect">
            <a:avLst>
              <a:gd name="adj" fmla="val 3721"/>
            </a:avLst>
          </a:prstGeom>
          <a:solidFill>
            <a:srgbClr val="F7F9FC"/>
          </a:solidFill>
          <a:ln w="9525">
            <a:solidFill>
              <a:srgbClr val="D5DDE9"/>
            </a:solidFill>
            <a:prstDash val="solid"/>
          </a:ln>
        </p:spPr>
      </p:sp>
      <p:sp>
        <p:nvSpPr>
          <p:cNvPr id="26" name="Shape 20"/>
          <p:cNvSpPr/>
          <p:nvPr/>
        </p:nvSpPr>
        <p:spPr>
          <a:xfrm>
            <a:off x="4480560" y="3685032"/>
            <a:ext cx="384048" cy="384048"/>
          </a:xfrm>
          <a:prstGeom prst="ellipse">
            <a:avLst/>
          </a:prstGeom>
          <a:solidFill>
            <a:srgbClr val="DDF0ED"/>
          </a:solidFill>
          <a:ln w="12700">
            <a:solidFill>
              <a:srgbClr val="DDF0ED"/>
            </a:solidFill>
            <a:prstDash val="solid"/>
          </a:ln>
        </p:spPr>
      </p:sp>
      <p:pic>
        <p:nvPicPr>
          <p:cNvPr id="27" name="Image 4" descr="preencoded.png">    </p:cNvPr>
          <p:cNvPicPr>
            <a:picLocks noChangeAspect="1"/>
          </p:cNvPicPr>
          <p:nvPr/>
        </p:nvPicPr>
        <p:blipFill>
          <a:blip r:embed="rId5"/>
          <a:stretch>
            <a:fillRect/>
          </a:stretch>
        </p:blipFill>
        <p:spPr>
          <a:xfrm>
            <a:off x="4572732" y="3777204"/>
            <a:ext cx="199705" cy="199705"/>
          </a:xfrm>
          <a:prstGeom prst="rect">
            <a:avLst/>
          </a:prstGeom>
        </p:spPr>
      </p:pic>
      <p:sp>
        <p:nvSpPr>
          <p:cNvPr id="28" name="Text 21"/>
          <p:cNvSpPr txBox="1"/>
          <p:nvPr/>
        </p:nvSpPr>
        <p:spPr>
          <a:xfrm>
            <a:off x="4974336" y="3685032"/>
            <a:ext cx="2743200" cy="38404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Singapore IMDA &amp; MAS (Jan / Mar 2026)</a:t>
            </a:r>
            <a:endParaRPr lang="en-US" sz="1200" dirty="0"/>
          </a:p>
        </p:txBody>
      </p:sp>
      <p:sp>
        <p:nvSpPr>
          <p:cNvPr id="29" name="Text 22"/>
          <p:cNvSpPr txBox="1"/>
          <p:nvPr/>
        </p:nvSpPr>
        <p:spPr>
          <a:xfrm>
            <a:off x="4498848" y="4160520"/>
            <a:ext cx="3200400"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First agentic-specific Model AI Governance Framework; MindForge operationalisation handbook for financial institutions.</a:t>
            </a:r>
            <a:endParaRPr lang="en-US" sz="1050" dirty="0"/>
          </a:p>
        </p:txBody>
      </p:sp>
      <p:sp>
        <p:nvSpPr>
          <p:cNvPr id="30" name="Shape 23"/>
          <p:cNvSpPr/>
          <p:nvPr/>
        </p:nvSpPr>
        <p:spPr>
          <a:xfrm>
            <a:off x="8083296" y="3520440"/>
            <a:ext cx="3566160" cy="1965960"/>
          </a:xfrm>
          <a:prstGeom prst="roundRect">
            <a:avLst>
              <a:gd name="adj" fmla="val 3721"/>
            </a:avLst>
          </a:prstGeom>
          <a:solidFill>
            <a:srgbClr val="F7F9FC"/>
          </a:solidFill>
          <a:ln w="9525">
            <a:solidFill>
              <a:srgbClr val="D5DDE9"/>
            </a:solidFill>
            <a:prstDash val="solid"/>
          </a:ln>
        </p:spPr>
      </p:sp>
      <p:sp>
        <p:nvSpPr>
          <p:cNvPr id="31" name="Shape 24"/>
          <p:cNvSpPr/>
          <p:nvPr/>
        </p:nvSpPr>
        <p:spPr>
          <a:xfrm>
            <a:off x="8247888" y="3685032"/>
            <a:ext cx="384048" cy="384048"/>
          </a:xfrm>
          <a:prstGeom prst="ellipse">
            <a:avLst/>
          </a:prstGeom>
          <a:solidFill>
            <a:srgbClr val="E3E9F3"/>
          </a:solidFill>
          <a:ln w="12700">
            <a:solidFill>
              <a:srgbClr val="E3E9F3"/>
            </a:solidFill>
            <a:prstDash val="solid"/>
          </a:ln>
        </p:spPr>
      </p:sp>
      <p:pic>
        <p:nvPicPr>
          <p:cNvPr id="32" name="Image 5" descr="preencoded.png">    </p:cNvPr>
          <p:cNvPicPr>
            <a:picLocks noChangeAspect="1"/>
          </p:cNvPicPr>
          <p:nvPr/>
        </p:nvPicPr>
        <p:blipFill>
          <a:blip r:embed="rId6"/>
          <a:stretch>
            <a:fillRect/>
          </a:stretch>
        </p:blipFill>
        <p:spPr>
          <a:xfrm>
            <a:off x="8340060" y="3777204"/>
            <a:ext cx="199705" cy="199705"/>
          </a:xfrm>
          <a:prstGeom prst="rect">
            <a:avLst/>
          </a:prstGeom>
        </p:spPr>
      </p:pic>
      <p:sp>
        <p:nvSpPr>
          <p:cNvPr id="33" name="Text 25"/>
          <p:cNvSpPr txBox="1"/>
          <p:nvPr/>
        </p:nvSpPr>
        <p:spPr>
          <a:xfrm>
            <a:off x="8741664" y="3685032"/>
            <a:ext cx="2743200" cy="384048"/>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Open comment windows</a:t>
            </a:r>
            <a:endParaRPr lang="en-US" sz="1200" dirty="0"/>
          </a:p>
        </p:txBody>
      </p:sp>
      <p:sp>
        <p:nvSpPr>
          <p:cNvPr id="34" name="Text 26"/>
          <p:cNvSpPr txBox="1"/>
          <p:nvPr/>
        </p:nvSpPr>
        <p:spPr>
          <a:xfrm>
            <a:off x="8266176" y="4160520"/>
            <a:ext cx="3200400" cy="118872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prEN 18229-3 (human oversight) to 22 Sept 2026; EDPB anonymisation to 30 Oct 2026 — two chances to shape rules that will bind memory-driven decisions.</a:t>
            </a:r>
            <a:endParaRPr lang="en-US" sz="1050" dirty="0"/>
          </a:p>
        </p:txBody>
      </p:sp>
      <p:sp>
        <p:nvSpPr>
          <p:cNvPr id="35" name="Shape 27"/>
          <p:cNvSpPr/>
          <p:nvPr/>
        </p:nvSpPr>
        <p:spPr>
          <a:xfrm>
            <a:off x="548640" y="5715000"/>
            <a:ext cx="11094415" cy="457200"/>
          </a:xfrm>
          <a:prstGeom prst="roundRect">
            <a:avLst>
              <a:gd name="adj" fmla="val 20000"/>
            </a:avLst>
          </a:prstGeom>
          <a:solidFill>
            <a:srgbClr val="12867A"/>
          </a:solidFill>
          <a:ln w="12700">
            <a:solidFill>
              <a:srgbClr val="12867A"/>
            </a:solidFill>
            <a:prstDash val="solid"/>
          </a:ln>
        </p:spPr>
      </p:sp>
      <p:sp>
        <p:nvSpPr>
          <p:cNvPr id="36" name="Text 28"/>
          <p:cNvSpPr txBox="1"/>
          <p:nvPr/>
        </p:nvSpPr>
        <p:spPr>
          <a:xfrm>
            <a:off x="822960" y="5715000"/>
            <a:ext cx="10545775" cy="45720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None of these changes the control set; they sharpen C16 (sensitive inference), C2 (erasure assurance) and C1/C20 (explainability) — and add APAC scope to C12.</a:t>
            </a:r>
            <a:endParaRPr lang="en-US" sz="1150" dirty="0"/>
          </a:p>
        </p:txBody>
      </p:sp>
      <p:sp>
        <p:nvSpPr>
          <p:cNvPr id="37" name="Text 29"/>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Memo Sections 6.5 and Appendix D. Other licensed jurisdictions (Japan, Australia, Canada) to be added by Legal/Regulatory Affairs.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NIST → engineering translation</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15</a:t>
            </a:r>
            <a:endParaRPr lang="en-US" sz="900" dirty="0"/>
          </a:p>
        </p:txBody>
      </p:sp>
      <p:sp>
        <p:nvSpPr>
          <p:cNvPr id="5" name="Text 3"/>
          <p:cNvSpPr txBox="1"/>
          <p:nvPr/>
        </p:nvSpPr>
        <p:spPr>
          <a:xfrm>
            <a:off x="548640" y="1298448"/>
            <a:ext cx="7315200" cy="365760"/>
          </a:xfrm>
          <a:prstGeom prst="rect">
            <a:avLst/>
          </a:prstGeom>
          <a:noFill/>
          <a:ln/>
        </p:spPr>
        <p:txBody>
          <a:bodyPr wrap="square" lIns="0" tIns="0" rIns="0" bIns="0" rtlCol="0" anchor="t"/>
          <a:lstStyle/>
          <a:p>
            <a:pPr indent="0" marL="0">
              <a:buNone/>
            </a:pPr>
            <a:r>
              <a:rPr lang="en-US" sz="1500" i="1" dirty="0">
                <a:solidFill>
                  <a:srgbClr val="5C6B80"/>
                </a:solidFill>
                <a:latin typeface="Calibri" pitchFamily="34" charset="0"/>
                <a:ea typeface="Calibri" pitchFamily="34" charset="-122"/>
                <a:cs typeface="Calibri" pitchFamily="34" charset="-120"/>
              </a:rPr>
              <a:t>Memory governance is continuous, not one-time approval.</a:t>
            </a:r>
            <a:endParaRPr lang="en-US" sz="1500" dirty="0"/>
          </a:p>
        </p:txBody>
      </p:sp>
      <p:sp>
        <p:nvSpPr>
          <p:cNvPr id="6" name="Shape 4"/>
          <p:cNvSpPr/>
          <p:nvPr/>
        </p:nvSpPr>
        <p:spPr>
          <a:xfrm flipV="1">
            <a:off x="3291840" y="2395728"/>
            <a:ext cx="0" cy="1261872"/>
          </a:xfrm>
          <a:prstGeom prst="line">
            <a:avLst/>
          </a:prstGeom>
          <a:noFill/>
          <a:ln w="19050">
            <a:solidFill>
              <a:srgbClr val="D5DDE9"/>
            </a:solidFill>
            <a:prstDash val="solid"/>
          </a:ln>
        </p:spPr>
      </p:sp>
      <p:sp>
        <p:nvSpPr>
          <p:cNvPr id="7" name="Shape 5"/>
          <p:cNvSpPr/>
          <p:nvPr/>
        </p:nvSpPr>
        <p:spPr>
          <a:xfrm>
            <a:off x="3291840" y="3657600"/>
            <a:ext cx="1261872" cy="0"/>
          </a:xfrm>
          <a:prstGeom prst="line">
            <a:avLst/>
          </a:prstGeom>
          <a:noFill/>
          <a:ln w="19050">
            <a:solidFill>
              <a:srgbClr val="D5DDE9"/>
            </a:solidFill>
            <a:prstDash val="solid"/>
          </a:ln>
        </p:spPr>
      </p:sp>
      <p:sp>
        <p:nvSpPr>
          <p:cNvPr id="8" name="Shape 6"/>
          <p:cNvSpPr/>
          <p:nvPr/>
        </p:nvSpPr>
        <p:spPr>
          <a:xfrm>
            <a:off x="3291840" y="3657600"/>
            <a:ext cx="0" cy="1261872"/>
          </a:xfrm>
          <a:prstGeom prst="line">
            <a:avLst/>
          </a:prstGeom>
          <a:noFill/>
          <a:ln w="19050">
            <a:solidFill>
              <a:srgbClr val="D5DDE9"/>
            </a:solidFill>
            <a:prstDash val="solid"/>
          </a:ln>
        </p:spPr>
      </p:sp>
      <p:sp>
        <p:nvSpPr>
          <p:cNvPr id="9" name="Shape 7"/>
          <p:cNvSpPr/>
          <p:nvPr/>
        </p:nvSpPr>
        <p:spPr>
          <a:xfrm flipH="1">
            <a:off x="2029968" y="3657600"/>
            <a:ext cx="1261872" cy="0"/>
          </a:xfrm>
          <a:prstGeom prst="line">
            <a:avLst/>
          </a:prstGeom>
          <a:noFill/>
          <a:ln w="19050">
            <a:solidFill>
              <a:srgbClr val="D5DDE9"/>
            </a:solidFill>
            <a:prstDash val="solid"/>
          </a:ln>
        </p:spPr>
      </p:sp>
      <p:sp>
        <p:nvSpPr>
          <p:cNvPr id="10" name="Shape 8"/>
          <p:cNvSpPr/>
          <p:nvPr/>
        </p:nvSpPr>
        <p:spPr>
          <a:xfrm>
            <a:off x="2788920" y="3154680"/>
            <a:ext cx="1005840" cy="1005840"/>
          </a:xfrm>
          <a:prstGeom prst="ellipse">
            <a:avLst/>
          </a:prstGeom>
          <a:solidFill>
            <a:srgbClr val="0B1F3A"/>
          </a:solidFill>
          <a:ln w="12700">
            <a:solidFill>
              <a:srgbClr val="0B1F3A"/>
            </a:solidFill>
            <a:prstDash val="solid"/>
          </a:ln>
        </p:spPr>
      </p:sp>
      <p:sp>
        <p:nvSpPr>
          <p:cNvPr id="11" name="Text 9"/>
          <p:cNvSpPr txBox="1"/>
          <p:nvPr/>
        </p:nvSpPr>
        <p:spPr>
          <a:xfrm>
            <a:off x="2788920" y="3154680"/>
            <a:ext cx="100584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RMF</a:t>
            </a:r>
            <a:endParaRPr lang="en-US" sz="1100" dirty="0"/>
          </a:p>
        </p:txBody>
      </p:sp>
      <p:sp>
        <p:nvSpPr>
          <p:cNvPr id="12" name="Shape 10"/>
          <p:cNvSpPr/>
          <p:nvPr/>
        </p:nvSpPr>
        <p:spPr>
          <a:xfrm>
            <a:off x="2907792" y="2011680"/>
            <a:ext cx="768096" cy="768096"/>
          </a:xfrm>
          <a:prstGeom prst="ellipse">
            <a:avLst/>
          </a:prstGeom>
          <a:solidFill>
            <a:srgbClr val="E3E9F3"/>
          </a:solidFill>
          <a:ln w="12700">
            <a:solidFill>
              <a:srgbClr val="E3E9F3"/>
            </a:solidFill>
            <a:prstDash val="solid"/>
          </a:ln>
        </p:spPr>
      </p:sp>
      <p:pic>
        <p:nvPicPr>
          <p:cNvPr id="13" name="Image 0" descr="preencoded.png">    </p:cNvPr>
          <p:cNvPicPr>
            <a:picLocks noChangeAspect="1"/>
          </p:cNvPicPr>
          <p:nvPr/>
        </p:nvPicPr>
        <p:blipFill>
          <a:blip r:embed="rId1"/>
          <a:stretch>
            <a:fillRect/>
          </a:stretch>
        </p:blipFill>
        <p:spPr>
          <a:xfrm>
            <a:off x="3092135" y="2196023"/>
            <a:ext cx="399410" cy="399410"/>
          </a:xfrm>
          <a:prstGeom prst="rect">
            <a:avLst/>
          </a:prstGeom>
        </p:spPr>
      </p:pic>
      <p:sp>
        <p:nvSpPr>
          <p:cNvPr id="14" name="Shape 11"/>
          <p:cNvSpPr/>
          <p:nvPr/>
        </p:nvSpPr>
        <p:spPr>
          <a:xfrm>
            <a:off x="4169664" y="3273552"/>
            <a:ext cx="768096" cy="768096"/>
          </a:xfrm>
          <a:prstGeom prst="ellipse">
            <a:avLst/>
          </a:prstGeom>
          <a:solidFill>
            <a:srgbClr val="DDF0ED"/>
          </a:solidFill>
          <a:ln w="12700">
            <a:solidFill>
              <a:srgbClr val="DDF0ED"/>
            </a:solidFill>
            <a:prstDash val="solid"/>
          </a:ln>
        </p:spPr>
      </p:sp>
      <p:pic>
        <p:nvPicPr>
          <p:cNvPr id="15" name="Image 1" descr="preencoded.png">    </p:cNvPr>
          <p:cNvPicPr>
            <a:picLocks noChangeAspect="1"/>
          </p:cNvPicPr>
          <p:nvPr/>
        </p:nvPicPr>
        <p:blipFill>
          <a:blip r:embed="rId2"/>
          <a:stretch>
            <a:fillRect/>
          </a:stretch>
        </p:blipFill>
        <p:spPr>
          <a:xfrm>
            <a:off x="4354007" y="3457895"/>
            <a:ext cx="399410" cy="399410"/>
          </a:xfrm>
          <a:prstGeom prst="rect">
            <a:avLst/>
          </a:prstGeom>
        </p:spPr>
      </p:pic>
      <p:sp>
        <p:nvSpPr>
          <p:cNvPr id="16" name="Shape 12"/>
          <p:cNvSpPr/>
          <p:nvPr/>
        </p:nvSpPr>
        <p:spPr>
          <a:xfrm>
            <a:off x="2907792" y="4535424"/>
            <a:ext cx="768096" cy="768096"/>
          </a:xfrm>
          <a:prstGeom prst="ellipse">
            <a:avLst/>
          </a:prstGeom>
          <a:solidFill>
            <a:srgbClr val="FBF1DE"/>
          </a:solidFill>
          <a:ln w="12700">
            <a:solidFill>
              <a:srgbClr val="FBF1DE"/>
            </a:solidFill>
            <a:prstDash val="solid"/>
          </a:ln>
        </p:spPr>
      </p:sp>
      <p:pic>
        <p:nvPicPr>
          <p:cNvPr id="17" name="Image 2" descr="preencoded.png">    </p:cNvPr>
          <p:cNvPicPr>
            <a:picLocks noChangeAspect="1"/>
          </p:cNvPicPr>
          <p:nvPr/>
        </p:nvPicPr>
        <p:blipFill>
          <a:blip r:embed="rId3"/>
          <a:stretch>
            <a:fillRect/>
          </a:stretch>
        </p:blipFill>
        <p:spPr>
          <a:xfrm>
            <a:off x="3092135" y="4719767"/>
            <a:ext cx="399410" cy="399410"/>
          </a:xfrm>
          <a:prstGeom prst="rect">
            <a:avLst/>
          </a:prstGeom>
        </p:spPr>
      </p:pic>
      <p:sp>
        <p:nvSpPr>
          <p:cNvPr id="18" name="Shape 13"/>
          <p:cNvSpPr/>
          <p:nvPr/>
        </p:nvSpPr>
        <p:spPr>
          <a:xfrm>
            <a:off x="1645920" y="3273552"/>
            <a:ext cx="768096" cy="768096"/>
          </a:xfrm>
          <a:prstGeom prst="ellipse">
            <a:avLst/>
          </a:prstGeom>
          <a:solidFill>
            <a:srgbClr val="F8E3DE"/>
          </a:solidFill>
          <a:ln w="12700">
            <a:solidFill>
              <a:srgbClr val="F8E3DE"/>
            </a:solidFill>
            <a:prstDash val="solid"/>
          </a:ln>
        </p:spPr>
      </p:sp>
      <p:pic>
        <p:nvPicPr>
          <p:cNvPr id="19" name="Image 3" descr="preencoded.png">    </p:cNvPr>
          <p:cNvPicPr>
            <a:picLocks noChangeAspect="1"/>
          </p:cNvPicPr>
          <p:nvPr/>
        </p:nvPicPr>
        <p:blipFill>
          <a:blip r:embed="rId4"/>
          <a:stretch>
            <a:fillRect/>
          </a:stretch>
        </p:blipFill>
        <p:spPr>
          <a:xfrm>
            <a:off x="1830263" y="3457895"/>
            <a:ext cx="399410" cy="399410"/>
          </a:xfrm>
          <a:prstGeom prst="rect">
            <a:avLst/>
          </a:prstGeom>
        </p:spPr>
      </p:pic>
      <p:sp>
        <p:nvSpPr>
          <p:cNvPr id="20" name="Shape 14"/>
          <p:cNvSpPr/>
          <p:nvPr/>
        </p:nvSpPr>
        <p:spPr>
          <a:xfrm>
            <a:off x="5852160" y="1783080"/>
            <a:ext cx="5760720" cy="804672"/>
          </a:xfrm>
          <a:prstGeom prst="roundRect">
            <a:avLst>
              <a:gd name="adj" fmla="val 9091"/>
            </a:avLst>
          </a:prstGeom>
          <a:solidFill>
            <a:srgbClr val="F7F9FC"/>
          </a:solidFill>
          <a:ln w="9525">
            <a:solidFill>
              <a:srgbClr val="D5DDE9"/>
            </a:solidFill>
            <a:prstDash val="solid"/>
          </a:ln>
        </p:spPr>
      </p:sp>
      <p:sp>
        <p:nvSpPr>
          <p:cNvPr id="21" name="Shape 15"/>
          <p:cNvSpPr/>
          <p:nvPr/>
        </p:nvSpPr>
        <p:spPr>
          <a:xfrm>
            <a:off x="5989320" y="1984248"/>
            <a:ext cx="1143000" cy="402336"/>
          </a:xfrm>
          <a:prstGeom prst="roundRect">
            <a:avLst>
              <a:gd name="adj" fmla="val 13636"/>
            </a:avLst>
          </a:prstGeom>
          <a:solidFill>
            <a:srgbClr val="E3E9F3"/>
          </a:solidFill>
          <a:ln w="12700">
            <a:solidFill>
              <a:srgbClr val="E3E9F3"/>
            </a:solidFill>
            <a:prstDash val="solid"/>
          </a:ln>
        </p:spPr>
      </p:sp>
      <p:sp>
        <p:nvSpPr>
          <p:cNvPr id="22" name="Text 16"/>
          <p:cNvSpPr txBox="1"/>
          <p:nvPr/>
        </p:nvSpPr>
        <p:spPr>
          <a:xfrm>
            <a:off x="5989320" y="1984248"/>
            <a:ext cx="1143000" cy="402336"/>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GOVERN</a:t>
            </a:r>
            <a:endParaRPr lang="en-US" sz="1100" dirty="0"/>
          </a:p>
        </p:txBody>
      </p:sp>
      <p:sp>
        <p:nvSpPr>
          <p:cNvPr id="23" name="Text 17"/>
          <p:cNvSpPr txBox="1"/>
          <p:nvPr/>
        </p:nvSpPr>
        <p:spPr>
          <a:xfrm>
            <a:off x="7269480" y="1892808"/>
            <a:ext cx="4206240" cy="603504"/>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policies, roles, accountability, inventory of memory stores</a:t>
            </a:r>
            <a:endParaRPr lang="en-US" sz="1200" dirty="0"/>
          </a:p>
        </p:txBody>
      </p:sp>
      <p:sp>
        <p:nvSpPr>
          <p:cNvPr id="24" name="Shape 18"/>
          <p:cNvSpPr/>
          <p:nvPr/>
        </p:nvSpPr>
        <p:spPr>
          <a:xfrm>
            <a:off x="5852160" y="2715768"/>
            <a:ext cx="5760720" cy="804672"/>
          </a:xfrm>
          <a:prstGeom prst="roundRect">
            <a:avLst>
              <a:gd name="adj" fmla="val 9091"/>
            </a:avLst>
          </a:prstGeom>
          <a:solidFill>
            <a:srgbClr val="F7F9FC"/>
          </a:solidFill>
          <a:ln w="9525">
            <a:solidFill>
              <a:srgbClr val="D5DDE9"/>
            </a:solidFill>
            <a:prstDash val="solid"/>
          </a:ln>
        </p:spPr>
      </p:sp>
      <p:sp>
        <p:nvSpPr>
          <p:cNvPr id="25" name="Shape 19"/>
          <p:cNvSpPr/>
          <p:nvPr/>
        </p:nvSpPr>
        <p:spPr>
          <a:xfrm>
            <a:off x="5989320" y="2916936"/>
            <a:ext cx="1143000" cy="402336"/>
          </a:xfrm>
          <a:prstGeom prst="roundRect">
            <a:avLst>
              <a:gd name="adj" fmla="val 13636"/>
            </a:avLst>
          </a:prstGeom>
          <a:solidFill>
            <a:srgbClr val="DDF0ED"/>
          </a:solidFill>
          <a:ln w="12700">
            <a:solidFill>
              <a:srgbClr val="DDF0ED"/>
            </a:solidFill>
            <a:prstDash val="solid"/>
          </a:ln>
        </p:spPr>
      </p:sp>
      <p:sp>
        <p:nvSpPr>
          <p:cNvPr id="26" name="Text 20"/>
          <p:cNvSpPr txBox="1"/>
          <p:nvPr/>
        </p:nvSpPr>
        <p:spPr>
          <a:xfrm>
            <a:off x="5989320" y="2916936"/>
            <a:ext cx="1143000" cy="402336"/>
          </a:xfrm>
          <a:prstGeom prst="rect">
            <a:avLst/>
          </a:prstGeom>
          <a:noFill/>
          <a:ln/>
        </p:spPr>
        <p:txBody>
          <a:bodyPr wrap="square" lIns="0" tIns="0" rIns="0" bIns="0" rtlCol="0" anchor="ctr"/>
          <a:lstStyle/>
          <a:p>
            <a:pPr algn="ctr" indent="0" marL="0">
              <a:buNone/>
            </a:pPr>
            <a:r>
              <a:rPr lang="en-US" sz="1100" b="1" dirty="0">
                <a:solidFill>
                  <a:srgbClr val="12867A"/>
                </a:solidFill>
                <a:latin typeface="Calibri" pitchFamily="34" charset="0"/>
                <a:ea typeface="Calibri" pitchFamily="34" charset="-122"/>
                <a:cs typeface="Calibri" pitchFamily="34" charset="-120"/>
              </a:rPr>
              <a:t>MAP</a:t>
            </a:r>
            <a:endParaRPr lang="en-US" sz="1100" dirty="0"/>
          </a:p>
        </p:txBody>
      </p:sp>
      <p:sp>
        <p:nvSpPr>
          <p:cNvPr id="27" name="Text 21"/>
          <p:cNvSpPr txBox="1"/>
          <p:nvPr/>
        </p:nvSpPr>
        <p:spPr>
          <a:xfrm>
            <a:off x="7269480" y="2825496"/>
            <a:ext cx="4206240" cy="603504"/>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context, use cases, memory types, actors, risks and dependencies</a:t>
            </a:r>
            <a:endParaRPr lang="en-US" sz="1200" dirty="0"/>
          </a:p>
        </p:txBody>
      </p:sp>
      <p:sp>
        <p:nvSpPr>
          <p:cNvPr id="28" name="Shape 22"/>
          <p:cNvSpPr/>
          <p:nvPr/>
        </p:nvSpPr>
        <p:spPr>
          <a:xfrm>
            <a:off x="5852160" y="3648456"/>
            <a:ext cx="5760720" cy="804672"/>
          </a:xfrm>
          <a:prstGeom prst="roundRect">
            <a:avLst>
              <a:gd name="adj" fmla="val 9091"/>
            </a:avLst>
          </a:prstGeom>
          <a:solidFill>
            <a:srgbClr val="F7F9FC"/>
          </a:solidFill>
          <a:ln w="9525">
            <a:solidFill>
              <a:srgbClr val="D5DDE9"/>
            </a:solidFill>
            <a:prstDash val="solid"/>
          </a:ln>
        </p:spPr>
      </p:sp>
      <p:sp>
        <p:nvSpPr>
          <p:cNvPr id="29" name="Shape 23"/>
          <p:cNvSpPr/>
          <p:nvPr/>
        </p:nvSpPr>
        <p:spPr>
          <a:xfrm>
            <a:off x="5989320" y="3849624"/>
            <a:ext cx="1143000" cy="402336"/>
          </a:xfrm>
          <a:prstGeom prst="roundRect">
            <a:avLst>
              <a:gd name="adj" fmla="val 13636"/>
            </a:avLst>
          </a:prstGeom>
          <a:solidFill>
            <a:srgbClr val="FBF1DE"/>
          </a:solidFill>
          <a:ln w="12700">
            <a:solidFill>
              <a:srgbClr val="FBF1DE"/>
            </a:solidFill>
            <a:prstDash val="solid"/>
          </a:ln>
        </p:spPr>
      </p:sp>
      <p:sp>
        <p:nvSpPr>
          <p:cNvPr id="30" name="Text 24"/>
          <p:cNvSpPr txBox="1"/>
          <p:nvPr/>
        </p:nvSpPr>
        <p:spPr>
          <a:xfrm>
            <a:off x="5989320" y="3849624"/>
            <a:ext cx="1143000" cy="402336"/>
          </a:xfrm>
          <a:prstGeom prst="rect">
            <a:avLst/>
          </a:prstGeom>
          <a:noFill/>
          <a:ln/>
        </p:spPr>
        <p:txBody>
          <a:bodyPr wrap="square" lIns="0" tIns="0" rIns="0" bIns="0" rtlCol="0" anchor="ctr"/>
          <a:lstStyle/>
          <a:p>
            <a:pPr algn="ctr" indent="0" marL="0">
              <a:buNone/>
            </a:pPr>
            <a:r>
              <a:rPr lang="en-US" sz="1100" b="1" dirty="0">
                <a:solidFill>
                  <a:srgbClr val="D98E04"/>
                </a:solidFill>
                <a:latin typeface="Calibri" pitchFamily="34" charset="0"/>
                <a:ea typeface="Calibri" pitchFamily="34" charset="-122"/>
                <a:cs typeface="Calibri" pitchFamily="34" charset="-120"/>
              </a:rPr>
              <a:t>MEASURE</a:t>
            </a:r>
            <a:endParaRPr lang="en-US" sz="1100" dirty="0"/>
          </a:p>
        </p:txBody>
      </p:sp>
      <p:sp>
        <p:nvSpPr>
          <p:cNvPr id="31" name="Text 25"/>
          <p:cNvSpPr txBox="1"/>
          <p:nvPr/>
        </p:nvSpPr>
        <p:spPr>
          <a:xfrm>
            <a:off x="7269480" y="3758184"/>
            <a:ext cx="4206240" cy="603504"/>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conformance tests, leakage/erasure/lineage metrics, monitoring</a:t>
            </a:r>
            <a:endParaRPr lang="en-US" sz="1200" dirty="0"/>
          </a:p>
        </p:txBody>
      </p:sp>
      <p:sp>
        <p:nvSpPr>
          <p:cNvPr id="32" name="Shape 26"/>
          <p:cNvSpPr/>
          <p:nvPr/>
        </p:nvSpPr>
        <p:spPr>
          <a:xfrm>
            <a:off x="5852160" y="4581144"/>
            <a:ext cx="5760720" cy="804672"/>
          </a:xfrm>
          <a:prstGeom prst="roundRect">
            <a:avLst>
              <a:gd name="adj" fmla="val 9091"/>
            </a:avLst>
          </a:prstGeom>
          <a:solidFill>
            <a:srgbClr val="F7F9FC"/>
          </a:solidFill>
          <a:ln w="9525">
            <a:solidFill>
              <a:srgbClr val="D5DDE9"/>
            </a:solidFill>
            <a:prstDash val="solid"/>
          </a:ln>
        </p:spPr>
      </p:sp>
      <p:sp>
        <p:nvSpPr>
          <p:cNvPr id="33" name="Shape 27"/>
          <p:cNvSpPr/>
          <p:nvPr/>
        </p:nvSpPr>
        <p:spPr>
          <a:xfrm>
            <a:off x="5989320" y="4782312"/>
            <a:ext cx="1143000" cy="402336"/>
          </a:xfrm>
          <a:prstGeom prst="roundRect">
            <a:avLst>
              <a:gd name="adj" fmla="val 13636"/>
            </a:avLst>
          </a:prstGeom>
          <a:solidFill>
            <a:srgbClr val="F8E3DE"/>
          </a:solidFill>
          <a:ln w="12700">
            <a:solidFill>
              <a:srgbClr val="F8E3DE"/>
            </a:solidFill>
            <a:prstDash val="solid"/>
          </a:ln>
        </p:spPr>
      </p:sp>
      <p:sp>
        <p:nvSpPr>
          <p:cNvPr id="34" name="Text 28"/>
          <p:cNvSpPr txBox="1"/>
          <p:nvPr/>
        </p:nvSpPr>
        <p:spPr>
          <a:xfrm>
            <a:off x="5989320" y="4782312"/>
            <a:ext cx="1143000" cy="402336"/>
          </a:xfrm>
          <a:prstGeom prst="rect">
            <a:avLst/>
          </a:prstGeom>
          <a:noFill/>
          <a:ln/>
        </p:spPr>
        <p:txBody>
          <a:bodyPr wrap="square" lIns="0" tIns="0" rIns="0" bIns="0" rtlCol="0" anchor="ctr"/>
          <a:lstStyle/>
          <a:p>
            <a:pPr algn="ctr" indent="0" marL="0">
              <a:buNone/>
            </a:pPr>
            <a:r>
              <a:rPr lang="en-US" sz="1100" b="1" dirty="0">
                <a:solidFill>
                  <a:srgbClr val="C8452B"/>
                </a:solidFill>
                <a:latin typeface="Calibri" pitchFamily="34" charset="0"/>
                <a:ea typeface="Calibri" pitchFamily="34" charset="-122"/>
                <a:cs typeface="Calibri" pitchFamily="34" charset="-120"/>
              </a:rPr>
              <a:t>MANAGE</a:t>
            </a:r>
            <a:endParaRPr lang="en-US" sz="1100" dirty="0"/>
          </a:p>
        </p:txBody>
      </p:sp>
      <p:sp>
        <p:nvSpPr>
          <p:cNvPr id="35" name="Text 29"/>
          <p:cNvSpPr txBox="1"/>
          <p:nvPr/>
        </p:nvSpPr>
        <p:spPr>
          <a:xfrm>
            <a:off x="7269480" y="4690872"/>
            <a:ext cx="4206240" cy="603504"/>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controls, mitigations, kill switch, incident response</a:t>
            </a:r>
            <a:endParaRPr lang="en-US" sz="1200" dirty="0"/>
          </a:p>
        </p:txBody>
      </p:sp>
      <p:sp>
        <p:nvSpPr>
          <p:cNvPr id="36" name="Shape 30"/>
          <p:cNvSpPr/>
          <p:nvPr/>
        </p:nvSpPr>
        <p:spPr>
          <a:xfrm>
            <a:off x="548640" y="5669280"/>
            <a:ext cx="11094415" cy="530352"/>
          </a:xfrm>
          <a:prstGeom prst="roundRect">
            <a:avLst>
              <a:gd name="adj" fmla="val 17241"/>
            </a:avLst>
          </a:prstGeom>
          <a:solidFill>
            <a:srgbClr val="12867A"/>
          </a:solidFill>
          <a:ln w="12700">
            <a:solidFill>
              <a:srgbClr val="12867A"/>
            </a:solidFill>
            <a:prstDash val="solid"/>
          </a:ln>
        </p:spPr>
      </p:sp>
      <p:sp>
        <p:nvSpPr>
          <p:cNvPr id="37" name="Text 31"/>
          <p:cNvSpPr txBox="1"/>
          <p:nvPr/>
        </p:nvSpPr>
        <p:spPr>
          <a:xfrm>
            <a:off x="822960" y="5669280"/>
            <a:ext cx="10545775" cy="5303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NIST AI 100-2e2025 now names agent memory poisoning, indirect prompt injection and tool/supply-chain attacks — the memory threat classes on the operational-controls slide are built on it.</a:t>
            </a:r>
            <a:endParaRPr lang="en-US" sz="1200" dirty="0"/>
          </a:p>
        </p:txBody>
      </p:sp>
      <p:sp>
        <p:nvSpPr>
          <p:cNvPr id="38" name="Text 32"/>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Sources: NIST AI RMF 1.0; NIST AI RMF Generative AI Profile; NIST AI 100-2e2025 adversarial ML taxonomy; CAISI AI Agent Standards Initiative (Feb 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flipH="1">
            <a:off x="7863840" y="1143000"/>
            <a:ext cx="1028700" cy="800100"/>
          </a:xfrm>
          <a:prstGeom prst="line">
            <a:avLst/>
          </a:prstGeom>
          <a:noFill/>
          <a:ln w="12700">
            <a:solidFill>
              <a:srgbClr val="12867A">
                <a:alpha val="70000"/>
              </a:srgbClr>
            </a:solidFill>
            <a:prstDash val="solid"/>
          </a:ln>
        </p:spPr>
      </p:sp>
      <p:sp>
        <p:nvSpPr>
          <p:cNvPr id="3" name="Shape 1"/>
          <p:cNvSpPr/>
          <p:nvPr/>
        </p:nvSpPr>
        <p:spPr>
          <a:xfrm>
            <a:off x="8892540" y="1143000"/>
            <a:ext cx="1143000" cy="628650"/>
          </a:xfrm>
          <a:prstGeom prst="line">
            <a:avLst/>
          </a:prstGeom>
          <a:noFill/>
          <a:ln w="12700">
            <a:solidFill>
              <a:srgbClr val="12867A">
                <a:alpha val="70000"/>
              </a:srgbClr>
            </a:solidFill>
            <a:prstDash val="solid"/>
          </a:ln>
        </p:spPr>
      </p:sp>
      <p:sp>
        <p:nvSpPr>
          <p:cNvPr id="4" name="Shape 2"/>
          <p:cNvSpPr/>
          <p:nvPr/>
        </p:nvSpPr>
        <p:spPr>
          <a:xfrm flipH="1">
            <a:off x="9406890" y="1771650"/>
            <a:ext cx="628650" cy="1085850"/>
          </a:xfrm>
          <a:prstGeom prst="line">
            <a:avLst/>
          </a:prstGeom>
          <a:noFill/>
          <a:ln w="12700">
            <a:solidFill>
              <a:srgbClr val="12867A">
                <a:alpha val="70000"/>
              </a:srgbClr>
            </a:solidFill>
            <a:prstDash val="solid"/>
          </a:ln>
        </p:spPr>
      </p:sp>
      <p:sp>
        <p:nvSpPr>
          <p:cNvPr id="5" name="Shape 3"/>
          <p:cNvSpPr/>
          <p:nvPr/>
        </p:nvSpPr>
        <p:spPr>
          <a:xfrm flipH="1">
            <a:off x="9406890" y="2628900"/>
            <a:ext cx="1543050" cy="228600"/>
          </a:xfrm>
          <a:prstGeom prst="line">
            <a:avLst/>
          </a:prstGeom>
          <a:noFill/>
          <a:ln w="12700">
            <a:solidFill>
              <a:srgbClr val="12867A">
                <a:alpha val="70000"/>
              </a:srgbClr>
            </a:solidFill>
            <a:prstDash val="solid"/>
          </a:ln>
        </p:spPr>
      </p:sp>
      <p:sp>
        <p:nvSpPr>
          <p:cNvPr id="6" name="Shape 4"/>
          <p:cNvSpPr/>
          <p:nvPr/>
        </p:nvSpPr>
        <p:spPr>
          <a:xfrm>
            <a:off x="7863840" y="1943100"/>
            <a:ext cx="685800" cy="1485900"/>
          </a:xfrm>
          <a:prstGeom prst="line">
            <a:avLst/>
          </a:prstGeom>
          <a:noFill/>
          <a:ln w="12700">
            <a:solidFill>
              <a:srgbClr val="12867A">
                <a:alpha val="70000"/>
              </a:srgbClr>
            </a:solidFill>
            <a:prstDash val="solid"/>
          </a:ln>
        </p:spPr>
      </p:sp>
      <p:sp>
        <p:nvSpPr>
          <p:cNvPr id="7" name="Shape 5"/>
          <p:cNvSpPr/>
          <p:nvPr/>
        </p:nvSpPr>
        <p:spPr>
          <a:xfrm flipH="1">
            <a:off x="8549640" y="2857500"/>
            <a:ext cx="857250" cy="571500"/>
          </a:xfrm>
          <a:prstGeom prst="line">
            <a:avLst/>
          </a:prstGeom>
          <a:noFill/>
          <a:ln w="12700">
            <a:solidFill>
              <a:srgbClr val="12867A">
                <a:alpha val="70000"/>
              </a:srgbClr>
            </a:solidFill>
            <a:prstDash val="solid"/>
          </a:ln>
        </p:spPr>
      </p:sp>
      <p:sp>
        <p:nvSpPr>
          <p:cNvPr id="8" name="Shape 6"/>
          <p:cNvSpPr/>
          <p:nvPr/>
        </p:nvSpPr>
        <p:spPr>
          <a:xfrm flipH="1">
            <a:off x="10492740" y="2628900"/>
            <a:ext cx="457200" cy="1257300"/>
          </a:xfrm>
          <a:prstGeom prst="line">
            <a:avLst/>
          </a:prstGeom>
          <a:noFill/>
          <a:ln w="12700">
            <a:solidFill>
              <a:srgbClr val="12867A">
                <a:alpha val="70000"/>
              </a:srgbClr>
            </a:solidFill>
            <a:prstDash val="solid"/>
          </a:ln>
        </p:spPr>
      </p:sp>
      <p:sp>
        <p:nvSpPr>
          <p:cNvPr id="9" name="Shape 7"/>
          <p:cNvSpPr/>
          <p:nvPr/>
        </p:nvSpPr>
        <p:spPr>
          <a:xfrm>
            <a:off x="8549640" y="3429000"/>
            <a:ext cx="1943100" cy="457200"/>
          </a:xfrm>
          <a:prstGeom prst="line">
            <a:avLst/>
          </a:prstGeom>
          <a:noFill/>
          <a:ln w="12700">
            <a:solidFill>
              <a:srgbClr val="12867A">
                <a:alpha val="70000"/>
              </a:srgbClr>
            </a:solidFill>
            <a:prstDash val="solid"/>
          </a:ln>
        </p:spPr>
      </p:sp>
      <p:sp>
        <p:nvSpPr>
          <p:cNvPr id="10" name="Shape 8"/>
          <p:cNvSpPr/>
          <p:nvPr/>
        </p:nvSpPr>
        <p:spPr>
          <a:xfrm flipH="1">
            <a:off x="10035540" y="1600200"/>
            <a:ext cx="1714500" cy="171450"/>
          </a:xfrm>
          <a:prstGeom prst="line">
            <a:avLst/>
          </a:prstGeom>
          <a:noFill/>
          <a:ln w="12700">
            <a:solidFill>
              <a:srgbClr val="12867A">
                <a:alpha val="70000"/>
              </a:srgbClr>
            </a:solidFill>
            <a:prstDash val="solid"/>
          </a:ln>
        </p:spPr>
      </p:sp>
      <p:sp>
        <p:nvSpPr>
          <p:cNvPr id="11" name="Shape 9"/>
          <p:cNvSpPr/>
          <p:nvPr/>
        </p:nvSpPr>
        <p:spPr>
          <a:xfrm>
            <a:off x="11750040" y="1600200"/>
            <a:ext cx="228600" cy="1828800"/>
          </a:xfrm>
          <a:prstGeom prst="line">
            <a:avLst/>
          </a:prstGeom>
          <a:noFill/>
          <a:ln w="12700">
            <a:solidFill>
              <a:srgbClr val="12867A">
                <a:alpha val="70000"/>
              </a:srgbClr>
            </a:solidFill>
            <a:prstDash val="solid"/>
          </a:ln>
        </p:spPr>
      </p:sp>
      <p:sp>
        <p:nvSpPr>
          <p:cNvPr id="12" name="Shape 10"/>
          <p:cNvSpPr/>
          <p:nvPr/>
        </p:nvSpPr>
        <p:spPr>
          <a:xfrm>
            <a:off x="10949940" y="2628900"/>
            <a:ext cx="1028700" cy="800100"/>
          </a:xfrm>
          <a:prstGeom prst="line">
            <a:avLst/>
          </a:prstGeom>
          <a:noFill/>
          <a:ln w="12700">
            <a:solidFill>
              <a:srgbClr val="12867A">
                <a:alpha val="70000"/>
              </a:srgbClr>
            </a:solidFill>
            <a:prstDash val="solid"/>
          </a:ln>
        </p:spPr>
      </p:sp>
      <p:sp>
        <p:nvSpPr>
          <p:cNvPr id="13" name="Shape 11"/>
          <p:cNvSpPr/>
          <p:nvPr/>
        </p:nvSpPr>
        <p:spPr>
          <a:xfrm>
            <a:off x="7738110" y="1817370"/>
            <a:ext cx="251460" cy="251460"/>
          </a:xfrm>
          <a:prstGeom prst="ellipse">
            <a:avLst/>
          </a:prstGeom>
          <a:solidFill>
            <a:srgbClr val="D98E04"/>
          </a:solidFill>
          <a:ln w="12700">
            <a:solidFill>
              <a:srgbClr val="12867A"/>
            </a:solidFill>
            <a:prstDash val="solid"/>
          </a:ln>
        </p:spPr>
      </p:sp>
      <p:sp>
        <p:nvSpPr>
          <p:cNvPr id="14" name="Shape 12"/>
          <p:cNvSpPr/>
          <p:nvPr/>
        </p:nvSpPr>
        <p:spPr>
          <a:xfrm>
            <a:off x="8818245" y="1068705"/>
            <a:ext cx="148590" cy="148590"/>
          </a:xfrm>
          <a:prstGeom prst="ellipse">
            <a:avLst/>
          </a:prstGeom>
          <a:solidFill>
            <a:srgbClr val="12867A">
              <a:alpha val="70000"/>
            </a:srgbClr>
          </a:solidFill>
          <a:ln w="12700">
            <a:solidFill>
              <a:srgbClr val="12867A"/>
            </a:solidFill>
            <a:prstDash val="solid"/>
          </a:ln>
        </p:spPr>
      </p:sp>
      <p:sp>
        <p:nvSpPr>
          <p:cNvPr id="15" name="Shape 13"/>
          <p:cNvSpPr/>
          <p:nvPr/>
        </p:nvSpPr>
        <p:spPr>
          <a:xfrm>
            <a:off x="9961245" y="1697355"/>
            <a:ext cx="148590" cy="148590"/>
          </a:xfrm>
          <a:prstGeom prst="ellipse">
            <a:avLst/>
          </a:prstGeom>
          <a:solidFill>
            <a:srgbClr val="12867A">
              <a:alpha val="70000"/>
            </a:srgbClr>
          </a:solidFill>
          <a:ln w="12700">
            <a:solidFill>
              <a:srgbClr val="12867A"/>
            </a:solidFill>
            <a:prstDash val="solid"/>
          </a:ln>
        </p:spPr>
      </p:sp>
      <p:sp>
        <p:nvSpPr>
          <p:cNvPr id="16" name="Shape 14"/>
          <p:cNvSpPr/>
          <p:nvPr/>
        </p:nvSpPr>
        <p:spPr>
          <a:xfrm>
            <a:off x="9281160" y="2731770"/>
            <a:ext cx="251460" cy="251460"/>
          </a:xfrm>
          <a:prstGeom prst="ellipse">
            <a:avLst/>
          </a:prstGeom>
          <a:solidFill>
            <a:srgbClr val="12867A"/>
          </a:solidFill>
          <a:ln w="12700">
            <a:solidFill>
              <a:srgbClr val="12867A"/>
            </a:solidFill>
            <a:prstDash val="solid"/>
          </a:ln>
        </p:spPr>
      </p:sp>
      <p:sp>
        <p:nvSpPr>
          <p:cNvPr id="17" name="Shape 15"/>
          <p:cNvSpPr/>
          <p:nvPr/>
        </p:nvSpPr>
        <p:spPr>
          <a:xfrm>
            <a:off x="10875645" y="2554605"/>
            <a:ext cx="148590" cy="148590"/>
          </a:xfrm>
          <a:prstGeom prst="ellipse">
            <a:avLst/>
          </a:prstGeom>
          <a:solidFill>
            <a:srgbClr val="D98E04">
              <a:alpha val="70000"/>
            </a:srgbClr>
          </a:solidFill>
          <a:ln w="12700">
            <a:solidFill>
              <a:srgbClr val="12867A"/>
            </a:solidFill>
            <a:prstDash val="solid"/>
          </a:ln>
        </p:spPr>
      </p:sp>
      <p:sp>
        <p:nvSpPr>
          <p:cNvPr id="18" name="Shape 16"/>
          <p:cNvSpPr/>
          <p:nvPr/>
        </p:nvSpPr>
        <p:spPr>
          <a:xfrm>
            <a:off x="8475345" y="3354705"/>
            <a:ext cx="148590" cy="148590"/>
          </a:xfrm>
          <a:prstGeom prst="ellipse">
            <a:avLst/>
          </a:prstGeom>
          <a:solidFill>
            <a:srgbClr val="12867A">
              <a:alpha val="70000"/>
            </a:srgbClr>
          </a:solidFill>
          <a:ln w="12700">
            <a:solidFill>
              <a:srgbClr val="12867A"/>
            </a:solidFill>
            <a:prstDash val="solid"/>
          </a:ln>
        </p:spPr>
      </p:sp>
      <p:sp>
        <p:nvSpPr>
          <p:cNvPr id="19" name="Shape 17"/>
          <p:cNvSpPr/>
          <p:nvPr/>
        </p:nvSpPr>
        <p:spPr>
          <a:xfrm>
            <a:off x="10367010" y="3760470"/>
            <a:ext cx="251460" cy="251460"/>
          </a:xfrm>
          <a:prstGeom prst="ellipse">
            <a:avLst/>
          </a:prstGeom>
          <a:solidFill>
            <a:srgbClr val="12867A"/>
          </a:solidFill>
          <a:ln w="12700">
            <a:solidFill>
              <a:srgbClr val="12867A"/>
            </a:solidFill>
            <a:prstDash val="solid"/>
          </a:ln>
        </p:spPr>
      </p:sp>
      <p:sp>
        <p:nvSpPr>
          <p:cNvPr id="20" name="Shape 18"/>
          <p:cNvSpPr/>
          <p:nvPr/>
        </p:nvSpPr>
        <p:spPr>
          <a:xfrm>
            <a:off x="11675745" y="1525905"/>
            <a:ext cx="148590" cy="148590"/>
          </a:xfrm>
          <a:prstGeom prst="ellipse">
            <a:avLst/>
          </a:prstGeom>
          <a:solidFill>
            <a:srgbClr val="12867A">
              <a:alpha val="70000"/>
            </a:srgbClr>
          </a:solidFill>
          <a:ln w="12700">
            <a:solidFill>
              <a:srgbClr val="12867A"/>
            </a:solidFill>
            <a:prstDash val="solid"/>
          </a:ln>
        </p:spPr>
      </p:sp>
      <p:sp>
        <p:nvSpPr>
          <p:cNvPr id="21" name="Shape 19"/>
          <p:cNvSpPr/>
          <p:nvPr/>
        </p:nvSpPr>
        <p:spPr>
          <a:xfrm>
            <a:off x="11904345" y="3354705"/>
            <a:ext cx="148590" cy="148590"/>
          </a:xfrm>
          <a:prstGeom prst="ellipse">
            <a:avLst/>
          </a:prstGeom>
          <a:solidFill>
            <a:srgbClr val="D98E04">
              <a:alpha val="70000"/>
            </a:srgbClr>
          </a:solidFill>
          <a:ln w="12700">
            <a:solidFill>
              <a:srgbClr val="12867A"/>
            </a:solidFill>
            <a:prstDash val="solid"/>
          </a:ln>
        </p:spPr>
      </p:sp>
      <p:sp>
        <p:nvSpPr>
          <p:cNvPr id="22" name="Text 20"/>
          <p:cNvSpPr txBox="1"/>
          <p:nvPr/>
        </p:nvSpPr>
        <p:spPr>
          <a:xfrm>
            <a:off x="548640" y="1463040"/>
            <a:ext cx="2743200" cy="1097280"/>
          </a:xfrm>
          <a:prstGeom prst="rect">
            <a:avLst/>
          </a:prstGeom>
          <a:noFill/>
          <a:ln/>
        </p:spPr>
        <p:txBody>
          <a:bodyPr wrap="square" lIns="0" tIns="0" rIns="0" bIns="0" rtlCol="0" anchor="t"/>
          <a:lstStyle/>
          <a:p>
            <a:pPr indent="0" marL="0">
              <a:buNone/>
            </a:pPr>
            <a:r>
              <a:rPr lang="en-US" sz="7200" b="1" dirty="0">
                <a:solidFill>
                  <a:srgbClr val="D98E04"/>
                </a:solidFill>
                <a:latin typeface="Cambria" pitchFamily="34" charset="0"/>
                <a:ea typeface="Cambria" pitchFamily="34" charset="-122"/>
                <a:cs typeface="Cambria" pitchFamily="34" charset="-120"/>
              </a:rPr>
              <a:t>03</a:t>
            </a:r>
            <a:endParaRPr lang="en-US" sz="7200" dirty="0"/>
          </a:p>
        </p:txBody>
      </p:sp>
      <p:sp>
        <p:nvSpPr>
          <p:cNvPr id="23" name="Text 21"/>
          <p:cNvSpPr txBox="1"/>
          <p:nvPr/>
        </p:nvSpPr>
        <p:spPr>
          <a:xfrm>
            <a:off x="548640" y="2651760"/>
            <a:ext cx="749808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Architecture: trusted RockAI envelope, replaceable memory engines</a:t>
            </a:r>
            <a:endParaRPr lang="en-US" sz="3400" dirty="0"/>
          </a:p>
        </p:txBody>
      </p:sp>
      <p:sp>
        <p:nvSpPr>
          <p:cNvPr id="24" name="Text 22"/>
          <p:cNvSpPr txBox="1"/>
          <p:nvPr/>
        </p:nvSpPr>
        <p:spPr>
          <a:xfrm>
            <a:off x="548640" y="4023360"/>
            <a:ext cx="6949440" cy="109728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The compliance layer must be owned by RockAI; third-party or OSS backends are admitted only through conformance controls — never trusted by default.</a:t>
            </a:r>
            <a:endParaRPr lang="en-US" sz="1500" dirty="0"/>
          </a:p>
        </p:txBody>
      </p:sp>
      <p:sp>
        <p:nvSpPr>
          <p:cNvPr id="25" name="Text 23"/>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RockAI Agent Memory Governance Framework  •  Internal research draft  •  Sept 2026  •  Not legal advice</a:t>
            </a:r>
            <a:endParaRPr lang="en-US" sz="900" dirty="0"/>
          </a:p>
        </p:txBody>
      </p:sp>
      <p:sp>
        <p:nvSpPr>
          <p:cNvPr id="26" name="Text 2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2700" b="1" dirty="0">
                <a:solidFill>
                  <a:srgbClr val="0B1F3A"/>
                </a:solidFill>
                <a:latin typeface="Cambria" pitchFamily="34" charset="0"/>
                <a:ea typeface="Cambria" pitchFamily="34" charset="-122"/>
                <a:cs typeface="Cambria" pitchFamily="34" charset="-120"/>
              </a:rPr>
              <a:t>Memoria and Graphiti: useful graph foundations, not control planes</a:t>
            </a:r>
            <a:endParaRPr lang="en-US" sz="27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17</a:t>
            </a:r>
            <a:endParaRPr lang="en-US" sz="900" dirty="0"/>
          </a:p>
        </p:txBody>
      </p:sp>
      <p:sp>
        <p:nvSpPr>
          <p:cNvPr id="5" name="Shape 3"/>
          <p:cNvSpPr/>
          <p:nvPr/>
        </p:nvSpPr>
        <p:spPr>
          <a:xfrm>
            <a:off x="548640" y="1371600"/>
            <a:ext cx="5440680" cy="1417320"/>
          </a:xfrm>
          <a:prstGeom prst="roundRect">
            <a:avLst>
              <a:gd name="adj" fmla="val 5161"/>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Memoria (in-house, arXiv:2512.12686)</a:t>
            </a:r>
            <a:endParaRPr lang="en-US" sz="1300" dirty="0"/>
          </a:p>
        </p:txBody>
      </p:sp>
      <p:sp>
        <p:nvSpPr>
          <p:cNvPr id="9" name="Text 6"/>
          <p:cNvSpPr txBox="1"/>
          <p:nvPr/>
        </p:nvSpPr>
        <p:spPr>
          <a:xfrm>
            <a:off x="731520" y="2011680"/>
            <a:ext cx="507492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Session-level summarization + weighted KG user modeling; captures traits, preferences and behavioral patterns as entities/relationships. Reported 87.1% accuracy and −38.7% latency vs. baselines.</a:t>
            </a:r>
            <a:endParaRPr lang="en-US" sz="1150" dirty="0"/>
          </a:p>
        </p:txBody>
      </p:sp>
      <p:sp>
        <p:nvSpPr>
          <p:cNvPr id="10" name="Shape 7"/>
          <p:cNvSpPr/>
          <p:nvPr/>
        </p:nvSpPr>
        <p:spPr>
          <a:xfrm>
            <a:off x="6190488" y="1371600"/>
            <a:ext cx="5440680" cy="1417320"/>
          </a:xfrm>
          <a:prstGeom prst="roundRect">
            <a:avLst>
              <a:gd name="adj" fmla="val 5161"/>
            </a:avLst>
          </a:prstGeom>
          <a:solidFill>
            <a:srgbClr val="F7F9FC"/>
          </a:solidFill>
          <a:ln w="9525">
            <a:solidFill>
              <a:srgbClr val="D5DDE9"/>
            </a:solidFill>
            <a:prstDash val="solid"/>
          </a:ln>
        </p:spPr>
      </p:sp>
      <p:sp>
        <p:nvSpPr>
          <p:cNvPr id="11" name="Shape 8"/>
          <p:cNvSpPr/>
          <p:nvPr/>
        </p:nvSpPr>
        <p:spPr>
          <a:xfrm>
            <a:off x="6355080" y="1536192"/>
            <a:ext cx="384048" cy="384048"/>
          </a:xfrm>
          <a:prstGeom prst="ellipse">
            <a:avLst/>
          </a:prstGeom>
          <a:solidFill>
            <a:srgbClr val="DDF0ED"/>
          </a:solidFill>
          <a:ln w="12700">
            <a:solidFill>
              <a:srgbClr val="DDF0ED"/>
            </a:solidFill>
            <a:prstDash val="solid"/>
          </a:ln>
        </p:spPr>
      </p:sp>
      <p:pic>
        <p:nvPicPr>
          <p:cNvPr id="12" name="Image 1" descr="preencoded.png">    </p:cNvPr>
          <p:cNvPicPr>
            <a:picLocks noChangeAspect="1"/>
          </p:cNvPicPr>
          <p:nvPr/>
        </p:nvPicPr>
        <p:blipFill>
          <a:blip r:embed="rId2"/>
          <a:stretch>
            <a:fillRect/>
          </a:stretch>
        </p:blipFill>
        <p:spPr>
          <a:xfrm>
            <a:off x="6447252" y="1628364"/>
            <a:ext cx="199705" cy="199705"/>
          </a:xfrm>
          <a:prstGeom prst="rect">
            <a:avLst/>
          </a:prstGeom>
        </p:spPr>
      </p:pic>
      <p:sp>
        <p:nvSpPr>
          <p:cNvPr id="13" name="Text 9"/>
          <p:cNvSpPr txBox="1"/>
          <p:nvPr/>
        </p:nvSpPr>
        <p:spPr>
          <a:xfrm>
            <a:off x="6848856" y="153619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Graphiti (self-hosted OSS, Zep core)</a:t>
            </a:r>
            <a:endParaRPr lang="en-US" sz="1300" dirty="0"/>
          </a:p>
        </p:txBody>
      </p:sp>
      <p:sp>
        <p:nvSpPr>
          <p:cNvPr id="14" name="Text 10"/>
          <p:cNvSpPr txBox="1"/>
          <p:nvPr/>
        </p:nvSpPr>
        <p:spPr>
          <a:xfrm>
            <a:off x="6373368" y="2011680"/>
            <a:ext cx="507492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Bi-temporal context graph: episodes, entities, relationships, valid_at/invalid_at windows; delete_episode / delete_entity_edge primitives; provider-configurable LLM and embedder (defaults to OpenAI).</a:t>
            </a:r>
            <a:endParaRPr lang="en-US" sz="1150" dirty="0"/>
          </a:p>
        </p:txBody>
      </p:sp>
      <p:sp>
        <p:nvSpPr>
          <p:cNvPr id="15" name="Shape 11"/>
          <p:cNvSpPr/>
          <p:nvPr/>
        </p:nvSpPr>
        <p:spPr>
          <a:xfrm>
            <a:off x="548640" y="2926080"/>
            <a:ext cx="5440680" cy="2331720"/>
          </a:xfrm>
          <a:prstGeom prst="roundRect">
            <a:avLst>
              <a:gd name="adj" fmla="val 3137"/>
            </a:avLst>
          </a:prstGeom>
          <a:solidFill>
            <a:srgbClr val="F7F9FC"/>
          </a:solidFill>
          <a:ln w="9525">
            <a:solidFill>
              <a:srgbClr val="D5DDE9"/>
            </a:solidFill>
            <a:prstDash val="solid"/>
          </a:ln>
        </p:spPr>
      </p:sp>
      <p:sp>
        <p:nvSpPr>
          <p:cNvPr id="16" name="Shape 12"/>
          <p:cNvSpPr/>
          <p:nvPr/>
        </p:nvSpPr>
        <p:spPr>
          <a:xfrm>
            <a:off x="713232" y="3090672"/>
            <a:ext cx="384048" cy="384048"/>
          </a:xfrm>
          <a:prstGeom prst="ellipse">
            <a:avLst/>
          </a:prstGeom>
          <a:solidFill>
            <a:srgbClr val="FBF1DE"/>
          </a:solidFill>
          <a:ln w="12700">
            <a:solidFill>
              <a:srgbClr val="FBF1DE"/>
            </a:solidFill>
            <a:prstDash val="solid"/>
          </a:ln>
        </p:spPr>
      </p:sp>
      <p:pic>
        <p:nvPicPr>
          <p:cNvPr id="17" name="Image 2" descr="preencoded.png">    </p:cNvPr>
          <p:cNvPicPr>
            <a:picLocks noChangeAspect="1"/>
          </p:cNvPicPr>
          <p:nvPr/>
        </p:nvPicPr>
        <p:blipFill>
          <a:blip r:embed="rId3"/>
          <a:stretch>
            <a:fillRect/>
          </a:stretch>
        </p:blipFill>
        <p:spPr>
          <a:xfrm>
            <a:off x="805404" y="3182844"/>
            <a:ext cx="199705" cy="199705"/>
          </a:xfrm>
          <a:prstGeom prst="rect">
            <a:avLst/>
          </a:prstGeom>
        </p:spPr>
      </p:pic>
      <p:sp>
        <p:nvSpPr>
          <p:cNvPr id="18" name="Text 13"/>
          <p:cNvSpPr txBox="1"/>
          <p:nvPr/>
        </p:nvSpPr>
        <p:spPr>
          <a:xfrm>
            <a:off x="1207008" y="309067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Governance gap in Memoria</a:t>
            </a:r>
            <a:endParaRPr lang="en-US" sz="1300" dirty="0"/>
          </a:p>
        </p:txBody>
      </p:sp>
      <p:sp>
        <p:nvSpPr>
          <p:cNvPr id="19" name="Text 14"/>
          <p:cNvSpPr txBox="1"/>
          <p:nvPr/>
        </p:nvSpPr>
        <p:spPr>
          <a:xfrm>
            <a:off x="731520" y="3566160"/>
            <a:ext cx="5074920" cy="15544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Recency-weighted conflict resolution is useful, but “newer” is not always more authoritative</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Needs source authority, purpose, lineage, policy and lifecycle metadata on the graph itself</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AuthMem-Bench (Aug 2026) found this exact failure — “authority collapse” — in 48 of 49 systems tested</a:t>
            </a:r>
            <a:endParaRPr lang="en-US" sz="1150" dirty="0"/>
          </a:p>
        </p:txBody>
      </p:sp>
      <p:sp>
        <p:nvSpPr>
          <p:cNvPr id="20" name="Shape 15"/>
          <p:cNvSpPr/>
          <p:nvPr/>
        </p:nvSpPr>
        <p:spPr>
          <a:xfrm>
            <a:off x="6190488" y="2926080"/>
            <a:ext cx="5440680" cy="2331720"/>
          </a:xfrm>
          <a:prstGeom prst="roundRect">
            <a:avLst>
              <a:gd name="adj" fmla="val 3137"/>
            </a:avLst>
          </a:prstGeom>
          <a:solidFill>
            <a:srgbClr val="F7F9FC"/>
          </a:solidFill>
          <a:ln w="9525">
            <a:solidFill>
              <a:srgbClr val="D5DDE9"/>
            </a:solidFill>
            <a:prstDash val="solid"/>
          </a:ln>
        </p:spPr>
      </p:sp>
      <p:sp>
        <p:nvSpPr>
          <p:cNvPr id="21" name="Shape 16"/>
          <p:cNvSpPr/>
          <p:nvPr/>
        </p:nvSpPr>
        <p:spPr>
          <a:xfrm>
            <a:off x="6355080" y="3090672"/>
            <a:ext cx="384048" cy="384048"/>
          </a:xfrm>
          <a:prstGeom prst="ellipse">
            <a:avLst/>
          </a:prstGeom>
          <a:solidFill>
            <a:srgbClr val="F8E3DE"/>
          </a:solidFill>
          <a:ln w="12700">
            <a:solidFill>
              <a:srgbClr val="F8E3DE"/>
            </a:solidFill>
            <a:prstDash val="solid"/>
          </a:ln>
        </p:spPr>
      </p:sp>
      <p:pic>
        <p:nvPicPr>
          <p:cNvPr id="22" name="Image 3" descr="preencoded.png">    </p:cNvPr>
          <p:cNvPicPr>
            <a:picLocks noChangeAspect="1"/>
          </p:cNvPicPr>
          <p:nvPr/>
        </p:nvPicPr>
        <p:blipFill>
          <a:blip r:embed="rId4"/>
          <a:stretch>
            <a:fillRect/>
          </a:stretch>
        </p:blipFill>
        <p:spPr>
          <a:xfrm>
            <a:off x="6447252" y="3182844"/>
            <a:ext cx="199705" cy="199705"/>
          </a:xfrm>
          <a:prstGeom prst="rect">
            <a:avLst/>
          </a:prstGeom>
        </p:spPr>
      </p:pic>
      <p:sp>
        <p:nvSpPr>
          <p:cNvPr id="23" name="Text 17"/>
          <p:cNvSpPr txBox="1"/>
          <p:nvPr/>
        </p:nvSpPr>
        <p:spPr>
          <a:xfrm>
            <a:off x="6848856" y="3090672"/>
            <a:ext cx="461772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Governance gap in Graphiti</a:t>
            </a:r>
            <a:endParaRPr lang="en-US" sz="1300" dirty="0"/>
          </a:p>
        </p:txBody>
      </p:sp>
      <p:sp>
        <p:nvSpPr>
          <p:cNvPr id="24" name="Text 18"/>
          <p:cNvSpPr txBox="1"/>
          <p:nvPr/>
        </p:nvSpPr>
        <p:spPr>
          <a:xfrm>
            <a:off x="6373368" y="3566160"/>
            <a:ext cx="5074920" cy="15544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Inspectable ≠ trustworthy: no guarantee of secure defaults, provider egress control, version stability or compliance semantics</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CVE-2026-32247 (CVSS 8.1): Cypher injection via MCP, cross-tenant exfiltration — patched 0.28.2</a:t>
            </a:r>
            <a:endParaRPr lang="en-US" sz="1150" dirty="0"/>
          </a:p>
          <a:p>
            <a:pPr marL="152400" indent="-152400">
              <a:spcAft>
                <a:spcPts val="400"/>
              </a:spcAft>
              <a:buSzPct val="100000"/>
              <a:buChar char="•"/>
            </a:pPr>
            <a:r>
              <a:rPr lang="en-US" sz="1150" dirty="0">
                <a:solidFill>
                  <a:srgbClr val="1F2937"/>
                </a:solidFill>
                <a:latin typeface="Calibri" pitchFamily="34" charset="0"/>
                <a:ea typeface="Calibri" pitchFamily="34" charset="-122"/>
                <a:cs typeface="Calibri" pitchFamily="34" charset="-120"/>
              </a:rPr>
              <a:t>CVE-2026-90601: unauthenticated REST-API auth bypass (CVSS 4.0 6.9, vs. 0.30.0–0.30.2), disclosed 13 Sept 2026 — unpatched, fix pending as PR only</a:t>
            </a:r>
            <a:endParaRPr lang="en-US" sz="1150" dirty="0"/>
          </a:p>
        </p:txBody>
      </p:sp>
      <p:sp>
        <p:nvSpPr>
          <p:cNvPr id="25" name="Shape 19"/>
          <p:cNvSpPr/>
          <p:nvPr/>
        </p:nvSpPr>
        <p:spPr>
          <a:xfrm>
            <a:off x="548640" y="5486400"/>
            <a:ext cx="11094415" cy="502920"/>
          </a:xfrm>
          <a:prstGeom prst="roundRect">
            <a:avLst>
              <a:gd name="adj" fmla="val 18182"/>
            </a:avLst>
          </a:prstGeom>
          <a:solidFill>
            <a:srgbClr val="0B1F3A"/>
          </a:solidFill>
          <a:ln w="12700">
            <a:solidFill>
              <a:srgbClr val="0B1F3A"/>
            </a:solidFill>
            <a:prstDash val="solid"/>
          </a:ln>
        </p:spPr>
      </p:sp>
      <p:sp>
        <p:nvSpPr>
          <p:cNvPr id="26" name="Text 20"/>
          <p:cNvSpPr txBox="1"/>
          <p:nvPr/>
        </p:nvSpPr>
        <p:spPr>
          <a:xfrm>
            <a:off x="822960" y="5486400"/>
            <a:ext cx="10545775"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Positioning: untrusted-but-inspectable engines behind a trusted RockAI memory gateway.</a:t>
            </a:r>
            <a:endParaRPr lang="en-US" sz="1300" dirty="0"/>
          </a:p>
        </p:txBody>
      </p:sp>
      <p:sp>
        <p:nvSpPr>
          <p:cNvPr id="27" name="Text 21"/>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Sources: Memoria paper; Graphiti repository; advisories GHSA-gg5m-55jj-8m5g and CVE-2026-90601; AuthMem-Bench (arXiv:2608.01679).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RockAI memory governance envelope</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18</a:t>
            </a:r>
            <a:endParaRPr lang="en-US" sz="900" dirty="0"/>
          </a:p>
        </p:txBody>
      </p:sp>
      <p:sp>
        <p:nvSpPr>
          <p:cNvPr id="5" name="Shape 3"/>
          <p:cNvSpPr/>
          <p:nvPr/>
        </p:nvSpPr>
        <p:spPr>
          <a:xfrm>
            <a:off x="2011680" y="1325880"/>
            <a:ext cx="1600200" cy="502920"/>
          </a:xfrm>
          <a:prstGeom prst="roundRect">
            <a:avLst>
              <a:gd name="adj" fmla="val 14545"/>
            </a:avLst>
          </a:prstGeom>
          <a:solidFill>
            <a:srgbClr val="FFFFFF"/>
          </a:solidFill>
          <a:ln w="9525">
            <a:solidFill>
              <a:srgbClr val="D5DDE9"/>
            </a:solidFill>
            <a:prstDash val="solid"/>
          </a:ln>
        </p:spPr>
      </p:sp>
      <p:sp>
        <p:nvSpPr>
          <p:cNvPr id="6" name="Text 4"/>
          <p:cNvSpPr txBox="1"/>
          <p:nvPr/>
        </p:nvSpPr>
        <p:spPr>
          <a:xfrm>
            <a:off x="2011680" y="1325880"/>
            <a:ext cx="1600200" cy="50292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Research agent</a:t>
            </a:r>
            <a:endParaRPr lang="en-US" sz="1100" dirty="0"/>
          </a:p>
        </p:txBody>
      </p:sp>
      <p:sp>
        <p:nvSpPr>
          <p:cNvPr id="7" name="Shape 5"/>
          <p:cNvSpPr/>
          <p:nvPr/>
        </p:nvSpPr>
        <p:spPr>
          <a:xfrm>
            <a:off x="2811780" y="1828800"/>
            <a:ext cx="0" cy="411480"/>
          </a:xfrm>
          <a:prstGeom prst="line">
            <a:avLst/>
          </a:prstGeom>
          <a:noFill/>
          <a:ln w="19050">
            <a:solidFill>
              <a:srgbClr val="0B1F3A"/>
            </a:solidFill>
            <a:prstDash val="solid"/>
            <a:tailEnd type="triangle"/>
          </a:ln>
        </p:spPr>
      </p:sp>
      <p:sp>
        <p:nvSpPr>
          <p:cNvPr id="8" name="Shape 6"/>
          <p:cNvSpPr/>
          <p:nvPr/>
        </p:nvSpPr>
        <p:spPr>
          <a:xfrm>
            <a:off x="3721608" y="1325880"/>
            <a:ext cx="1600200" cy="502920"/>
          </a:xfrm>
          <a:prstGeom prst="roundRect">
            <a:avLst>
              <a:gd name="adj" fmla="val 14545"/>
            </a:avLst>
          </a:prstGeom>
          <a:solidFill>
            <a:srgbClr val="FFFFFF"/>
          </a:solidFill>
          <a:ln w="9525">
            <a:solidFill>
              <a:srgbClr val="D5DDE9"/>
            </a:solidFill>
            <a:prstDash val="solid"/>
          </a:ln>
        </p:spPr>
      </p:sp>
      <p:sp>
        <p:nvSpPr>
          <p:cNvPr id="9" name="Text 7"/>
          <p:cNvSpPr txBox="1"/>
          <p:nvPr/>
        </p:nvSpPr>
        <p:spPr>
          <a:xfrm>
            <a:off x="3721608" y="1325880"/>
            <a:ext cx="1600200" cy="50292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Portfolio agent</a:t>
            </a:r>
            <a:endParaRPr lang="en-US" sz="1100" dirty="0"/>
          </a:p>
        </p:txBody>
      </p:sp>
      <p:sp>
        <p:nvSpPr>
          <p:cNvPr id="10" name="Shape 8"/>
          <p:cNvSpPr/>
          <p:nvPr/>
        </p:nvSpPr>
        <p:spPr>
          <a:xfrm>
            <a:off x="4521708" y="1828800"/>
            <a:ext cx="0" cy="411480"/>
          </a:xfrm>
          <a:prstGeom prst="line">
            <a:avLst/>
          </a:prstGeom>
          <a:noFill/>
          <a:ln w="19050">
            <a:solidFill>
              <a:srgbClr val="0B1F3A"/>
            </a:solidFill>
            <a:prstDash val="solid"/>
            <a:tailEnd type="triangle"/>
          </a:ln>
        </p:spPr>
      </p:sp>
      <p:sp>
        <p:nvSpPr>
          <p:cNvPr id="11" name="Shape 9"/>
          <p:cNvSpPr/>
          <p:nvPr/>
        </p:nvSpPr>
        <p:spPr>
          <a:xfrm>
            <a:off x="5431536" y="1325880"/>
            <a:ext cx="1600200" cy="502920"/>
          </a:xfrm>
          <a:prstGeom prst="roundRect">
            <a:avLst>
              <a:gd name="adj" fmla="val 14545"/>
            </a:avLst>
          </a:prstGeom>
          <a:solidFill>
            <a:srgbClr val="FFFFFF"/>
          </a:solidFill>
          <a:ln w="9525">
            <a:solidFill>
              <a:srgbClr val="D5DDE9"/>
            </a:solidFill>
            <a:prstDash val="solid"/>
          </a:ln>
        </p:spPr>
      </p:sp>
      <p:sp>
        <p:nvSpPr>
          <p:cNvPr id="12" name="Text 10"/>
          <p:cNvSpPr txBox="1"/>
          <p:nvPr/>
        </p:nvSpPr>
        <p:spPr>
          <a:xfrm>
            <a:off x="5431536" y="1325880"/>
            <a:ext cx="1600200" cy="50292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Client agent</a:t>
            </a:r>
            <a:endParaRPr lang="en-US" sz="1100" dirty="0"/>
          </a:p>
        </p:txBody>
      </p:sp>
      <p:sp>
        <p:nvSpPr>
          <p:cNvPr id="13" name="Shape 11"/>
          <p:cNvSpPr/>
          <p:nvPr/>
        </p:nvSpPr>
        <p:spPr>
          <a:xfrm>
            <a:off x="6231636" y="1828800"/>
            <a:ext cx="0" cy="411480"/>
          </a:xfrm>
          <a:prstGeom prst="line">
            <a:avLst/>
          </a:prstGeom>
          <a:noFill/>
          <a:ln w="19050">
            <a:solidFill>
              <a:srgbClr val="0B1F3A"/>
            </a:solidFill>
            <a:prstDash val="solid"/>
            <a:tailEnd type="triangle"/>
          </a:ln>
        </p:spPr>
      </p:sp>
      <p:sp>
        <p:nvSpPr>
          <p:cNvPr id="14" name="Shape 12"/>
          <p:cNvSpPr/>
          <p:nvPr/>
        </p:nvSpPr>
        <p:spPr>
          <a:xfrm>
            <a:off x="7141464" y="1325880"/>
            <a:ext cx="1600200" cy="502920"/>
          </a:xfrm>
          <a:prstGeom prst="roundRect">
            <a:avLst>
              <a:gd name="adj" fmla="val 14545"/>
            </a:avLst>
          </a:prstGeom>
          <a:solidFill>
            <a:srgbClr val="FFFFFF"/>
          </a:solidFill>
          <a:ln w="9525">
            <a:solidFill>
              <a:srgbClr val="D5DDE9"/>
            </a:solidFill>
            <a:prstDash val="solid"/>
          </a:ln>
        </p:spPr>
      </p:sp>
      <p:sp>
        <p:nvSpPr>
          <p:cNvPr id="15" name="Text 13"/>
          <p:cNvSpPr txBox="1"/>
          <p:nvPr/>
        </p:nvSpPr>
        <p:spPr>
          <a:xfrm>
            <a:off x="7141464" y="1325880"/>
            <a:ext cx="1600200" cy="50292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Ops agent</a:t>
            </a:r>
            <a:endParaRPr lang="en-US" sz="1100" dirty="0"/>
          </a:p>
        </p:txBody>
      </p:sp>
      <p:sp>
        <p:nvSpPr>
          <p:cNvPr id="16" name="Shape 14"/>
          <p:cNvSpPr/>
          <p:nvPr/>
        </p:nvSpPr>
        <p:spPr>
          <a:xfrm>
            <a:off x="7941564" y="1828800"/>
            <a:ext cx="0" cy="411480"/>
          </a:xfrm>
          <a:prstGeom prst="line">
            <a:avLst/>
          </a:prstGeom>
          <a:noFill/>
          <a:ln w="19050">
            <a:solidFill>
              <a:srgbClr val="0B1F3A"/>
            </a:solidFill>
            <a:prstDash val="solid"/>
            <a:tailEnd type="triangle"/>
          </a:ln>
        </p:spPr>
      </p:sp>
      <p:sp>
        <p:nvSpPr>
          <p:cNvPr id="17" name="Shape 15"/>
          <p:cNvSpPr/>
          <p:nvPr/>
        </p:nvSpPr>
        <p:spPr>
          <a:xfrm>
            <a:off x="8851392" y="1325880"/>
            <a:ext cx="1600200" cy="502920"/>
          </a:xfrm>
          <a:prstGeom prst="roundRect">
            <a:avLst>
              <a:gd name="adj" fmla="val 14545"/>
            </a:avLst>
          </a:prstGeom>
          <a:solidFill>
            <a:srgbClr val="FBF1DE"/>
          </a:solidFill>
          <a:ln w="9525">
            <a:solidFill>
              <a:srgbClr val="D98E04"/>
            </a:solidFill>
            <a:prstDash val="solid"/>
          </a:ln>
        </p:spPr>
      </p:sp>
      <p:sp>
        <p:nvSpPr>
          <p:cNvPr id="18" name="Text 16"/>
          <p:cNvSpPr txBox="1"/>
          <p:nvPr/>
        </p:nvSpPr>
        <p:spPr>
          <a:xfrm>
            <a:off x="8851392" y="1325880"/>
            <a:ext cx="1600200" cy="502920"/>
          </a:xfrm>
          <a:prstGeom prst="rect">
            <a:avLst/>
          </a:prstGeom>
          <a:noFill/>
          <a:ln/>
        </p:spPr>
        <p:txBody>
          <a:bodyPr wrap="square" lIns="0" tIns="0" rIns="0" bIns="0" rtlCol="0" anchor="ctr"/>
          <a:lstStyle/>
          <a:p>
            <a:pPr algn="ctr" indent="0" marL="0">
              <a:buNone/>
            </a:pPr>
            <a:r>
              <a:rPr lang="en-US" sz="950" b="1" dirty="0">
                <a:solidFill>
                  <a:srgbClr val="D98E04"/>
                </a:solidFill>
                <a:latin typeface="Calibri" pitchFamily="34" charset="0"/>
                <a:ea typeface="Calibri" pitchFamily="34" charset="-122"/>
                <a:cs typeface="Calibri" pitchFamily="34" charset="-120"/>
              </a:rPr>
              <a:t>Consolidation / background jobs</a:t>
            </a:r>
            <a:endParaRPr lang="en-US" sz="950" dirty="0"/>
          </a:p>
        </p:txBody>
      </p:sp>
      <p:sp>
        <p:nvSpPr>
          <p:cNvPr id="19" name="Shape 17"/>
          <p:cNvSpPr/>
          <p:nvPr/>
        </p:nvSpPr>
        <p:spPr>
          <a:xfrm>
            <a:off x="9651492" y="1828800"/>
            <a:ext cx="0" cy="411480"/>
          </a:xfrm>
          <a:prstGeom prst="line">
            <a:avLst/>
          </a:prstGeom>
          <a:noFill/>
          <a:ln w="19050">
            <a:solidFill>
              <a:srgbClr val="D98E04"/>
            </a:solidFill>
            <a:prstDash val="solid"/>
            <a:tailEnd type="triangle"/>
          </a:ln>
        </p:spPr>
      </p:sp>
      <p:sp>
        <p:nvSpPr>
          <p:cNvPr id="20" name="Text 18"/>
          <p:cNvSpPr txBox="1"/>
          <p:nvPr/>
        </p:nvSpPr>
        <p:spPr>
          <a:xfrm>
            <a:off x="548640" y="1325880"/>
            <a:ext cx="1371600" cy="502920"/>
          </a:xfrm>
          <a:prstGeom prst="rect">
            <a:avLst/>
          </a:prstGeom>
          <a:noFill/>
          <a:ln/>
        </p:spPr>
        <p:txBody>
          <a:bodyPr wrap="square" lIns="0" tIns="0" rIns="0" bIns="0" rtlCol="0" anchor="ctr"/>
          <a:lstStyle/>
          <a:p>
            <a:pPr indent="0" marL="0">
              <a:buNone/>
            </a:pPr>
            <a:r>
              <a:rPr lang="en-US" sz="1000" b="1" dirty="0">
                <a:solidFill>
                  <a:srgbClr val="5C6B80"/>
                </a:solidFill>
                <a:latin typeface="Calibri" pitchFamily="34" charset="0"/>
                <a:ea typeface="Calibri" pitchFamily="34" charset="-122"/>
                <a:cs typeface="Calibri" pitchFamily="34" charset="-120"/>
              </a:rPr>
              <a:t>Actors (all identified — C32)</a:t>
            </a:r>
            <a:endParaRPr lang="en-US" sz="1000" dirty="0"/>
          </a:p>
        </p:txBody>
      </p:sp>
      <p:sp>
        <p:nvSpPr>
          <p:cNvPr id="21" name="Shape 19"/>
          <p:cNvSpPr/>
          <p:nvPr/>
        </p:nvSpPr>
        <p:spPr>
          <a:xfrm>
            <a:off x="2011680" y="2240280"/>
            <a:ext cx="8366760" cy="548640"/>
          </a:xfrm>
          <a:prstGeom prst="roundRect">
            <a:avLst>
              <a:gd name="adj" fmla="val 13333"/>
            </a:avLst>
          </a:prstGeom>
          <a:solidFill>
            <a:srgbClr val="0B1F3A"/>
          </a:solidFill>
          <a:ln w="12700">
            <a:solidFill>
              <a:srgbClr val="0B1F3A"/>
            </a:solidFill>
            <a:prstDash val="solid"/>
          </a:ln>
        </p:spPr>
      </p:sp>
      <p:sp>
        <p:nvSpPr>
          <p:cNvPr id="22" name="Text 20"/>
          <p:cNvSpPr txBox="1"/>
          <p:nvPr/>
        </p:nvSpPr>
        <p:spPr>
          <a:xfrm>
            <a:off x="2011680" y="2240280"/>
            <a:ext cx="83667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Memory Governance Gateway  —  only holder of backend credentials; direct calls impossible, not merely prohibited; p95 overhead budget</a:t>
            </a:r>
            <a:endParaRPr lang="en-US" sz="1300" dirty="0"/>
          </a:p>
        </p:txBody>
      </p:sp>
      <p:sp>
        <p:nvSpPr>
          <p:cNvPr id="23" name="Text 21"/>
          <p:cNvSpPr txBox="1"/>
          <p:nvPr/>
        </p:nvSpPr>
        <p:spPr>
          <a:xfrm>
            <a:off x="548640" y="2240280"/>
            <a:ext cx="1371600" cy="548640"/>
          </a:xfrm>
          <a:prstGeom prst="rect">
            <a:avLst/>
          </a:prstGeom>
          <a:noFill/>
          <a:ln/>
        </p:spPr>
        <p:txBody>
          <a:bodyPr wrap="square" lIns="0" tIns="0" rIns="0" bIns="0" rtlCol="0" anchor="ctr"/>
          <a:lstStyle/>
          <a:p>
            <a:pPr indent="0" marL="0">
              <a:buNone/>
            </a:pPr>
            <a:r>
              <a:rPr lang="en-US" sz="1000" b="1" dirty="0">
                <a:solidFill>
                  <a:srgbClr val="5C6B80"/>
                </a:solidFill>
                <a:latin typeface="Calibri" pitchFamily="34" charset="0"/>
                <a:ea typeface="Calibri" pitchFamily="34" charset="-122"/>
                <a:cs typeface="Calibri" pitchFamily="34" charset="-120"/>
              </a:rPr>
              <a:t>Trusted envelope</a:t>
            </a:r>
            <a:endParaRPr lang="en-US" sz="1000" dirty="0"/>
          </a:p>
        </p:txBody>
      </p:sp>
      <p:sp>
        <p:nvSpPr>
          <p:cNvPr id="24" name="Shape 22"/>
          <p:cNvSpPr/>
          <p:nvPr/>
        </p:nvSpPr>
        <p:spPr>
          <a:xfrm>
            <a:off x="3337560" y="2788920"/>
            <a:ext cx="0" cy="274320"/>
          </a:xfrm>
          <a:prstGeom prst="line">
            <a:avLst/>
          </a:prstGeom>
          <a:noFill/>
          <a:ln w="19050">
            <a:solidFill>
              <a:srgbClr val="0B1F3A"/>
            </a:solidFill>
            <a:prstDash val="solid"/>
            <a:tailEnd type="triangle"/>
          </a:ln>
        </p:spPr>
      </p:sp>
      <p:sp>
        <p:nvSpPr>
          <p:cNvPr id="25" name="Shape 23"/>
          <p:cNvSpPr/>
          <p:nvPr/>
        </p:nvSpPr>
        <p:spPr>
          <a:xfrm>
            <a:off x="2011680" y="3063240"/>
            <a:ext cx="2697480" cy="1097280"/>
          </a:xfrm>
          <a:prstGeom prst="roundRect">
            <a:avLst>
              <a:gd name="adj" fmla="val 6667"/>
            </a:avLst>
          </a:prstGeom>
          <a:solidFill>
            <a:srgbClr val="F7F9FC"/>
          </a:solidFill>
          <a:ln w="9525">
            <a:solidFill>
              <a:srgbClr val="D5DDE9"/>
            </a:solidFill>
            <a:prstDash val="solid"/>
          </a:ln>
        </p:spPr>
      </p:sp>
      <p:sp>
        <p:nvSpPr>
          <p:cNvPr id="26" name="Shape 24"/>
          <p:cNvSpPr/>
          <p:nvPr/>
        </p:nvSpPr>
        <p:spPr>
          <a:xfrm>
            <a:off x="2148840" y="3246120"/>
            <a:ext cx="457200" cy="457200"/>
          </a:xfrm>
          <a:prstGeom prst="ellipse">
            <a:avLst/>
          </a:prstGeom>
          <a:solidFill>
            <a:srgbClr val="E3E9F3"/>
          </a:solidFill>
          <a:ln w="12700">
            <a:solidFill>
              <a:srgbClr val="E3E9F3"/>
            </a:solidFill>
            <a:prstDash val="solid"/>
          </a:ln>
        </p:spPr>
      </p:sp>
      <p:pic>
        <p:nvPicPr>
          <p:cNvPr id="27" name="Image 0" descr="preencoded.png">    </p:cNvPr>
          <p:cNvPicPr>
            <a:picLocks noChangeAspect="1"/>
          </p:cNvPicPr>
          <p:nvPr/>
        </p:nvPicPr>
        <p:blipFill>
          <a:blip r:embed="rId1"/>
          <a:stretch>
            <a:fillRect/>
          </a:stretch>
        </p:blipFill>
        <p:spPr>
          <a:xfrm>
            <a:off x="2258568" y="3355848"/>
            <a:ext cx="237744" cy="237744"/>
          </a:xfrm>
          <a:prstGeom prst="rect">
            <a:avLst/>
          </a:prstGeom>
        </p:spPr>
      </p:pic>
      <p:sp>
        <p:nvSpPr>
          <p:cNvPr id="28" name="Text 25"/>
          <p:cNvSpPr txBox="1"/>
          <p:nvPr/>
        </p:nvSpPr>
        <p:spPr>
          <a:xfrm>
            <a:off x="2697480" y="3200400"/>
            <a:ext cx="1920240" cy="320040"/>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Policy engine</a:t>
            </a:r>
            <a:endParaRPr lang="en-US" sz="1250" dirty="0"/>
          </a:p>
        </p:txBody>
      </p:sp>
      <p:sp>
        <p:nvSpPr>
          <p:cNvPr id="29" name="Text 26"/>
          <p:cNvSpPr txBox="1"/>
          <p:nvPr/>
        </p:nvSpPr>
        <p:spPr>
          <a:xfrm>
            <a:off x="2697480" y="3538728"/>
            <a:ext cx="1920240" cy="62179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purpose, legal basis, allowed use, information barriers</a:t>
            </a:r>
            <a:endParaRPr lang="en-US" sz="1000" dirty="0"/>
          </a:p>
        </p:txBody>
      </p:sp>
      <p:sp>
        <p:nvSpPr>
          <p:cNvPr id="30" name="Shape 27"/>
          <p:cNvSpPr/>
          <p:nvPr/>
        </p:nvSpPr>
        <p:spPr>
          <a:xfrm>
            <a:off x="6172200" y="2788920"/>
            <a:ext cx="0" cy="274320"/>
          </a:xfrm>
          <a:prstGeom prst="line">
            <a:avLst/>
          </a:prstGeom>
          <a:noFill/>
          <a:ln w="19050">
            <a:solidFill>
              <a:srgbClr val="0B1F3A"/>
            </a:solidFill>
            <a:prstDash val="solid"/>
            <a:tailEnd type="triangle"/>
          </a:ln>
        </p:spPr>
      </p:sp>
      <p:sp>
        <p:nvSpPr>
          <p:cNvPr id="31" name="Shape 28"/>
          <p:cNvSpPr/>
          <p:nvPr/>
        </p:nvSpPr>
        <p:spPr>
          <a:xfrm>
            <a:off x="4846320" y="3063240"/>
            <a:ext cx="2697480" cy="1097280"/>
          </a:xfrm>
          <a:prstGeom prst="roundRect">
            <a:avLst>
              <a:gd name="adj" fmla="val 6667"/>
            </a:avLst>
          </a:prstGeom>
          <a:solidFill>
            <a:srgbClr val="F7F9FC"/>
          </a:solidFill>
          <a:ln w="9525">
            <a:solidFill>
              <a:srgbClr val="D5DDE9"/>
            </a:solidFill>
            <a:prstDash val="solid"/>
          </a:ln>
        </p:spPr>
      </p:sp>
      <p:sp>
        <p:nvSpPr>
          <p:cNvPr id="32" name="Shape 29"/>
          <p:cNvSpPr/>
          <p:nvPr/>
        </p:nvSpPr>
        <p:spPr>
          <a:xfrm>
            <a:off x="4983480" y="3246120"/>
            <a:ext cx="457200" cy="457200"/>
          </a:xfrm>
          <a:prstGeom prst="ellipse">
            <a:avLst/>
          </a:prstGeom>
          <a:solidFill>
            <a:srgbClr val="FBF1DE"/>
          </a:solidFill>
          <a:ln w="12700">
            <a:solidFill>
              <a:srgbClr val="FBF1DE"/>
            </a:solidFill>
            <a:prstDash val="solid"/>
          </a:ln>
        </p:spPr>
      </p:sp>
      <p:pic>
        <p:nvPicPr>
          <p:cNvPr id="33" name="Image 1" descr="preencoded.png">    </p:cNvPr>
          <p:cNvPicPr>
            <a:picLocks noChangeAspect="1"/>
          </p:cNvPicPr>
          <p:nvPr/>
        </p:nvPicPr>
        <p:blipFill>
          <a:blip r:embed="rId2"/>
          <a:stretch>
            <a:fillRect/>
          </a:stretch>
        </p:blipFill>
        <p:spPr>
          <a:xfrm>
            <a:off x="5093208" y="3355848"/>
            <a:ext cx="237744" cy="237744"/>
          </a:xfrm>
          <a:prstGeom prst="rect">
            <a:avLst/>
          </a:prstGeom>
        </p:spPr>
      </p:pic>
      <p:sp>
        <p:nvSpPr>
          <p:cNvPr id="34" name="Text 30"/>
          <p:cNvSpPr txBox="1"/>
          <p:nvPr/>
        </p:nvSpPr>
        <p:spPr>
          <a:xfrm>
            <a:off x="5532120" y="3200400"/>
            <a:ext cx="1920240" cy="320040"/>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Risk engine</a:t>
            </a:r>
            <a:endParaRPr lang="en-US" sz="1250" dirty="0"/>
          </a:p>
        </p:txBody>
      </p:sp>
      <p:sp>
        <p:nvSpPr>
          <p:cNvPr id="35" name="Text 31"/>
          <p:cNvSpPr txBox="1"/>
          <p:nvPr/>
        </p:nvSpPr>
        <p:spPr>
          <a:xfrm>
            <a:off x="5532120" y="3538728"/>
            <a:ext cx="1920240" cy="62179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sensitivity, inference, MNPI, leakage, poisoning signals</a:t>
            </a:r>
            <a:endParaRPr lang="en-US" sz="1000" dirty="0"/>
          </a:p>
        </p:txBody>
      </p:sp>
      <p:sp>
        <p:nvSpPr>
          <p:cNvPr id="36" name="Shape 32"/>
          <p:cNvSpPr/>
          <p:nvPr/>
        </p:nvSpPr>
        <p:spPr>
          <a:xfrm>
            <a:off x="9006840" y="2788920"/>
            <a:ext cx="0" cy="274320"/>
          </a:xfrm>
          <a:prstGeom prst="line">
            <a:avLst/>
          </a:prstGeom>
          <a:noFill/>
          <a:ln w="19050">
            <a:solidFill>
              <a:srgbClr val="0B1F3A"/>
            </a:solidFill>
            <a:prstDash val="solid"/>
            <a:tailEnd type="triangle"/>
          </a:ln>
        </p:spPr>
      </p:sp>
      <p:sp>
        <p:nvSpPr>
          <p:cNvPr id="37" name="Shape 33"/>
          <p:cNvSpPr/>
          <p:nvPr/>
        </p:nvSpPr>
        <p:spPr>
          <a:xfrm>
            <a:off x="7680960" y="3063240"/>
            <a:ext cx="2697480" cy="1097280"/>
          </a:xfrm>
          <a:prstGeom prst="roundRect">
            <a:avLst>
              <a:gd name="adj" fmla="val 6667"/>
            </a:avLst>
          </a:prstGeom>
          <a:solidFill>
            <a:srgbClr val="F7F9FC"/>
          </a:solidFill>
          <a:ln w="9525">
            <a:solidFill>
              <a:srgbClr val="D5DDE9"/>
            </a:solidFill>
            <a:prstDash val="solid"/>
          </a:ln>
        </p:spPr>
      </p:sp>
      <p:sp>
        <p:nvSpPr>
          <p:cNvPr id="38" name="Shape 34"/>
          <p:cNvSpPr/>
          <p:nvPr/>
        </p:nvSpPr>
        <p:spPr>
          <a:xfrm>
            <a:off x="7818120" y="3246120"/>
            <a:ext cx="457200" cy="457200"/>
          </a:xfrm>
          <a:prstGeom prst="ellipse">
            <a:avLst/>
          </a:prstGeom>
          <a:solidFill>
            <a:srgbClr val="DDF0ED"/>
          </a:solidFill>
          <a:ln w="12700">
            <a:solidFill>
              <a:srgbClr val="DDF0ED"/>
            </a:solidFill>
            <a:prstDash val="solid"/>
          </a:ln>
        </p:spPr>
      </p:sp>
      <p:pic>
        <p:nvPicPr>
          <p:cNvPr id="39" name="Image 2" descr="preencoded.png">    </p:cNvPr>
          <p:cNvPicPr>
            <a:picLocks noChangeAspect="1"/>
          </p:cNvPicPr>
          <p:nvPr/>
        </p:nvPicPr>
        <p:blipFill>
          <a:blip r:embed="rId3"/>
          <a:stretch>
            <a:fillRect/>
          </a:stretch>
        </p:blipFill>
        <p:spPr>
          <a:xfrm>
            <a:off x="7927848" y="3355848"/>
            <a:ext cx="237744" cy="237744"/>
          </a:xfrm>
          <a:prstGeom prst="rect">
            <a:avLst/>
          </a:prstGeom>
        </p:spPr>
      </p:pic>
      <p:sp>
        <p:nvSpPr>
          <p:cNvPr id="40" name="Text 35"/>
          <p:cNvSpPr txBox="1"/>
          <p:nvPr/>
        </p:nvSpPr>
        <p:spPr>
          <a:xfrm>
            <a:off x="8366760" y="3200400"/>
            <a:ext cx="1920240" cy="320040"/>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Audit engine</a:t>
            </a:r>
            <a:endParaRPr lang="en-US" sz="1250" dirty="0"/>
          </a:p>
        </p:txBody>
      </p:sp>
      <p:sp>
        <p:nvSpPr>
          <p:cNvPr id="41" name="Text 36"/>
          <p:cNvSpPr txBox="1"/>
          <p:nvPr/>
        </p:nvSpPr>
        <p:spPr>
          <a:xfrm>
            <a:off x="8366760" y="3538728"/>
            <a:ext cx="1920240" cy="621792"/>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lineage, event logs, versioning, deletion receipts</a:t>
            </a:r>
            <a:endParaRPr lang="en-US" sz="1000" dirty="0"/>
          </a:p>
        </p:txBody>
      </p:sp>
      <p:sp>
        <p:nvSpPr>
          <p:cNvPr id="42" name="Text 37"/>
          <p:cNvSpPr txBox="1"/>
          <p:nvPr/>
        </p:nvSpPr>
        <p:spPr>
          <a:xfrm>
            <a:off x="548640" y="3063240"/>
            <a:ext cx="1371600" cy="1097280"/>
          </a:xfrm>
          <a:prstGeom prst="rect">
            <a:avLst/>
          </a:prstGeom>
          <a:noFill/>
          <a:ln/>
        </p:spPr>
        <p:txBody>
          <a:bodyPr wrap="square" lIns="0" tIns="0" rIns="0" bIns="0" rtlCol="0" anchor="ctr"/>
          <a:lstStyle/>
          <a:p>
            <a:pPr indent="0" marL="0">
              <a:buNone/>
            </a:pPr>
            <a:r>
              <a:rPr lang="en-US" sz="1000" b="1" dirty="0">
                <a:solidFill>
                  <a:srgbClr val="5C6B80"/>
                </a:solidFill>
                <a:latin typeface="Calibri" pitchFamily="34" charset="0"/>
                <a:ea typeface="Calibri" pitchFamily="34" charset="-122"/>
                <a:cs typeface="Calibri" pitchFamily="34" charset="-120"/>
              </a:rPr>
              <a:t>Control engines</a:t>
            </a:r>
            <a:endParaRPr lang="en-US" sz="1000" dirty="0"/>
          </a:p>
        </p:txBody>
      </p:sp>
      <p:sp>
        <p:nvSpPr>
          <p:cNvPr id="43" name="Shape 38"/>
          <p:cNvSpPr/>
          <p:nvPr/>
        </p:nvSpPr>
        <p:spPr>
          <a:xfrm>
            <a:off x="2011680" y="4389120"/>
            <a:ext cx="8366760" cy="457200"/>
          </a:xfrm>
          <a:prstGeom prst="roundRect">
            <a:avLst>
              <a:gd name="adj" fmla="val 16000"/>
            </a:avLst>
          </a:prstGeom>
          <a:solidFill>
            <a:srgbClr val="12867A"/>
          </a:solidFill>
          <a:ln w="12700">
            <a:solidFill>
              <a:srgbClr val="12867A"/>
            </a:solidFill>
            <a:prstDash val="solid"/>
          </a:ln>
        </p:spPr>
      </p:sp>
      <p:sp>
        <p:nvSpPr>
          <p:cNvPr id="44" name="Text 39"/>
          <p:cNvSpPr txBox="1"/>
          <p:nvPr/>
        </p:nvSpPr>
        <p:spPr>
          <a:xfrm>
            <a:off x="2011680" y="4389120"/>
            <a:ext cx="83667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Common Memory API  (governed operations: write · derive · retrieve · restrict · erase · export)</a:t>
            </a:r>
            <a:endParaRPr lang="en-US" sz="1200" dirty="0"/>
          </a:p>
        </p:txBody>
      </p:sp>
      <p:sp>
        <p:nvSpPr>
          <p:cNvPr id="45" name="Shape 40"/>
          <p:cNvSpPr/>
          <p:nvPr/>
        </p:nvSpPr>
        <p:spPr>
          <a:xfrm>
            <a:off x="6190488" y="4160520"/>
            <a:ext cx="0" cy="228600"/>
          </a:xfrm>
          <a:prstGeom prst="line">
            <a:avLst/>
          </a:prstGeom>
          <a:noFill/>
          <a:ln w="19050">
            <a:solidFill>
              <a:srgbClr val="0B1F3A"/>
            </a:solidFill>
            <a:prstDash val="solid"/>
            <a:tailEnd type="triangle"/>
          </a:ln>
        </p:spPr>
      </p:sp>
      <p:sp>
        <p:nvSpPr>
          <p:cNvPr id="46" name="Text 41"/>
          <p:cNvSpPr txBox="1"/>
          <p:nvPr/>
        </p:nvSpPr>
        <p:spPr>
          <a:xfrm>
            <a:off x="548640" y="4389120"/>
            <a:ext cx="1371600" cy="457200"/>
          </a:xfrm>
          <a:prstGeom prst="rect">
            <a:avLst/>
          </a:prstGeom>
          <a:noFill/>
          <a:ln/>
        </p:spPr>
        <p:txBody>
          <a:bodyPr wrap="square" lIns="0" tIns="0" rIns="0" bIns="0" rtlCol="0" anchor="ctr"/>
          <a:lstStyle/>
          <a:p>
            <a:pPr indent="0" marL="0">
              <a:buNone/>
            </a:pPr>
            <a:r>
              <a:rPr lang="en-US" sz="1000" b="1" dirty="0">
                <a:solidFill>
                  <a:srgbClr val="5C6B80"/>
                </a:solidFill>
                <a:latin typeface="Calibri" pitchFamily="34" charset="0"/>
                <a:ea typeface="Calibri" pitchFamily="34" charset="-122"/>
                <a:cs typeface="Calibri" pitchFamily="34" charset="-120"/>
              </a:rPr>
              <a:t>Contract</a:t>
            </a:r>
            <a:endParaRPr lang="en-US" sz="1000" dirty="0"/>
          </a:p>
        </p:txBody>
      </p:sp>
      <p:sp>
        <p:nvSpPr>
          <p:cNvPr id="47" name="Shape 42"/>
          <p:cNvSpPr/>
          <p:nvPr/>
        </p:nvSpPr>
        <p:spPr>
          <a:xfrm>
            <a:off x="2971800" y="4846320"/>
            <a:ext cx="0" cy="274320"/>
          </a:xfrm>
          <a:prstGeom prst="line">
            <a:avLst/>
          </a:prstGeom>
          <a:noFill/>
          <a:ln w="19050">
            <a:solidFill>
              <a:srgbClr val="12867A"/>
            </a:solidFill>
            <a:prstDash val="solid"/>
            <a:tailEnd type="triangle"/>
          </a:ln>
        </p:spPr>
      </p:sp>
      <p:sp>
        <p:nvSpPr>
          <p:cNvPr id="48" name="Shape 43"/>
          <p:cNvSpPr/>
          <p:nvPr/>
        </p:nvSpPr>
        <p:spPr>
          <a:xfrm>
            <a:off x="2011680" y="5120640"/>
            <a:ext cx="1920240" cy="502920"/>
          </a:xfrm>
          <a:prstGeom prst="roundRect">
            <a:avLst>
              <a:gd name="adj" fmla="val 14545"/>
            </a:avLst>
          </a:prstGeom>
          <a:solidFill>
            <a:srgbClr val="FFFFFF"/>
          </a:solidFill>
          <a:ln w="9525">
            <a:solidFill>
              <a:srgbClr val="D5DDE9"/>
            </a:solidFill>
            <a:prstDash val="solid"/>
          </a:ln>
        </p:spPr>
      </p:sp>
      <p:sp>
        <p:nvSpPr>
          <p:cNvPr id="49" name="Text 44"/>
          <p:cNvSpPr txBox="1"/>
          <p:nvPr/>
        </p:nvSpPr>
        <p:spPr>
          <a:xfrm>
            <a:off x="2011680" y="5120640"/>
            <a:ext cx="1920240" cy="502920"/>
          </a:xfrm>
          <a:prstGeom prst="rect">
            <a:avLst/>
          </a:prstGeom>
          <a:noFill/>
          <a:ln/>
        </p:spPr>
        <p:txBody>
          <a:bodyPr wrap="square" lIns="0" tIns="0" rIns="0" bIns="0" rtlCol="0" anchor="ctr"/>
          <a:lstStyle/>
          <a:p>
            <a:pPr algn="ctr" indent="0" marL="0">
              <a:buNone/>
            </a:pPr>
            <a:r>
              <a:rPr lang="en-US" sz="1150" b="1" dirty="0">
                <a:solidFill>
                  <a:srgbClr val="0B1F3A"/>
                </a:solidFill>
                <a:latin typeface="Calibri" pitchFamily="34" charset="0"/>
                <a:ea typeface="Calibri" pitchFamily="34" charset="-122"/>
                <a:cs typeface="Calibri" pitchFamily="34" charset="-120"/>
              </a:rPr>
              <a:t>Memoria</a:t>
            </a:r>
            <a:endParaRPr lang="en-US" sz="1150" dirty="0"/>
          </a:p>
        </p:txBody>
      </p:sp>
      <p:sp>
        <p:nvSpPr>
          <p:cNvPr id="50" name="Shape 45"/>
          <p:cNvSpPr/>
          <p:nvPr/>
        </p:nvSpPr>
        <p:spPr>
          <a:xfrm>
            <a:off x="5120640" y="4846320"/>
            <a:ext cx="0" cy="274320"/>
          </a:xfrm>
          <a:prstGeom prst="line">
            <a:avLst/>
          </a:prstGeom>
          <a:noFill/>
          <a:ln w="19050">
            <a:solidFill>
              <a:srgbClr val="12867A"/>
            </a:solidFill>
            <a:prstDash val="solid"/>
            <a:tailEnd type="triangle"/>
          </a:ln>
        </p:spPr>
      </p:sp>
      <p:sp>
        <p:nvSpPr>
          <p:cNvPr id="51" name="Shape 46"/>
          <p:cNvSpPr/>
          <p:nvPr/>
        </p:nvSpPr>
        <p:spPr>
          <a:xfrm>
            <a:off x="4160520" y="5120640"/>
            <a:ext cx="1920240" cy="502920"/>
          </a:xfrm>
          <a:prstGeom prst="roundRect">
            <a:avLst>
              <a:gd name="adj" fmla="val 14545"/>
            </a:avLst>
          </a:prstGeom>
          <a:solidFill>
            <a:srgbClr val="FFFFFF"/>
          </a:solidFill>
          <a:ln w="9525">
            <a:solidFill>
              <a:srgbClr val="D5DDE9"/>
            </a:solidFill>
            <a:prstDash val="solid"/>
          </a:ln>
        </p:spPr>
      </p:sp>
      <p:sp>
        <p:nvSpPr>
          <p:cNvPr id="52" name="Text 47"/>
          <p:cNvSpPr txBox="1"/>
          <p:nvPr/>
        </p:nvSpPr>
        <p:spPr>
          <a:xfrm>
            <a:off x="4160520" y="5120640"/>
            <a:ext cx="1920240" cy="502920"/>
          </a:xfrm>
          <a:prstGeom prst="rect">
            <a:avLst/>
          </a:prstGeom>
          <a:noFill/>
          <a:ln/>
        </p:spPr>
        <p:txBody>
          <a:bodyPr wrap="square" lIns="0" tIns="0" rIns="0" bIns="0" rtlCol="0" anchor="ctr"/>
          <a:lstStyle/>
          <a:p>
            <a:pPr algn="ctr" indent="0" marL="0">
              <a:buNone/>
            </a:pPr>
            <a:r>
              <a:rPr lang="en-US" sz="1150" b="1" dirty="0">
                <a:solidFill>
                  <a:srgbClr val="0B1F3A"/>
                </a:solidFill>
                <a:latin typeface="Calibri" pitchFamily="34" charset="0"/>
                <a:ea typeface="Calibri" pitchFamily="34" charset="-122"/>
                <a:cs typeface="Calibri" pitchFamily="34" charset="-120"/>
              </a:rPr>
              <a:t>Graphiti</a:t>
            </a:r>
            <a:endParaRPr lang="en-US" sz="1150" dirty="0"/>
          </a:p>
        </p:txBody>
      </p:sp>
      <p:sp>
        <p:nvSpPr>
          <p:cNvPr id="53" name="Shape 48"/>
          <p:cNvSpPr/>
          <p:nvPr/>
        </p:nvSpPr>
        <p:spPr>
          <a:xfrm>
            <a:off x="7269480" y="4846320"/>
            <a:ext cx="0" cy="274320"/>
          </a:xfrm>
          <a:prstGeom prst="line">
            <a:avLst/>
          </a:prstGeom>
          <a:noFill/>
          <a:ln w="19050">
            <a:solidFill>
              <a:srgbClr val="12867A"/>
            </a:solidFill>
            <a:prstDash val="solid"/>
            <a:tailEnd type="triangle"/>
          </a:ln>
        </p:spPr>
      </p:sp>
      <p:sp>
        <p:nvSpPr>
          <p:cNvPr id="54" name="Shape 49"/>
          <p:cNvSpPr/>
          <p:nvPr/>
        </p:nvSpPr>
        <p:spPr>
          <a:xfrm>
            <a:off x="6309360" y="5120640"/>
            <a:ext cx="1920240" cy="502920"/>
          </a:xfrm>
          <a:prstGeom prst="roundRect">
            <a:avLst>
              <a:gd name="adj" fmla="val 14545"/>
            </a:avLst>
          </a:prstGeom>
          <a:solidFill>
            <a:srgbClr val="FFFFFF"/>
          </a:solidFill>
          <a:ln w="9525">
            <a:solidFill>
              <a:srgbClr val="D5DDE9"/>
            </a:solidFill>
            <a:prstDash val="solid"/>
          </a:ln>
        </p:spPr>
      </p:sp>
      <p:sp>
        <p:nvSpPr>
          <p:cNvPr id="55" name="Text 50"/>
          <p:cNvSpPr txBox="1"/>
          <p:nvPr/>
        </p:nvSpPr>
        <p:spPr>
          <a:xfrm>
            <a:off x="6309360" y="5120640"/>
            <a:ext cx="1920240" cy="502920"/>
          </a:xfrm>
          <a:prstGeom prst="rect">
            <a:avLst/>
          </a:prstGeom>
          <a:noFill/>
          <a:ln/>
        </p:spPr>
        <p:txBody>
          <a:bodyPr wrap="square" lIns="0" tIns="0" rIns="0" bIns="0" rtlCol="0" anchor="ctr"/>
          <a:lstStyle/>
          <a:p>
            <a:pPr algn="ctr" indent="0" marL="0">
              <a:buNone/>
            </a:pPr>
            <a:r>
              <a:rPr lang="en-US" sz="1150" b="1" dirty="0">
                <a:solidFill>
                  <a:srgbClr val="0B1F3A"/>
                </a:solidFill>
                <a:latin typeface="Calibri" pitchFamily="34" charset="0"/>
                <a:ea typeface="Calibri" pitchFamily="34" charset="-122"/>
                <a:cs typeface="Calibri" pitchFamily="34" charset="-120"/>
              </a:rPr>
              <a:t>Mem0 / Zep</a:t>
            </a:r>
            <a:endParaRPr lang="en-US" sz="1150" dirty="0"/>
          </a:p>
        </p:txBody>
      </p:sp>
      <p:sp>
        <p:nvSpPr>
          <p:cNvPr id="56" name="Shape 51"/>
          <p:cNvSpPr/>
          <p:nvPr/>
        </p:nvSpPr>
        <p:spPr>
          <a:xfrm>
            <a:off x="9418320" y="4846320"/>
            <a:ext cx="0" cy="274320"/>
          </a:xfrm>
          <a:prstGeom prst="line">
            <a:avLst/>
          </a:prstGeom>
          <a:noFill/>
          <a:ln w="19050">
            <a:solidFill>
              <a:srgbClr val="12867A"/>
            </a:solidFill>
            <a:prstDash val="solid"/>
            <a:tailEnd type="triangle"/>
          </a:ln>
        </p:spPr>
      </p:sp>
      <p:sp>
        <p:nvSpPr>
          <p:cNvPr id="57" name="Shape 52"/>
          <p:cNvSpPr/>
          <p:nvPr/>
        </p:nvSpPr>
        <p:spPr>
          <a:xfrm>
            <a:off x="8458200" y="5120640"/>
            <a:ext cx="1920240" cy="502920"/>
          </a:xfrm>
          <a:prstGeom prst="roundRect">
            <a:avLst>
              <a:gd name="adj" fmla="val 14545"/>
            </a:avLst>
          </a:prstGeom>
          <a:solidFill>
            <a:srgbClr val="FFFFFF"/>
          </a:solidFill>
          <a:ln w="9525">
            <a:solidFill>
              <a:srgbClr val="5C6B80"/>
            </a:solidFill>
            <a:prstDash val="solid"/>
          </a:ln>
        </p:spPr>
      </p:sp>
      <p:sp>
        <p:nvSpPr>
          <p:cNvPr id="58" name="Text 53"/>
          <p:cNvSpPr txBox="1"/>
          <p:nvPr/>
        </p:nvSpPr>
        <p:spPr>
          <a:xfrm>
            <a:off x="8458200" y="5120640"/>
            <a:ext cx="1920240" cy="502920"/>
          </a:xfrm>
          <a:prstGeom prst="rect">
            <a:avLst/>
          </a:prstGeom>
          <a:noFill/>
          <a:ln/>
        </p:spPr>
        <p:txBody>
          <a:bodyPr wrap="square" lIns="0" tIns="0" rIns="0" bIns="0" rtlCol="0" anchor="ctr"/>
          <a:lstStyle/>
          <a:p>
            <a:pPr algn="ctr" indent="0" marL="0">
              <a:buNone/>
            </a:pPr>
            <a:r>
              <a:rPr lang="en-US" sz="1150" b="1" dirty="0">
                <a:solidFill>
                  <a:srgbClr val="5C6B80"/>
                </a:solidFill>
                <a:latin typeface="Calibri" pitchFamily="34" charset="0"/>
                <a:ea typeface="Calibri" pitchFamily="34" charset="-122"/>
                <a:cs typeface="Calibri" pitchFamily="34" charset="-120"/>
              </a:rPr>
              <a:t>Future backend</a:t>
            </a:r>
            <a:endParaRPr lang="en-US" sz="1150" dirty="0"/>
          </a:p>
        </p:txBody>
      </p:sp>
      <p:sp>
        <p:nvSpPr>
          <p:cNvPr id="59" name="Text 54"/>
          <p:cNvSpPr txBox="1"/>
          <p:nvPr/>
        </p:nvSpPr>
        <p:spPr>
          <a:xfrm>
            <a:off x="548640" y="5120640"/>
            <a:ext cx="1371600" cy="502920"/>
          </a:xfrm>
          <a:prstGeom prst="rect">
            <a:avLst/>
          </a:prstGeom>
          <a:noFill/>
          <a:ln/>
        </p:spPr>
        <p:txBody>
          <a:bodyPr wrap="square" lIns="0" tIns="0" rIns="0" bIns="0" rtlCol="0" anchor="ctr"/>
          <a:lstStyle/>
          <a:p>
            <a:pPr indent="0" marL="0">
              <a:buNone/>
            </a:pPr>
            <a:r>
              <a:rPr lang="en-US" sz="1000" b="1" dirty="0">
                <a:solidFill>
                  <a:srgbClr val="5C6B80"/>
                </a:solidFill>
                <a:latin typeface="Calibri" pitchFamily="34" charset="0"/>
                <a:ea typeface="Calibri" pitchFamily="34" charset="-122"/>
                <a:cs typeface="Calibri" pitchFamily="34" charset="-120"/>
              </a:rPr>
              <a:t>Replaceable engines</a:t>
            </a:r>
            <a:endParaRPr lang="en-US" sz="1000" dirty="0"/>
          </a:p>
        </p:txBody>
      </p:sp>
      <p:sp>
        <p:nvSpPr>
          <p:cNvPr id="60" name="Text 55"/>
          <p:cNvSpPr txBox="1"/>
          <p:nvPr/>
        </p:nvSpPr>
        <p:spPr>
          <a:xfrm>
            <a:off x="2011680" y="5669280"/>
            <a:ext cx="8366760" cy="274320"/>
          </a:xfrm>
          <a:prstGeom prst="rect">
            <a:avLst/>
          </a:prstGeom>
          <a:noFill/>
          <a:ln/>
        </p:spPr>
        <p:txBody>
          <a:bodyPr wrap="square" lIns="0" tIns="0" rIns="0" bIns="0" rtlCol="0" anchor="t"/>
          <a:lstStyle/>
          <a:p>
            <a:pPr algn="ctr" indent="0" marL="0">
              <a:buNone/>
            </a:pPr>
            <a:r>
              <a:rPr lang="en-US" sz="1000" i="1" dirty="0">
                <a:solidFill>
                  <a:srgbClr val="5C6B80"/>
                </a:solidFill>
                <a:latin typeface="Calibri" pitchFamily="34" charset="0"/>
                <a:ea typeface="Calibri" pitchFamily="34" charset="-122"/>
                <a:cs typeface="Calibri" pitchFamily="34" charset="-120"/>
              </a:rPr>
              <a:t>→ approved storage and model providers only (pinned region, account, model, endpoint, subprocessors)</a:t>
            </a:r>
            <a:endParaRPr lang="en-US" sz="1000" dirty="0"/>
          </a:p>
        </p:txBody>
      </p:sp>
      <p:sp>
        <p:nvSpPr>
          <p:cNvPr id="61" name="Shape 56"/>
          <p:cNvSpPr/>
          <p:nvPr/>
        </p:nvSpPr>
        <p:spPr>
          <a:xfrm>
            <a:off x="10607040" y="1325880"/>
            <a:ext cx="1033272" cy="4297680"/>
          </a:xfrm>
          <a:prstGeom prst="roundRect">
            <a:avLst>
              <a:gd name="adj" fmla="val 7080"/>
            </a:avLst>
          </a:prstGeom>
          <a:solidFill>
            <a:srgbClr val="FBF1DE"/>
          </a:solidFill>
          <a:ln w="12700">
            <a:solidFill>
              <a:srgbClr val="FBF1DE"/>
            </a:solidFill>
            <a:prstDash val="solid"/>
          </a:ln>
        </p:spPr>
      </p:sp>
      <p:sp>
        <p:nvSpPr>
          <p:cNvPr id="62" name="Text 57"/>
          <p:cNvSpPr txBox="1"/>
          <p:nvPr/>
        </p:nvSpPr>
        <p:spPr>
          <a:xfrm>
            <a:off x="10652760" y="1417320"/>
            <a:ext cx="941832" cy="4114800"/>
          </a:xfrm>
          <a:prstGeom prst="rect">
            <a:avLst/>
          </a:prstGeom>
          <a:noFill/>
          <a:ln/>
        </p:spPr>
        <p:txBody>
          <a:bodyPr wrap="square" lIns="0" tIns="0" rIns="0" bIns="0" rtlCol="0" anchor="ctr"/>
          <a:lstStyle/>
          <a:p>
            <a:pPr algn="ctr" indent="0" marL="0">
              <a:buNone/>
            </a:pPr>
            <a:r>
              <a:rPr lang="en-US" sz="950" b="1" dirty="0">
                <a:solidFill>
                  <a:srgbClr val="D98E04"/>
                </a:solidFill>
                <a:latin typeface="Calibri" pitchFamily="34" charset="0"/>
                <a:ea typeface="Calibri" pitchFamily="34" charset="-122"/>
                <a:cs typeface="Calibri" pitchFamily="34" charset="-120"/>
              </a:rPr>
              <a:t>Every arrow is a logged, policy-checked event — authorization is a pre-filter inside the index, never a post-filter on top-k</a:t>
            </a:r>
            <a:endParaRPr lang="en-US" sz="950" dirty="0"/>
          </a:p>
        </p:txBody>
      </p:sp>
      <p:sp>
        <p:nvSpPr>
          <p:cNvPr id="63" name="Shape 58"/>
          <p:cNvSpPr/>
          <p:nvPr/>
        </p:nvSpPr>
        <p:spPr>
          <a:xfrm>
            <a:off x="548640" y="5897880"/>
            <a:ext cx="11094415" cy="457200"/>
          </a:xfrm>
          <a:prstGeom prst="roundRect">
            <a:avLst>
              <a:gd name="adj" fmla="val 20000"/>
            </a:avLst>
          </a:prstGeom>
          <a:solidFill>
            <a:srgbClr val="0B1F3A"/>
          </a:solidFill>
          <a:ln w="12700">
            <a:solidFill>
              <a:srgbClr val="0B1F3A"/>
            </a:solidFill>
            <a:prstDash val="solid"/>
          </a:ln>
        </p:spPr>
      </p:sp>
      <p:sp>
        <p:nvSpPr>
          <p:cNvPr id="64" name="Text 59"/>
          <p:cNvSpPr txBox="1"/>
          <p:nvPr/>
        </p:nvSpPr>
        <p:spPr>
          <a:xfrm>
            <a:off x="822960" y="5897880"/>
            <a:ext cx="10545775"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Consolidation is a write path with no user in the loop: it runs as an identified gateway actor in diff-and-approve mode for high-authority or barrier-scoped memory (C28). Hard barriers get physical partitions, not filters.</a:t>
            </a:r>
            <a:endParaRPr lang="en-US" sz="1100" dirty="0"/>
          </a:p>
        </p:txBody>
      </p:sp>
      <p:sp>
        <p:nvSpPr>
          <p:cNvPr id="65" name="Text 60"/>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Five governance planes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19</a:t>
            </a:r>
            <a:endParaRPr lang="en-US" sz="900" dirty="0"/>
          </a:p>
        </p:txBody>
      </p:sp>
      <p:sp>
        <p:nvSpPr>
          <p:cNvPr id="5" name="Shape 3"/>
          <p:cNvSpPr/>
          <p:nvPr/>
        </p:nvSpPr>
        <p:spPr>
          <a:xfrm>
            <a:off x="548640" y="1371600"/>
            <a:ext cx="2103120" cy="3977640"/>
          </a:xfrm>
          <a:prstGeom prst="roundRect">
            <a:avLst>
              <a:gd name="adj" fmla="val 3478"/>
            </a:avLst>
          </a:prstGeom>
          <a:solidFill>
            <a:srgbClr val="F7F9FC"/>
          </a:solidFill>
          <a:ln w="9525">
            <a:solidFill>
              <a:srgbClr val="D5DDE9"/>
            </a:solidFill>
            <a:prstDash val="solid"/>
          </a:ln>
        </p:spPr>
      </p:sp>
      <p:sp>
        <p:nvSpPr>
          <p:cNvPr id="6" name="Shape 4"/>
          <p:cNvSpPr/>
          <p:nvPr/>
        </p:nvSpPr>
        <p:spPr>
          <a:xfrm>
            <a:off x="1234440" y="1600200"/>
            <a:ext cx="731520" cy="731520"/>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1410005" y="1775765"/>
            <a:ext cx="380390" cy="380390"/>
          </a:xfrm>
          <a:prstGeom prst="rect">
            <a:avLst/>
          </a:prstGeom>
        </p:spPr>
      </p:pic>
      <p:sp>
        <p:nvSpPr>
          <p:cNvPr id="8" name="Text 5"/>
          <p:cNvSpPr txBox="1"/>
          <p:nvPr/>
        </p:nvSpPr>
        <p:spPr>
          <a:xfrm>
            <a:off x="658368" y="2468880"/>
            <a:ext cx="1883664"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Data governance</a:t>
            </a:r>
            <a:endParaRPr lang="en-US" sz="1400" dirty="0"/>
          </a:p>
        </p:txBody>
      </p:sp>
      <p:sp>
        <p:nvSpPr>
          <p:cNvPr id="9" name="Text 6"/>
          <p:cNvSpPr txBox="1"/>
          <p:nvPr/>
        </p:nvSpPr>
        <p:spPr>
          <a:xfrm>
            <a:off x="685800" y="2926080"/>
            <a:ext cx="1828800" cy="640080"/>
          </a:xfrm>
          <a:prstGeom prst="rect">
            <a:avLst/>
          </a:prstGeom>
          <a:noFill/>
          <a:ln/>
        </p:spPr>
        <p:txBody>
          <a:bodyPr wrap="square" lIns="0" tIns="0" rIns="0" bIns="0" rtlCol="0" anchor="t"/>
          <a:lstStyle/>
          <a:p>
            <a:pPr algn="ctr" indent="0" marL="0">
              <a:buNone/>
            </a:pPr>
            <a:r>
              <a:rPr lang="en-US" sz="1200" i="1" dirty="0">
                <a:solidFill>
                  <a:srgbClr val="0B1F3A"/>
                </a:solidFill>
                <a:latin typeface="Calibri" pitchFamily="34" charset="0"/>
                <a:ea typeface="Calibri" pitchFamily="34" charset="-122"/>
                <a:cs typeface="Calibri" pitchFamily="34" charset="-120"/>
              </a:rPr>
              <a:t>What may be remembered?</a:t>
            </a:r>
            <a:endParaRPr lang="en-US" sz="1200" dirty="0"/>
          </a:p>
        </p:txBody>
      </p:sp>
      <p:sp>
        <p:nvSpPr>
          <p:cNvPr id="10" name="Shape 7"/>
          <p:cNvSpPr/>
          <p:nvPr/>
        </p:nvSpPr>
        <p:spPr>
          <a:xfrm>
            <a:off x="1005840" y="3611880"/>
            <a:ext cx="1188720" cy="0"/>
          </a:xfrm>
          <a:prstGeom prst="line">
            <a:avLst/>
          </a:prstGeom>
          <a:noFill/>
          <a:ln w="9525">
            <a:solidFill>
              <a:srgbClr val="D5DDE9"/>
            </a:solidFill>
            <a:prstDash val="solid"/>
          </a:ln>
        </p:spPr>
      </p:sp>
      <p:sp>
        <p:nvSpPr>
          <p:cNvPr id="11" name="Text 8"/>
          <p:cNvSpPr txBox="1"/>
          <p:nvPr/>
        </p:nvSpPr>
        <p:spPr>
          <a:xfrm>
            <a:off x="685800" y="3749040"/>
            <a:ext cx="1828800" cy="14630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lawful basis, purpose, sensitivity, retention, residency</a:t>
            </a:r>
            <a:endParaRPr lang="en-US" sz="1100" dirty="0"/>
          </a:p>
        </p:txBody>
      </p:sp>
      <p:sp>
        <p:nvSpPr>
          <p:cNvPr id="12" name="Shape 9"/>
          <p:cNvSpPr/>
          <p:nvPr/>
        </p:nvSpPr>
        <p:spPr>
          <a:xfrm>
            <a:off x="2798064" y="1371600"/>
            <a:ext cx="2103120" cy="3977640"/>
          </a:xfrm>
          <a:prstGeom prst="roundRect">
            <a:avLst>
              <a:gd name="adj" fmla="val 3478"/>
            </a:avLst>
          </a:prstGeom>
          <a:solidFill>
            <a:srgbClr val="F7F9FC"/>
          </a:solidFill>
          <a:ln w="9525">
            <a:solidFill>
              <a:srgbClr val="D5DDE9"/>
            </a:solidFill>
            <a:prstDash val="solid"/>
          </a:ln>
        </p:spPr>
      </p:sp>
      <p:sp>
        <p:nvSpPr>
          <p:cNvPr id="13" name="Shape 10"/>
          <p:cNvSpPr/>
          <p:nvPr/>
        </p:nvSpPr>
        <p:spPr>
          <a:xfrm>
            <a:off x="3483864" y="1600200"/>
            <a:ext cx="731520" cy="731520"/>
          </a:xfrm>
          <a:prstGeom prst="ellipse">
            <a:avLst/>
          </a:prstGeom>
          <a:solidFill>
            <a:srgbClr val="DDF0ED"/>
          </a:solidFill>
          <a:ln w="12700">
            <a:solidFill>
              <a:srgbClr val="DDF0ED"/>
            </a:solidFill>
            <a:prstDash val="solid"/>
          </a:ln>
        </p:spPr>
      </p:sp>
      <p:pic>
        <p:nvPicPr>
          <p:cNvPr id="14" name="Image 1" descr="preencoded.png">    </p:cNvPr>
          <p:cNvPicPr>
            <a:picLocks noChangeAspect="1"/>
          </p:cNvPicPr>
          <p:nvPr/>
        </p:nvPicPr>
        <p:blipFill>
          <a:blip r:embed="rId2"/>
          <a:stretch>
            <a:fillRect/>
          </a:stretch>
        </p:blipFill>
        <p:spPr>
          <a:xfrm>
            <a:off x="3659429" y="1775765"/>
            <a:ext cx="380390" cy="380390"/>
          </a:xfrm>
          <a:prstGeom prst="rect">
            <a:avLst/>
          </a:prstGeom>
        </p:spPr>
      </p:pic>
      <p:sp>
        <p:nvSpPr>
          <p:cNvPr id="15" name="Text 11"/>
          <p:cNvSpPr txBox="1"/>
          <p:nvPr/>
        </p:nvSpPr>
        <p:spPr>
          <a:xfrm>
            <a:off x="2907792" y="2468880"/>
            <a:ext cx="1883664"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Memory integrity</a:t>
            </a:r>
            <a:endParaRPr lang="en-US" sz="1400" dirty="0"/>
          </a:p>
        </p:txBody>
      </p:sp>
      <p:sp>
        <p:nvSpPr>
          <p:cNvPr id="16" name="Text 12"/>
          <p:cNvSpPr txBox="1"/>
          <p:nvPr/>
        </p:nvSpPr>
        <p:spPr>
          <a:xfrm>
            <a:off x="2935224" y="2926080"/>
            <a:ext cx="1828800" cy="640080"/>
          </a:xfrm>
          <a:prstGeom prst="rect">
            <a:avLst/>
          </a:prstGeom>
          <a:noFill/>
          <a:ln/>
        </p:spPr>
        <p:txBody>
          <a:bodyPr wrap="square" lIns="0" tIns="0" rIns="0" bIns="0" rtlCol="0" anchor="t"/>
          <a:lstStyle/>
          <a:p>
            <a:pPr algn="ctr" indent="0" marL="0">
              <a:buNone/>
            </a:pPr>
            <a:r>
              <a:rPr lang="en-US" sz="1200" i="1" dirty="0">
                <a:solidFill>
                  <a:srgbClr val="12867A"/>
                </a:solidFill>
                <a:latin typeface="Calibri" pitchFamily="34" charset="0"/>
                <a:ea typeface="Calibri" pitchFamily="34" charset="-122"/>
                <a:cs typeface="Calibri" pitchFamily="34" charset="-120"/>
              </a:rPr>
              <a:t>What does memory mean?</a:t>
            </a:r>
            <a:endParaRPr lang="en-US" sz="1200" dirty="0"/>
          </a:p>
        </p:txBody>
      </p:sp>
      <p:sp>
        <p:nvSpPr>
          <p:cNvPr id="17" name="Shape 13"/>
          <p:cNvSpPr/>
          <p:nvPr/>
        </p:nvSpPr>
        <p:spPr>
          <a:xfrm>
            <a:off x="3255264" y="3611880"/>
            <a:ext cx="1188720" cy="0"/>
          </a:xfrm>
          <a:prstGeom prst="line">
            <a:avLst/>
          </a:prstGeom>
          <a:noFill/>
          <a:ln w="9525">
            <a:solidFill>
              <a:srgbClr val="D5DDE9"/>
            </a:solidFill>
            <a:prstDash val="solid"/>
          </a:ln>
        </p:spPr>
      </p:sp>
      <p:sp>
        <p:nvSpPr>
          <p:cNvPr id="18" name="Text 14"/>
          <p:cNvSpPr txBox="1"/>
          <p:nvPr/>
        </p:nvSpPr>
        <p:spPr>
          <a:xfrm>
            <a:off x="2935224" y="3749040"/>
            <a:ext cx="1828800" cy="14630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provenance, confidence, temporal validity, source authority</a:t>
            </a:r>
            <a:endParaRPr lang="en-US" sz="1100" dirty="0"/>
          </a:p>
        </p:txBody>
      </p:sp>
      <p:sp>
        <p:nvSpPr>
          <p:cNvPr id="19" name="Shape 15"/>
          <p:cNvSpPr/>
          <p:nvPr/>
        </p:nvSpPr>
        <p:spPr>
          <a:xfrm>
            <a:off x="5047488" y="1371600"/>
            <a:ext cx="2103120" cy="3977640"/>
          </a:xfrm>
          <a:prstGeom prst="roundRect">
            <a:avLst>
              <a:gd name="adj" fmla="val 3478"/>
            </a:avLst>
          </a:prstGeom>
          <a:solidFill>
            <a:srgbClr val="F7F9FC"/>
          </a:solidFill>
          <a:ln w="9525">
            <a:solidFill>
              <a:srgbClr val="D5DDE9"/>
            </a:solidFill>
            <a:prstDash val="solid"/>
          </a:ln>
        </p:spPr>
      </p:sp>
      <p:sp>
        <p:nvSpPr>
          <p:cNvPr id="20" name="Shape 16"/>
          <p:cNvSpPr/>
          <p:nvPr/>
        </p:nvSpPr>
        <p:spPr>
          <a:xfrm>
            <a:off x="5733288" y="1600200"/>
            <a:ext cx="731520" cy="731520"/>
          </a:xfrm>
          <a:prstGeom prst="ellipse">
            <a:avLst/>
          </a:prstGeom>
          <a:solidFill>
            <a:srgbClr val="FBF1DE"/>
          </a:solidFill>
          <a:ln w="12700">
            <a:solidFill>
              <a:srgbClr val="FBF1DE"/>
            </a:solidFill>
            <a:prstDash val="solid"/>
          </a:ln>
        </p:spPr>
      </p:sp>
      <p:pic>
        <p:nvPicPr>
          <p:cNvPr id="21" name="Image 2" descr="preencoded.png">    </p:cNvPr>
          <p:cNvPicPr>
            <a:picLocks noChangeAspect="1"/>
          </p:cNvPicPr>
          <p:nvPr/>
        </p:nvPicPr>
        <p:blipFill>
          <a:blip r:embed="rId3"/>
          <a:stretch>
            <a:fillRect/>
          </a:stretch>
        </p:blipFill>
        <p:spPr>
          <a:xfrm>
            <a:off x="5908853" y="1775765"/>
            <a:ext cx="380390" cy="380390"/>
          </a:xfrm>
          <a:prstGeom prst="rect">
            <a:avLst/>
          </a:prstGeom>
        </p:spPr>
      </p:pic>
      <p:sp>
        <p:nvSpPr>
          <p:cNvPr id="22" name="Text 17"/>
          <p:cNvSpPr txBox="1"/>
          <p:nvPr/>
        </p:nvSpPr>
        <p:spPr>
          <a:xfrm>
            <a:off x="5157216" y="2468880"/>
            <a:ext cx="1883664"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Access &amp; use</a:t>
            </a:r>
            <a:endParaRPr lang="en-US" sz="1400" dirty="0"/>
          </a:p>
        </p:txBody>
      </p:sp>
      <p:sp>
        <p:nvSpPr>
          <p:cNvPr id="23" name="Text 18"/>
          <p:cNvSpPr txBox="1"/>
          <p:nvPr/>
        </p:nvSpPr>
        <p:spPr>
          <a:xfrm>
            <a:off x="5184648" y="2926080"/>
            <a:ext cx="1828800" cy="640080"/>
          </a:xfrm>
          <a:prstGeom prst="rect">
            <a:avLst/>
          </a:prstGeom>
          <a:noFill/>
          <a:ln/>
        </p:spPr>
        <p:txBody>
          <a:bodyPr wrap="square" lIns="0" tIns="0" rIns="0" bIns="0" rtlCol="0" anchor="t"/>
          <a:lstStyle/>
          <a:p>
            <a:pPr algn="ctr" indent="0" marL="0">
              <a:buNone/>
            </a:pPr>
            <a:r>
              <a:rPr lang="en-US" sz="1200" i="1" dirty="0">
                <a:solidFill>
                  <a:srgbClr val="D98E04"/>
                </a:solidFill>
                <a:latin typeface="Calibri" pitchFamily="34" charset="0"/>
                <a:ea typeface="Calibri" pitchFamily="34" charset="-122"/>
                <a:cs typeface="Calibri" pitchFamily="34" charset="-120"/>
              </a:rPr>
              <a:t>Who may retrieve or use it?</a:t>
            </a:r>
            <a:endParaRPr lang="en-US" sz="1200" dirty="0"/>
          </a:p>
        </p:txBody>
      </p:sp>
      <p:sp>
        <p:nvSpPr>
          <p:cNvPr id="24" name="Shape 19"/>
          <p:cNvSpPr/>
          <p:nvPr/>
        </p:nvSpPr>
        <p:spPr>
          <a:xfrm>
            <a:off x="5504688" y="3611880"/>
            <a:ext cx="1188720" cy="0"/>
          </a:xfrm>
          <a:prstGeom prst="line">
            <a:avLst/>
          </a:prstGeom>
          <a:noFill/>
          <a:ln w="9525">
            <a:solidFill>
              <a:srgbClr val="D5DDE9"/>
            </a:solidFill>
            <a:prstDash val="solid"/>
          </a:ln>
        </p:spPr>
      </p:sp>
      <p:sp>
        <p:nvSpPr>
          <p:cNvPr id="25" name="Text 20"/>
          <p:cNvSpPr txBox="1"/>
          <p:nvPr/>
        </p:nvSpPr>
        <p:spPr>
          <a:xfrm>
            <a:off x="5184648" y="3749040"/>
            <a:ext cx="1828800" cy="14630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tenant isolation, ACL, purpose authorization, need-to-know</a:t>
            </a:r>
            <a:endParaRPr lang="en-US" sz="1100" dirty="0"/>
          </a:p>
        </p:txBody>
      </p:sp>
      <p:sp>
        <p:nvSpPr>
          <p:cNvPr id="26" name="Shape 21"/>
          <p:cNvSpPr/>
          <p:nvPr/>
        </p:nvSpPr>
        <p:spPr>
          <a:xfrm>
            <a:off x="7296912" y="1371600"/>
            <a:ext cx="2103120" cy="3977640"/>
          </a:xfrm>
          <a:prstGeom prst="roundRect">
            <a:avLst>
              <a:gd name="adj" fmla="val 3478"/>
            </a:avLst>
          </a:prstGeom>
          <a:solidFill>
            <a:srgbClr val="F7F9FC"/>
          </a:solidFill>
          <a:ln w="9525">
            <a:solidFill>
              <a:srgbClr val="D5DDE9"/>
            </a:solidFill>
            <a:prstDash val="solid"/>
          </a:ln>
        </p:spPr>
      </p:sp>
      <p:sp>
        <p:nvSpPr>
          <p:cNvPr id="27" name="Shape 22"/>
          <p:cNvSpPr/>
          <p:nvPr/>
        </p:nvSpPr>
        <p:spPr>
          <a:xfrm>
            <a:off x="7982712" y="1600200"/>
            <a:ext cx="731520" cy="731520"/>
          </a:xfrm>
          <a:prstGeom prst="ellipse">
            <a:avLst/>
          </a:prstGeom>
          <a:solidFill>
            <a:srgbClr val="F8E3DE"/>
          </a:solidFill>
          <a:ln w="12700">
            <a:solidFill>
              <a:srgbClr val="F8E3DE"/>
            </a:solidFill>
            <a:prstDash val="solid"/>
          </a:ln>
        </p:spPr>
      </p:sp>
      <p:pic>
        <p:nvPicPr>
          <p:cNvPr id="28" name="Image 3" descr="preencoded.png">    </p:cNvPr>
          <p:cNvPicPr>
            <a:picLocks noChangeAspect="1"/>
          </p:cNvPicPr>
          <p:nvPr/>
        </p:nvPicPr>
        <p:blipFill>
          <a:blip r:embed="rId4"/>
          <a:stretch>
            <a:fillRect/>
          </a:stretch>
        </p:blipFill>
        <p:spPr>
          <a:xfrm>
            <a:off x="8158277" y="1775765"/>
            <a:ext cx="380390" cy="380390"/>
          </a:xfrm>
          <a:prstGeom prst="rect">
            <a:avLst/>
          </a:prstGeom>
        </p:spPr>
      </p:pic>
      <p:sp>
        <p:nvSpPr>
          <p:cNvPr id="29" name="Text 23"/>
          <p:cNvSpPr txBox="1"/>
          <p:nvPr/>
        </p:nvSpPr>
        <p:spPr>
          <a:xfrm>
            <a:off x="7406640" y="2468880"/>
            <a:ext cx="1883664"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Lifecycle</a:t>
            </a:r>
            <a:endParaRPr lang="en-US" sz="1400" dirty="0"/>
          </a:p>
        </p:txBody>
      </p:sp>
      <p:sp>
        <p:nvSpPr>
          <p:cNvPr id="30" name="Text 24"/>
          <p:cNvSpPr txBox="1"/>
          <p:nvPr/>
        </p:nvSpPr>
        <p:spPr>
          <a:xfrm>
            <a:off x="7434072" y="2926080"/>
            <a:ext cx="1828800" cy="640080"/>
          </a:xfrm>
          <a:prstGeom prst="rect">
            <a:avLst/>
          </a:prstGeom>
          <a:noFill/>
          <a:ln/>
        </p:spPr>
        <p:txBody>
          <a:bodyPr wrap="square" lIns="0" tIns="0" rIns="0" bIns="0" rtlCol="0" anchor="t"/>
          <a:lstStyle/>
          <a:p>
            <a:pPr algn="ctr" indent="0" marL="0">
              <a:buNone/>
            </a:pPr>
            <a:r>
              <a:rPr lang="en-US" sz="1200" i="1" dirty="0">
                <a:solidFill>
                  <a:srgbClr val="C8452B"/>
                </a:solidFill>
                <a:latin typeface="Calibri" pitchFamily="34" charset="0"/>
                <a:ea typeface="Calibri" pitchFamily="34" charset="-122"/>
                <a:cs typeface="Calibri" pitchFamily="34" charset="-120"/>
              </a:rPr>
              <a:t>How does it change or disappear?</a:t>
            </a:r>
            <a:endParaRPr lang="en-US" sz="1200" dirty="0"/>
          </a:p>
        </p:txBody>
      </p:sp>
      <p:sp>
        <p:nvSpPr>
          <p:cNvPr id="31" name="Shape 25"/>
          <p:cNvSpPr/>
          <p:nvPr/>
        </p:nvSpPr>
        <p:spPr>
          <a:xfrm>
            <a:off x="7754112" y="3611880"/>
            <a:ext cx="1188720" cy="0"/>
          </a:xfrm>
          <a:prstGeom prst="line">
            <a:avLst/>
          </a:prstGeom>
          <a:noFill/>
          <a:ln w="9525">
            <a:solidFill>
              <a:srgbClr val="D5DDE9"/>
            </a:solidFill>
            <a:prstDash val="solid"/>
          </a:ln>
        </p:spPr>
      </p:sp>
      <p:sp>
        <p:nvSpPr>
          <p:cNvPr id="32" name="Text 26"/>
          <p:cNvSpPr txBox="1"/>
          <p:nvPr/>
        </p:nvSpPr>
        <p:spPr>
          <a:xfrm>
            <a:off x="7434072" y="3749040"/>
            <a:ext cx="1828800" cy="14630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update, correct, restrict, expire, erase, legal hold</a:t>
            </a:r>
            <a:endParaRPr lang="en-US" sz="1100" dirty="0"/>
          </a:p>
        </p:txBody>
      </p:sp>
      <p:sp>
        <p:nvSpPr>
          <p:cNvPr id="33" name="Shape 27"/>
          <p:cNvSpPr/>
          <p:nvPr/>
        </p:nvSpPr>
        <p:spPr>
          <a:xfrm>
            <a:off x="9546336" y="1371600"/>
            <a:ext cx="2103120" cy="3977640"/>
          </a:xfrm>
          <a:prstGeom prst="roundRect">
            <a:avLst>
              <a:gd name="adj" fmla="val 3478"/>
            </a:avLst>
          </a:prstGeom>
          <a:solidFill>
            <a:srgbClr val="F7F9FC"/>
          </a:solidFill>
          <a:ln w="9525">
            <a:solidFill>
              <a:srgbClr val="D5DDE9"/>
            </a:solidFill>
            <a:prstDash val="solid"/>
          </a:ln>
        </p:spPr>
      </p:sp>
      <p:sp>
        <p:nvSpPr>
          <p:cNvPr id="34" name="Shape 28"/>
          <p:cNvSpPr/>
          <p:nvPr/>
        </p:nvSpPr>
        <p:spPr>
          <a:xfrm>
            <a:off x="10232136" y="1600200"/>
            <a:ext cx="731520" cy="731520"/>
          </a:xfrm>
          <a:prstGeom prst="ellipse">
            <a:avLst/>
          </a:prstGeom>
          <a:solidFill>
            <a:srgbClr val="E3E9F3"/>
          </a:solidFill>
          <a:ln w="12700">
            <a:solidFill>
              <a:srgbClr val="E3E9F3"/>
            </a:solidFill>
            <a:prstDash val="solid"/>
          </a:ln>
        </p:spPr>
      </p:sp>
      <p:pic>
        <p:nvPicPr>
          <p:cNvPr id="35" name="Image 4" descr="preencoded.png">    </p:cNvPr>
          <p:cNvPicPr>
            <a:picLocks noChangeAspect="1"/>
          </p:cNvPicPr>
          <p:nvPr/>
        </p:nvPicPr>
        <p:blipFill>
          <a:blip r:embed="rId5"/>
          <a:stretch>
            <a:fillRect/>
          </a:stretch>
        </p:blipFill>
        <p:spPr>
          <a:xfrm>
            <a:off x="10407701" y="1775765"/>
            <a:ext cx="380390" cy="380390"/>
          </a:xfrm>
          <a:prstGeom prst="rect">
            <a:avLst/>
          </a:prstGeom>
        </p:spPr>
      </p:pic>
      <p:sp>
        <p:nvSpPr>
          <p:cNvPr id="36" name="Text 29"/>
          <p:cNvSpPr txBox="1"/>
          <p:nvPr/>
        </p:nvSpPr>
        <p:spPr>
          <a:xfrm>
            <a:off x="9656064" y="2468880"/>
            <a:ext cx="1883664"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Ops &amp; third party</a:t>
            </a:r>
            <a:endParaRPr lang="en-US" sz="1400" dirty="0"/>
          </a:p>
        </p:txBody>
      </p:sp>
      <p:sp>
        <p:nvSpPr>
          <p:cNvPr id="37" name="Text 30"/>
          <p:cNvSpPr txBox="1"/>
          <p:nvPr/>
        </p:nvSpPr>
        <p:spPr>
          <a:xfrm>
            <a:off x="9683496" y="2926080"/>
            <a:ext cx="1828800" cy="640080"/>
          </a:xfrm>
          <a:prstGeom prst="rect">
            <a:avLst/>
          </a:prstGeom>
          <a:noFill/>
          <a:ln/>
        </p:spPr>
        <p:txBody>
          <a:bodyPr wrap="square" lIns="0" tIns="0" rIns="0" bIns="0" rtlCol="0" anchor="t"/>
          <a:lstStyle/>
          <a:p>
            <a:pPr algn="ctr" indent="0" marL="0">
              <a:buNone/>
            </a:pPr>
            <a:r>
              <a:rPr lang="en-US" sz="1200" i="1" dirty="0">
                <a:solidFill>
                  <a:srgbClr val="0B1F3A"/>
                </a:solidFill>
                <a:latin typeface="Calibri" pitchFamily="34" charset="0"/>
                <a:ea typeface="Calibri" pitchFamily="34" charset="-122"/>
                <a:cs typeface="Calibri" pitchFamily="34" charset="-120"/>
              </a:rPr>
              <a:t>Can we trust the stack?</a:t>
            </a:r>
            <a:endParaRPr lang="en-US" sz="1200" dirty="0"/>
          </a:p>
        </p:txBody>
      </p:sp>
      <p:sp>
        <p:nvSpPr>
          <p:cNvPr id="38" name="Shape 31"/>
          <p:cNvSpPr/>
          <p:nvPr/>
        </p:nvSpPr>
        <p:spPr>
          <a:xfrm>
            <a:off x="10003536" y="3611880"/>
            <a:ext cx="1188720" cy="0"/>
          </a:xfrm>
          <a:prstGeom prst="line">
            <a:avLst/>
          </a:prstGeom>
          <a:noFill/>
          <a:ln w="9525">
            <a:solidFill>
              <a:srgbClr val="D5DDE9"/>
            </a:solidFill>
            <a:prstDash val="solid"/>
          </a:ln>
        </p:spPr>
      </p:sp>
      <p:sp>
        <p:nvSpPr>
          <p:cNvPr id="39" name="Text 32"/>
          <p:cNvSpPr txBox="1"/>
          <p:nvPr/>
        </p:nvSpPr>
        <p:spPr>
          <a:xfrm>
            <a:off x="9683496" y="3749040"/>
            <a:ext cx="1828800" cy="14630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OSS/vendor review, data egress, versioning, failover, exit</a:t>
            </a:r>
            <a:endParaRPr lang="en-US" sz="1100" dirty="0"/>
          </a:p>
        </p:txBody>
      </p:sp>
      <p:sp>
        <p:nvSpPr>
          <p:cNvPr id="40" name="Shape 33"/>
          <p:cNvSpPr/>
          <p:nvPr/>
        </p:nvSpPr>
        <p:spPr>
          <a:xfrm>
            <a:off x="548640" y="5623560"/>
            <a:ext cx="11094415" cy="502920"/>
          </a:xfrm>
          <a:prstGeom prst="roundRect">
            <a:avLst>
              <a:gd name="adj" fmla="val 18182"/>
            </a:avLst>
          </a:prstGeom>
          <a:solidFill>
            <a:srgbClr val="0B1F3A"/>
          </a:solidFill>
          <a:ln w="12700">
            <a:solidFill>
              <a:srgbClr val="0B1F3A"/>
            </a:solidFill>
            <a:prstDash val="solid"/>
          </a:ln>
        </p:spPr>
      </p:sp>
      <p:sp>
        <p:nvSpPr>
          <p:cNvPr id="41" name="Text 34"/>
          <p:cNvSpPr txBox="1"/>
          <p:nvPr/>
        </p:nvSpPr>
        <p:spPr>
          <a:xfrm>
            <a:off x="822960" y="5623560"/>
            <a:ext cx="10545775"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compliance layer is not just privacy filtering; it is policy-enforced memory state management.</a:t>
            </a:r>
            <a:endParaRPr lang="en-US" sz="1300" dirty="0"/>
          </a:p>
        </p:txBody>
      </p:sp>
      <p:sp>
        <p:nvSpPr>
          <p:cNvPr id="42" name="Text 35"/>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flipH="1">
            <a:off x="7863840" y="1143000"/>
            <a:ext cx="1028700" cy="800100"/>
          </a:xfrm>
          <a:prstGeom prst="line">
            <a:avLst/>
          </a:prstGeom>
          <a:noFill/>
          <a:ln w="12700">
            <a:solidFill>
              <a:srgbClr val="12867A">
                <a:alpha val="70000"/>
              </a:srgbClr>
            </a:solidFill>
            <a:prstDash val="solid"/>
          </a:ln>
        </p:spPr>
      </p:sp>
      <p:sp>
        <p:nvSpPr>
          <p:cNvPr id="3" name="Shape 1"/>
          <p:cNvSpPr/>
          <p:nvPr/>
        </p:nvSpPr>
        <p:spPr>
          <a:xfrm>
            <a:off x="8892540" y="1143000"/>
            <a:ext cx="1143000" cy="628650"/>
          </a:xfrm>
          <a:prstGeom prst="line">
            <a:avLst/>
          </a:prstGeom>
          <a:noFill/>
          <a:ln w="12700">
            <a:solidFill>
              <a:srgbClr val="12867A">
                <a:alpha val="70000"/>
              </a:srgbClr>
            </a:solidFill>
            <a:prstDash val="solid"/>
          </a:ln>
        </p:spPr>
      </p:sp>
      <p:sp>
        <p:nvSpPr>
          <p:cNvPr id="4" name="Shape 2"/>
          <p:cNvSpPr/>
          <p:nvPr/>
        </p:nvSpPr>
        <p:spPr>
          <a:xfrm flipH="1">
            <a:off x="9406890" y="1771650"/>
            <a:ext cx="628650" cy="1085850"/>
          </a:xfrm>
          <a:prstGeom prst="line">
            <a:avLst/>
          </a:prstGeom>
          <a:noFill/>
          <a:ln w="12700">
            <a:solidFill>
              <a:srgbClr val="12867A">
                <a:alpha val="70000"/>
              </a:srgbClr>
            </a:solidFill>
            <a:prstDash val="solid"/>
          </a:ln>
        </p:spPr>
      </p:sp>
      <p:sp>
        <p:nvSpPr>
          <p:cNvPr id="5" name="Shape 3"/>
          <p:cNvSpPr/>
          <p:nvPr/>
        </p:nvSpPr>
        <p:spPr>
          <a:xfrm flipH="1">
            <a:off x="9406890" y="2628900"/>
            <a:ext cx="1543050" cy="228600"/>
          </a:xfrm>
          <a:prstGeom prst="line">
            <a:avLst/>
          </a:prstGeom>
          <a:noFill/>
          <a:ln w="12700">
            <a:solidFill>
              <a:srgbClr val="12867A">
                <a:alpha val="70000"/>
              </a:srgbClr>
            </a:solidFill>
            <a:prstDash val="solid"/>
          </a:ln>
        </p:spPr>
      </p:sp>
      <p:sp>
        <p:nvSpPr>
          <p:cNvPr id="6" name="Shape 4"/>
          <p:cNvSpPr/>
          <p:nvPr/>
        </p:nvSpPr>
        <p:spPr>
          <a:xfrm>
            <a:off x="7863840" y="1943100"/>
            <a:ext cx="685800" cy="1485900"/>
          </a:xfrm>
          <a:prstGeom prst="line">
            <a:avLst/>
          </a:prstGeom>
          <a:noFill/>
          <a:ln w="12700">
            <a:solidFill>
              <a:srgbClr val="12867A">
                <a:alpha val="70000"/>
              </a:srgbClr>
            </a:solidFill>
            <a:prstDash val="solid"/>
          </a:ln>
        </p:spPr>
      </p:sp>
      <p:sp>
        <p:nvSpPr>
          <p:cNvPr id="7" name="Shape 5"/>
          <p:cNvSpPr/>
          <p:nvPr/>
        </p:nvSpPr>
        <p:spPr>
          <a:xfrm flipH="1">
            <a:off x="8549640" y="2857500"/>
            <a:ext cx="857250" cy="571500"/>
          </a:xfrm>
          <a:prstGeom prst="line">
            <a:avLst/>
          </a:prstGeom>
          <a:noFill/>
          <a:ln w="12700">
            <a:solidFill>
              <a:srgbClr val="12867A">
                <a:alpha val="70000"/>
              </a:srgbClr>
            </a:solidFill>
            <a:prstDash val="solid"/>
          </a:ln>
        </p:spPr>
      </p:sp>
      <p:sp>
        <p:nvSpPr>
          <p:cNvPr id="8" name="Shape 6"/>
          <p:cNvSpPr/>
          <p:nvPr/>
        </p:nvSpPr>
        <p:spPr>
          <a:xfrm flipH="1">
            <a:off x="10492740" y="2628900"/>
            <a:ext cx="457200" cy="1257300"/>
          </a:xfrm>
          <a:prstGeom prst="line">
            <a:avLst/>
          </a:prstGeom>
          <a:noFill/>
          <a:ln w="12700">
            <a:solidFill>
              <a:srgbClr val="12867A">
                <a:alpha val="70000"/>
              </a:srgbClr>
            </a:solidFill>
            <a:prstDash val="solid"/>
          </a:ln>
        </p:spPr>
      </p:sp>
      <p:sp>
        <p:nvSpPr>
          <p:cNvPr id="9" name="Shape 7"/>
          <p:cNvSpPr/>
          <p:nvPr/>
        </p:nvSpPr>
        <p:spPr>
          <a:xfrm>
            <a:off x="8549640" y="3429000"/>
            <a:ext cx="1943100" cy="457200"/>
          </a:xfrm>
          <a:prstGeom prst="line">
            <a:avLst/>
          </a:prstGeom>
          <a:noFill/>
          <a:ln w="12700">
            <a:solidFill>
              <a:srgbClr val="12867A">
                <a:alpha val="70000"/>
              </a:srgbClr>
            </a:solidFill>
            <a:prstDash val="solid"/>
          </a:ln>
        </p:spPr>
      </p:sp>
      <p:sp>
        <p:nvSpPr>
          <p:cNvPr id="10" name="Shape 8"/>
          <p:cNvSpPr/>
          <p:nvPr/>
        </p:nvSpPr>
        <p:spPr>
          <a:xfrm flipH="1">
            <a:off x="10035540" y="1600200"/>
            <a:ext cx="1714500" cy="171450"/>
          </a:xfrm>
          <a:prstGeom prst="line">
            <a:avLst/>
          </a:prstGeom>
          <a:noFill/>
          <a:ln w="12700">
            <a:solidFill>
              <a:srgbClr val="12867A">
                <a:alpha val="70000"/>
              </a:srgbClr>
            </a:solidFill>
            <a:prstDash val="solid"/>
          </a:ln>
        </p:spPr>
      </p:sp>
      <p:sp>
        <p:nvSpPr>
          <p:cNvPr id="11" name="Shape 9"/>
          <p:cNvSpPr/>
          <p:nvPr/>
        </p:nvSpPr>
        <p:spPr>
          <a:xfrm>
            <a:off x="11750040" y="1600200"/>
            <a:ext cx="228600" cy="1828800"/>
          </a:xfrm>
          <a:prstGeom prst="line">
            <a:avLst/>
          </a:prstGeom>
          <a:noFill/>
          <a:ln w="12700">
            <a:solidFill>
              <a:srgbClr val="12867A">
                <a:alpha val="70000"/>
              </a:srgbClr>
            </a:solidFill>
            <a:prstDash val="solid"/>
          </a:ln>
        </p:spPr>
      </p:sp>
      <p:sp>
        <p:nvSpPr>
          <p:cNvPr id="12" name="Shape 10"/>
          <p:cNvSpPr/>
          <p:nvPr/>
        </p:nvSpPr>
        <p:spPr>
          <a:xfrm>
            <a:off x="10949940" y="2628900"/>
            <a:ext cx="1028700" cy="800100"/>
          </a:xfrm>
          <a:prstGeom prst="line">
            <a:avLst/>
          </a:prstGeom>
          <a:noFill/>
          <a:ln w="12700">
            <a:solidFill>
              <a:srgbClr val="12867A">
                <a:alpha val="70000"/>
              </a:srgbClr>
            </a:solidFill>
            <a:prstDash val="solid"/>
          </a:ln>
        </p:spPr>
      </p:sp>
      <p:sp>
        <p:nvSpPr>
          <p:cNvPr id="13" name="Shape 11"/>
          <p:cNvSpPr/>
          <p:nvPr/>
        </p:nvSpPr>
        <p:spPr>
          <a:xfrm>
            <a:off x="7738110" y="1817370"/>
            <a:ext cx="251460" cy="251460"/>
          </a:xfrm>
          <a:prstGeom prst="ellipse">
            <a:avLst/>
          </a:prstGeom>
          <a:solidFill>
            <a:srgbClr val="D98E04"/>
          </a:solidFill>
          <a:ln w="12700">
            <a:solidFill>
              <a:srgbClr val="12867A"/>
            </a:solidFill>
            <a:prstDash val="solid"/>
          </a:ln>
        </p:spPr>
      </p:sp>
      <p:sp>
        <p:nvSpPr>
          <p:cNvPr id="14" name="Shape 12"/>
          <p:cNvSpPr/>
          <p:nvPr/>
        </p:nvSpPr>
        <p:spPr>
          <a:xfrm>
            <a:off x="8818245" y="1068705"/>
            <a:ext cx="148590" cy="148590"/>
          </a:xfrm>
          <a:prstGeom prst="ellipse">
            <a:avLst/>
          </a:prstGeom>
          <a:solidFill>
            <a:srgbClr val="12867A">
              <a:alpha val="70000"/>
            </a:srgbClr>
          </a:solidFill>
          <a:ln w="12700">
            <a:solidFill>
              <a:srgbClr val="12867A"/>
            </a:solidFill>
            <a:prstDash val="solid"/>
          </a:ln>
        </p:spPr>
      </p:sp>
      <p:sp>
        <p:nvSpPr>
          <p:cNvPr id="15" name="Shape 13"/>
          <p:cNvSpPr/>
          <p:nvPr/>
        </p:nvSpPr>
        <p:spPr>
          <a:xfrm>
            <a:off x="9961245" y="1697355"/>
            <a:ext cx="148590" cy="148590"/>
          </a:xfrm>
          <a:prstGeom prst="ellipse">
            <a:avLst/>
          </a:prstGeom>
          <a:solidFill>
            <a:srgbClr val="12867A">
              <a:alpha val="70000"/>
            </a:srgbClr>
          </a:solidFill>
          <a:ln w="12700">
            <a:solidFill>
              <a:srgbClr val="12867A"/>
            </a:solidFill>
            <a:prstDash val="solid"/>
          </a:ln>
        </p:spPr>
      </p:sp>
      <p:sp>
        <p:nvSpPr>
          <p:cNvPr id="16" name="Shape 14"/>
          <p:cNvSpPr/>
          <p:nvPr/>
        </p:nvSpPr>
        <p:spPr>
          <a:xfrm>
            <a:off x="9281160" y="2731770"/>
            <a:ext cx="251460" cy="251460"/>
          </a:xfrm>
          <a:prstGeom prst="ellipse">
            <a:avLst/>
          </a:prstGeom>
          <a:solidFill>
            <a:srgbClr val="12867A"/>
          </a:solidFill>
          <a:ln w="12700">
            <a:solidFill>
              <a:srgbClr val="12867A"/>
            </a:solidFill>
            <a:prstDash val="solid"/>
          </a:ln>
        </p:spPr>
      </p:sp>
      <p:sp>
        <p:nvSpPr>
          <p:cNvPr id="17" name="Shape 15"/>
          <p:cNvSpPr/>
          <p:nvPr/>
        </p:nvSpPr>
        <p:spPr>
          <a:xfrm>
            <a:off x="10875645" y="2554605"/>
            <a:ext cx="148590" cy="148590"/>
          </a:xfrm>
          <a:prstGeom prst="ellipse">
            <a:avLst/>
          </a:prstGeom>
          <a:solidFill>
            <a:srgbClr val="D98E04">
              <a:alpha val="70000"/>
            </a:srgbClr>
          </a:solidFill>
          <a:ln w="12700">
            <a:solidFill>
              <a:srgbClr val="12867A"/>
            </a:solidFill>
            <a:prstDash val="solid"/>
          </a:ln>
        </p:spPr>
      </p:sp>
      <p:sp>
        <p:nvSpPr>
          <p:cNvPr id="18" name="Shape 16"/>
          <p:cNvSpPr/>
          <p:nvPr/>
        </p:nvSpPr>
        <p:spPr>
          <a:xfrm>
            <a:off x="8475345" y="3354705"/>
            <a:ext cx="148590" cy="148590"/>
          </a:xfrm>
          <a:prstGeom prst="ellipse">
            <a:avLst/>
          </a:prstGeom>
          <a:solidFill>
            <a:srgbClr val="12867A">
              <a:alpha val="70000"/>
            </a:srgbClr>
          </a:solidFill>
          <a:ln w="12700">
            <a:solidFill>
              <a:srgbClr val="12867A"/>
            </a:solidFill>
            <a:prstDash val="solid"/>
          </a:ln>
        </p:spPr>
      </p:sp>
      <p:sp>
        <p:nvSpPr>
          <p:cNvPr id="19" name="Shape 17"/>
          <p:cNvSpPr/>
          <p:nvPr/>
        </p:nvSpPr>
        <p:spPr>
          <a:xfrm>
            <a:off x="10367010" y="3760470"/>
            <a:ext cx="251460" cy="251460"/>
          </a:xfrm>
          <a:prstGeom prst="ellipse">
            <a:avLst/>
          </a:prstGeom>
          <a:solidFill>
            <a:srgbClr val="12867A"/>
          </a:solidFill>
          <a:ln w="12700">
            <a:solidFill>
              <a:srgbClr val="12867A"/>
            </a:solidFill>
            <a:prstDash val="solid"/>
          </a:ln>
        </p:spPr>
      </p:sp>
      <p:sp>
        <p:nvSpPr>
          <p:cNvPr id="20" name="Shape 18"/>
          <p:cNvSpPr/>
          <p:nvPr/>
        </p:nvSpPr>
        <p:spPr>
          <a:xfrm>
            <a:off x="11675745" y="1525905"/>
            <a:ext cx="148590" cy="148590"/>
          </a:xfrm>
          <a:prstGeom prst="ellipse">
            <a:avLst/>
          </a:prstGeom>
          <a:solidFill>
            <a:srgbClr val="12867A">
              <a:alpha val="70000"/>
            </a:srgbClr>
          </a:solidFill>
          <a:ln w="12700">
            <a:solidFill>
              <a:srgbClr val="12867A"/>
            </a:solidFill>
            <a:prstDash val="solid"/>
          </a:ln>
        </p:spPr>
      </p:sp>
      <p:sp>
        <p:nvSpPr>
          <p:cNvPr id="21" name="Shape 19"/>
          <p:cNvSpPr/>
          <p:nvPr/>
        </p:nvSpPr>
        <p:spPr>
          <a:xfrm>
            <a:off x="11904345" y="3354705"/>
            <a:ext cx="148590" cy="148590"/>
          </a:xfrm>
          <a:prstGeom prst="ellipse">
            <a:avLst/>
          </a:prstGeom>
          <a:solidFill>
            <a:srgbClr val="D98E04">
              <a:alpha val="70000"/>
            </a:srgbClr>
          </a:solidFill>
          <a:ln w="12700">
            <a:solidFill>
              <a:srgbClr val="12867A"/>
            </a:solidFill>
            <a:prstDash val="solid"/>
          </a:ln>
        </p:spPr>
      </p:sp>
      <p:sp>
        <p:nvSpPr>
          <p:cNvPr id="22" name="Text 20"/>
          <p:cNvSpPr txBox="1"/>
          <p:nvPr/>
        </p:nvSpPr>
        <p:spPr>
          <a:xfrm>
            <a:off x="548640" y="1463040"/>
            <a:ext cx="2743200" cy="1097280"/>
          </a:xfrm>
          <a:prstGeom prst="rect">
            <a:avLst/>
          </a:prstGeom>
          <a:noFill/>
          <a:ln/>
        </p:spPr>
        <p:txBody>
          <a:bodyPr wrap="square" lIns="0" tIns="0" rIns="0" bIns="0" rtlCol="0" anchor="t"/>
          <a:lstStyle/>
          <a:p>
            <a:pPr indent="0" marL="0">
              <a:buNone/>
            </a:pPr>
            <a:r>
              <a:rPr lang="en-US" sz="7200" b="1" dirty="0">
                <a:solidFill>
                  <a:srgbClr val="D98E04"/>
                </a:solidFill>
                <a:latin typeface="Cambria" pitchFamily="34" charset="0"/>
                <a:ea typeface="Cambria" pitchFamily="34" charset="-122"/>
                <a:cs typeface="Cambria" pitchFamily="34" charset="-120"/>
              </a:rPr>
              <a:t>04</a:t>
            </a:r>
            <a:endParaRPr lang="en-US" sz="7200" dirty="0"/>
          </a:p>
        </p:txBody>
      </p:sp>
      <p:sp>
        <p:nvSpPr>
          <p:cNvPr id="23" name="Text 21"/>
          <p:cNvSpPr txBox="1"/>
          <p:nvPr/>
        </p:nvSpPr>
        <p:spPr>
          <a:xfrm>
            <a:off x="548640" y="2651760"/>
            <a:ext cx="749808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Control framework: C1–C27</a:t>
            </a:r>
            <a:endParaRPr lang="en-US" sz="3400" dirty="0"/>
          </a:p>
        </p:txBody>
      </p:sp>
      <p:sp>
        <p:nvSpPr>
          <p:cNvPr id="24" name="Text 22"/>
          <p:cNvSpPr txBox="1"/>
          <p:nvPr/>
        </p:nvSpPr>
        <p:spPr>
          <a:xfrm>
            <a:off x="548640" y="4023360"/>
            <a:ext cx="6949440" cy="109728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A practical control matrix for building RockAI memory as a governable subsystem — fifteen P0 controls gate production; the rest harden it.</a:t>
            </a:r>
            <a:endParaRPr lang="en-US" sz="1500" dirty="0"/>
          </a:p>
        </p:txBody>
      </p:sp>
      <p:sp>
        <p:nvSpPr>
          <p:cNvPr id="25" name="Text 23"/>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RockAI Agent Memory Governance Framework  •  Internal research draft  •  Sept 2026  •  Not legal advice</a:t>
            </a:r>
            <a:endParaRPr lang="en-US" sz="900" dirty="0"/>
          </a:p>
        </p:txBody>
      </p:sp>
      <p:sp>
        <p:nvSpPr>
          <p:cNvPr id="26" name="Text 2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P0 controls before production memory</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21</a:t>
            </a:r>
            <a:endParaRPr lang="en-US" sz="900" dirty="0"/>
          </a:p>
        </p:txBody>
      </p:sp>
      <p:sp>
        <p:nvSpPr>
          <p:cNvPr id="5" name="Shape 3"/>
          <p:cNvSpPr/>
          <p:nvPr/>
        </p:nvSpPr>
        <p:spPr>
          <a:xfrm>
            <a:off x="548640" y="1371600"/>
            <a:ext cx="2121408" cy="1143000"/>
          </a:xfrm>
          <a:prstGeom prst="roundRect">
            <a:avLst>
              <a:gd name="adj" fmla="val 6400"/>
            </a:avLst>
          </a:prstGeom>
          <a:solidFill>
            <a:srgbClr val="DDF0ED"/>
          </a:solidFill>
          <a:ln w="9525">
            <a:solidFill>
              <a:srgbClr val="12867A"/>
            </a:solidFill>
            <a:prstDash val="solid"/>
          </a:ln>
        </p:spPr>
      </p:sp>
      <p:sp>
        <p:nvSpPr>
          <p:cNvPr id="6" name="Shape 4"/>
          <p:cNvSpPr/>
          <p:nvPr/>
        </p:nvSpPr>
        <p:spPr>
          <a:xfrm>
            <a:off x="685800" y="1508760"/>
            <a:ext cx="420624" cy="420624"/>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786750" y="1609710"/>
            <a:ext cx="218724" cy="218724"/>
          </a:xfrm>
          <a:prstGeom prst="rect">
            <a:avLst/>
          </a:prstGeom>
        </p:spPr>
      </p:pic>
      <p:sp>
        <p:nvSpPr>
          <p:cNvPr id="8" name="Text 5"/>
          <p:cNvSpPr txBox="1"/>
          <p:nvPr/>
        </p:nvSpPr>
        <p:spPr>
          <a:xfrm>
            <a:off x="1207008" y="1508760"/>
            <a:ext cx="1280160" cy="42062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C1</a:t>
            </a:r>
            <a:endParaRPr lang="en-US" sz="1300" dirty="0"/>
          </a:p>
        </p:txBody>
      </p:sp>
      <p:sp>
        <p:nvSpPr>
          <p:cNvPr id="9" name="Text 6"/>
          <p:cNvSpPr txBox="1"/>
          <p:nvPr/>
        </p:nvSpPr>
        <p:spPr>
          <a:xfrm>
            <a:off x="685800" y="1993392"/>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Provenance &amp; lineage</a:t>
            </a:r>
            <a:endParaRPr lang="en-US" sz="1150" dirty="0"/>
          </a:p>
        </p:txBody>
      </p:sp>
      <p:sp>
        <p:nvSpPr>
          <p:cNvPr id="10" name="Shape 7"/>
          <p:cNvSpPr/>
          <p:nvPr/>
        </p:nvSpPr>
        <p:spPr>
          <a:xfrm>
            <a:off x="2807208" y="1371600"/>
            <a:ext cx="2121408" cy="1143000"/>
          </a:xfrm>
          <a:prstGeom prst="roundRect">
            <a:avLst>
              <a:gd name="adj" fmla="val 6400"/>
            </a:avLst>
          </a:prstGeom>
          <a:solidFill>
            <a:srgbClr val="F7F9FC"/>
          </a:solidFill>
          <a:ln w="9525">
            <a:solidFill>
              <a:srgbClr val="D5DDE9"/>
            </a:solidFill>
            <a:prstDash val="solid"/>
          </a:ln>
        </p:spPr>
      </p:sp>
      <p:sp>
        <p:nvSpPr>
          <p:cNvPr id="11" name="Shape 8"/>
          <p:cNvSpPr/>
          <p:nvPr/>
        </p:nvSpPr>
        <p:spPr>
          <a:xfrm>
            <a:off x="2944368" y="1508760"/>
            <a:ext cx="420624" cy="420624"/>
          </a:xfrm>
          <a:prstGeom prst="ellipse">
            <a:avLst/>
          </a:prstGeom>
          <a:solidFill>
            <a:srgbClr val="E3E9F3"/>
          </a:solidFill>
          <a:ln w="12700">
            <a:solidFill>
              <a:srgbClr val="E3E9F3"/>
            </a:solidFill>
            <a:prstDash val="solid"/>
          </a:ln>
        </p:spPr>
      </p:sp>
      <p:pic>
        <p:nvPicPr>
          <p:cNvPr id="12" name="Image 1" descr="preencoded.png">    </p:cNvPr>
          <p:cNvPicPr>
            <a:picLocks noChangeAspect="1"/>
          </p:cNvPicPr>
          <p:nvPr/>
        </p:nvPicPr>
        <p:blipFill>
          <a:blip r:embed="rId2"/>
          <a:stretch>
            <a:fillRect/>
          </a:stretch>
        </p:blipFill>
        <p:spPr>
          <a:xfrm>
            <a:off x="3045318" y="1609710"/>
            <a:ext cx="218724" cy="218724"/>
          </a:xfrm>
          <a:prstGeom prst="rect">
            <a:avLst/>
          </a:prstGeom>
        </p:spPr>
      </p:pic>
      <p:sp>
        <p:nvSpPr>
          <p:cNvPr id="13" name="Text 9"/>
          <p:cNvSpPr txBox="1"/>
          <p:nvPr/>
        </p:nvSpPr>
        <p:spPr>
          <a:xfrm>
            <a:off x="3465576" y="1508760"/>
            <a:ext cx="1280160" cy="42062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C2</a:t>
            </a:r>
            <a:endParaRPr lang="en-US" sz="1300" dirty="0"/>
          </a:p>
        </p:txBody>
      </p:sp>
      <p:sp>
        <p:nvSpPr>
          <p:cNvPr id="14" name="Text 10"/>
          <p:cNvSpPr txBox="1"/>
          <p:nvPr/>
        </p:nvSpPr>
        <p:spPr>
          <a:xfrm>
            <a:off x="2944368" y="1993392"/>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Erasure propagation</a:t>
            </a:r>
            <a:endParaRPr lang="en-US" sz="1150" dirty="0"/>
          </a:p>
        </p:txBody>
      </p:sp>
      <p:sp>
        <p:nvSpPr>
          <p:cNvPr id="15" name="Shape 11"/>
          <p:cNvSpPr/>
          <p:nvPr/>
        </p:nvSpPr>
        <p:spPr>
          <a:xfrm>
            <a:off x="5065776" y="1371600"/>
            <a:ext cx="2121408" cy="1143000"/>
          </a:xfrm>
          <a:prstGeom prst="roundRect">
            <a:avLst>
              <a:gd name="adj" fmla="val 6400"/>
            </a:avLst>
          </a:prstGeom>
          <a:solidFill>
            <a:srgbClr val="DDF0ED"/>
          </a:solidFill>
          <a:ln w="9525">
            <a:solidFill>
              <a:srgbClr val="12867A"/>
            </a:solidFill>
            <a:prstDash val="solid"/>
          </a:ln>
        </p:spPr>
      </p:sp>
      <p:sp>
        <p:nvSpPr>
          <p:cNvPr id="16" name="Shape 12"/>
          <p:cNvSpPr/>
          <p:nvPr/>
        </p:nvSpPr>
        <p:spPr>
          <a:xfrm>
            <a:off x="5202936" y="1508760"/>
            <a:ext cx="420624" cy="420624"/>
          </a:xfrm>
          <a:prstGeom prst="ellipse">
            <a:avLst/>
          </a:prstGeom>
          <a:solidFill>
            <a:srgbClr val="E3E9F3"/>
          </a:solidFill>
          <a:ln w="12700">
            <a:solidFill>
              <a:srgbClr val="E3E9F3"/>
            </a:solidFill>
            <a:prstDash val="solid"/>
          </a:ln>
        </p:spPr>
      </p:sp>
      <p:pic>
        <p:nvPicPr>
          <p:cNvPr id="17" name="Image 2" descr="preencoded.png">    </p:cNvPr>
          <p:cNvPicPr>
            <a:picLocks noChangeAspect="1"/>
          </p:cNvPicPr>
          <p:nvPr/>
        </p:nvPicPr>
        <p:blipFill>
          <a:blip r:embed="rId3"/>
          <a:stretch>
            <a:fillRect/>
          </a:stretch>
        </p:blipFill>
        <p:spPr>
          <a:xfrm>
            <a:off x="5303886" y="1609710"/>
            <a:ext cx="218724" cy="218724"/>
          </a:xfrm>
          <a:prstGeom prst="rect">
            <a:avLst/>
          </a:prstGeom>
        </p:spPr>
      </p:pic>
      <p:sp>
        <p:nvSpPr>
          <p:cNvPr id="18" name="Text 13"/>
          <p:cNvSpPr txBox="1"/>
          <p:nvPr/>
        </p:nvSpPr>
        <p:spPr>
          <a:xfrm>
            <a:off x="5724144" y="1508760"/>
            <a:ext cx="1280160" cy="42062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C3</a:t>
            </a:r>
            <a:endParaRPr lang="en-US" sz="1300" dirty="0"/>
          </a:p>
        </p:txBody>
      </p:sp>
      <p:sp>
        <p:nvSpPr>
          <p:cNvPr id="19" name="Text 14"/>
          <p:cNvSpPr txBox="1"/>
          <p:nvPr/>
        </p:nvSpPr>
        <p:spPr>
          <a:xfrm>
            <a:off x="5202936" y="1993392"/>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Memory audit trail</a:t>
            </a:r>
            <a:endParaRPr lang="en-US" sz="1150" dirty="0"/>
          </a:p>
        </p:txBody>
      </p:sp>
      <p:sp>
        <p:nvSpPr>
          <p:cNvPr id="20" name="Shape 15"/>
          <p:cNvSpPr/>
          <p:nvPr/>
        </p:nvSpPr>
        <p:spPr>
          <a:xfrm>
            <a:off x="7324344" y="1371600"/>
            <a:ext cx="2121408" cy="1143000"/>
          </a:xfrm>
          <a:prstGeom prst="roundRect">
            <a:avLst>
              <a:gd name="adj" fmla="val 6400"/>
            </a:avLst>
          </a:prstGeom>
          <a:solidFill>
            <a:srgbClr val="DDF0ED"/>
          </a:solidFill>
          <a:ln w="9525">
            <a:solidFill>
              <a:srgbClr val="12867A"/>
            </a:solidFill>
            <a:prstDash val="solid"/>
          </a:ln>
        </p:spPr>
      </p:sp>
      <p:sp>
        <p:nvSpPr>
          <p:cNvPr id="21" name="Shape 16"/>
          <p:cNvSpPr/>
          <p:nvPr/>
        </p:nvSpPr>
        <p:spPr>
          <a:xfrm>
            <a:off x="7461504" y="1508760"/>
            <a:ext cx="420624" cy="420624"/>
          </a:xfrm>
          <a:prstGeom prst="ellipse">
            <a:avLst/>
          </a:prstGeom>
          <a:solidFill>
            <a:srgbClr val="E3E9F3"/>
          </a:solidFill>
          <a:ln w="12700">
            <a:solidFill>
              <a:srgbClr val="E3E9F3"/>
            </a:solidFill>
            <a:prstDash val="solid"/>
          </a:ln>
        </p:spPr>
      </p:sp>
      <p:pic>
        <p:nvPicPr>
          <p:cNvPr id="22" name="Image 3" descr="preencoded.png">    </p:cNvPr>
          <p:cNvPicPr>
            <a:picLocks noChangeAspect="1"/>
          </p:cNvPicPr>
          <p:nvPr/>
        </p:nvPicPr>
        <p:blipFill>
          <a:blip r:embed="rId4"/>
          <a:stretch>
            <a:fillRect/>
          </a:stretch>
        </p:blipFill>
        <p:spPr>
          <a:xfrm>
            <a:off x="7562454" y="1609710"/>
            <a:ext cx="218724" cy="218724"/>
          </a:xfrm>
          <a:prstGeom prst="rect">
            <a:avLst/>
          </a:prstGeom>
        </p:spPr>
      </p:pic>
      <p:sp>
        <p:nvSpPr>
          <p:cNvPr id="23" name="Text 17"/>
          <p:cNvSpPr txBox="1"/>
          <p:nvPr/>
        </p:nvSpPr>
        <p:spPr>
          <a:xfrm>
            <a:off x="7982712" y="1508760"/>
            <a:ext cx="1280160" cy="42062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C5</a:t>
            </a:r>
            <a:endParaRPr lang="en-US" sz="1300" dirty="0"/>
          </a:p>
        </p:txBody>
      </p:sp>
      <p:sp>
        <p:nvSpPr>
          <p:cNvPr id="24" name="Text 18"/>
          <p:cNvSpPr txBox="1"/>
          <p:nvPr/>
        </p:nvSpPr>
        <p:spPr>
          <a:xfrm>
            <a:off x="7461504" y="1993392"/>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OSS / vendor lifecycle</a:t>
            </a:r>
            <a:endParaRPr lang="en-US" sz="1150" dirty="0"/>
          </a:p>
        </p:txBody>
      </p:sp>
      <p:sp>
        <p:nvSpPr>
          <p:cNvPr id="25" name="Shape 19"/>
          <p:cNvSpPr/>
          <p:nvPr/>
        </p:nvSpPr>
        <p:spPr>
          <a:xfrm>
            <a:off x="9582912" y="1371600"/>
            <a:ext cx="2121408" cy="1143000"/>
          </a:xfrm>
          <a:prstGeom prst="roundRect">
            <a:avLst>
              <a:gd name="adj" fmla="val 6400"/>
            </a:avLst>
          </a:prstGeom>
          <a:solidFill>
            <a:srgbClr val="F7F9FC"/>
          </a:solidFill>
          <a:ln w="9525">
            <a:solidFill>
              <a:srgbClr val="D5DDE9"/>
            </a:solidFill>
            <a:prstDash val="solid"/>
          </a:ln>
        </p:spPr>
      </p:sp>
      <p:sp>
        <p:nvSpPr>
          <p:cNvPr id="26" name="Shape 20"/>
          <p:cNvSpPr/>
          <p:nvPr/>
        </p:nvSpPr>
        <p:spPr>
          <a:xfrm>
            <a:off x="9720072" y="1508760"/>
            <a:ext cx="420624" cy="420624"/>
          </a:xfrm>
          <a:prstGeom prst="ellipse">
            <a:avLst/>
          </a:prstGeom>
          <a:solidFill>
            <a:srgbClr val="E3E9F3"/>
          </a:solidFill>
          <a:ln w="12700">
            <a:solidFill>
              <a:srgbClr val="E3E9F3"/>
            </a:solidFill>
            <a:prstDash val="solid"/>
          </a:ln>
        </p:spPr>
      </p:sp>
      <p:pic>
        <p:nvPicPr>
          <p:cNvPr id="27" name="Image 4" descr="preencoded.png">    </p:cNvPr>
          <p:cNvPicPr>
            <a:picLocks noChangeAspect="1"/>
          </p:cNvPicPr>
          <p:nvPr/>
        </p:nvPicPr>
        <p:blipFill>
          <a:blip r:embed="rId5"/>
          <a:stretch>
            <a:fillRect/>
          </a:stretch>
        </p:blipFill>
        <p:spPr>
          <a:xfrm>
            <a:off x="9821022" y="1609710"/>
            <a:ext cx="218724" cy="218724"/>
          </a:xfrm>
          <a:prstGeom prst="rect">
            <a:avLst/>
          </a:prstGeom>
        </p:spPr>
      </p:pic>
      <p:sp>
        <p:nvSpPr>
          <p:cNvPr id="28" name="Text 21"/>
          <p:cNvSpPr txBox="1"/>
          <p:nvPr/>
        </p:nvSpPr>
        <p:spPr>
          <a:xfrm>
            <a:off x="10241280" y="1508760"/>
            <a:ext cx="1280160" cy="420624"/>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C10</a:t>
            </a:r>
            <a:endParaRPr lang="en-US" sz="1300" dirty="0"/>
          </a:p>
        </p:txBody>
      </p:sp>
      <p:sp>
        <p:nvSpPr>
          <p:cNvPr id="29" name="Text 22"/>
          <p:cNvSpPr txBox="1"/>
          <p:nvPr/>
        </p:nvSpPr>
        <p:spPr>
          <a:xfrm>
            <a:off x="9720072" y="1993392"/>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Memory security</a:t>
            </a:r>
            <a:endParaRPr lang="en-US" sz="1150" dirty="0"/>
          </a:p>
        </p:txBody>
      </p:sp>
      <p:sp>
        <p:nvSpPr>
          <p:cNvPr id="30" name="Shape 23"/>
          <p:cNvSpPr/>
          <p:nvPr/>
        </p:nvSpPr>
        <p:spPr>
          <a:xfrm>
            <a:off x="548640" y="2679192"/>
            <a:ext cx="2121408" cy="1143000"/>
          </a:xfrm>
          <a:prstGeom prst="roundRect">
            <a:avLst>
              <a:gd name="adj" fmla="val 6400"/>
            </a:avLst>
          </a:prstGeom>
          <a:solidFill>
            <a:srgbClr val="DDF0ED"/>
          </a:solidFill>
          <a:ln w="9525">
            <a:solidFill>
              <a:srgbClr val="12867A"/>
            </a:solidFill>
            <a:prstDash val="solid"/>
          </a:ln>
        </p:spPr>
      </p:sp>
      <p:sp>
        <p:nvSpPr>
          <p:cNvPr id="31" name="Shape 24"/>
          <p:cNvSpPr/>
          <p:nvPr/>
        </p:nvSpPr>
        <p:spPr>
          <a:xfrm>
            <a:off x="685800" y="2816352"/>
            <a:ext cx="420624" cy="420624"/>
          </a:xfrm>
          <a:prstGeom prst="ellipse">
            <a:avLst/>
          </a:prstGeom>
          <a:solidFill>
            <a:srgbClr val="DDF0ED"/>
          </a:solidFill>
          <a:ln w="12700">
            <a:solidFill>
              <a:srgbClr val="DDF0ED"/>
            </a:solidFill>
            <a:prstDash val="solid"/>
          </a:ln>
        </p:spPr>
      </p:sp>
      <p:pic>
        <p:nvPicPr>
          <p:cNvPr id="32" name="Image 5" descr="preencoded.png">    </p:cNvPr>
          <p:cNvPicPr>
            <a:picLocks noChangeAspect="1"/>
          </p:cNvPicPr>
          <p:nvPr/>
        </p:nvPicPr>
        <p:blipFill>
          <a:blip r:embed="rId6"/>
          <a:stretch>
            <a:fillRect/>
          </a:stretch>
        </p:blipFill>
        <p:spPr>
          <a:xfrm>
            <a:off x="786750" y="2917302"/>
            <a:ext cx="218724" cy="218724"/>
          </a:xfrm>
          <a:prstGeom prst="rect">
            <a:avLst/>
          </a:prstGeom>
        </p:spPr>
      </p:pic>
      <p:sp>
        <p:nvSpPr>
          <p:cNvPr id="33" name="Text 25"/>
          <p:cNvSpPr txBox="1"/>
          <p:nvPr/>
        </p:nvSpPr>
        <p:spPr>
          <a:xfrm>
            <a:off x="1207008" y="2816352"/>
            <a:ext cx="1280160" cy="420624"/>
          </a:xfrm>
          <a:prstGeom prst="rect">
            <a:avLst/>
          </a:prstGeom>
          <a:noFill/>
          <a:ln/>
        </p:spPr>
        <p:txBody>
          <a:bodyPr wrap="square" lIns="0" tIns="0" rIns="0" bIns="0" rtlCol="0" anchor="ctr"/>
          <a:lstStyle/>
          <a:p>
            <a:pPr indent="0" marL="0">
              <a:buNone/>
            </a:pPr>
            <a:r>
              <a:rPr lang="en-US" sz="1300" b="1" dirty="0">
                <a:solidFill>
                  <a:srgbClr val="12867A"/>
                </a:solidFill>
                <a:latin typeface="Calibri" pitchFamily="34" charset="0"/>
                <a:ea typeface="Calibri" pitchFamily="34" charset="-122"/>
                <a:cs typeface="Calibri" pitchFamily="34" charset="-120"/>
              </a:rPr>
              <a:t>C11</a:t>
            </a:r>
            <a:endParaRPr lang="en-US" sz="1300" dirty="0"/>
          </a:p>
        </p:txBody>
      </p:sp>
      <p:sp>
        <p:nvSpPr>
          <p:cNvPr id="34" name="Text 26"/>
          <p:cNvSpPr txBox="1"/>
          <p:nvPr/>
        </p:nvSpPr>
        <p:spPr>
          <a:xfrm>
            <a:off x="685800" y="3300984"/>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Provider / data-flow pinning</a:t>
            </a:r>
            <a:endParaRPr lang="en-US" sz="1150" dirty="0"/>
          </a:p>
        </p:txBody>
      </p:sp>
      <p:sp>
        <p:nvSpPr>
          <p:cNvPr id="35" name="Shape 27"/>
          <p:cNvSpPr/>
          <p:nvPr/>
        </p:nvSpPr>
        <p:spPr>
          <a:xfrm>
            <a:off x="2807208" y="2679192"/>
            <a:ext cx="2121408" cy="1143000"/>
          </a:xfrm>
          <a:prstGeom prst="roundRect">
            <a:avLst>
              <a:gd name="adj" fmla="val 6400"/>
            </a:avLst>
          </a:prstGeom>
          <a:solidFill>
            <a:srgbClr val="DDF0ED"/>
          </a:solidFill>
          <a:ln w="9525">
            <a:solidFill>
              <a:srgbClr val="12867A"/>
            </a:solidFill>
            <a:prstDash val="solid"/>
          </a:ln>
        </p:spPr>
      </p:sp>
      <p:sp>
        <p:nvSpPr>
          <p:cNvPr id="36" name="Shape 28"/>
          <p:cNvSpPr/>
          <p:nvPr/>
        </p:nvSpPr>
        <p:spPr>
          <a:xfrm>
            <a:off x="2944368" y="2816352"/>
            <a:ext cx="420624" cy="420624"/>
          </a:xfrm>
          <a:prstGeom prst="ellipse">
            <a:avLst/>
          </a:prstGeom>
          <a:solidFill>
            <a:srgbClr val="DDF0ED"/>
          </a:solidFill>
          <a:ln w="12700">
            <a:solidFill>
              <a:srgbClr val="DDF0ED"/>
            </a:solidFill>
            <a:prstDash val="solid"/>
          </a:ln>
        </p:spPr>
      </p:sp>
      <p:pic>
        <p:nvPicPr>
          <p:cNvPr id="37" name="Image 6" descr="preencoded.png">    </p:cNvPr>
          <p:cNvPicPr>
            <a:picLocks noChangeAspect="1"/>
          </p:cNvPicPr>
          <p:nvPr/>
        </p:nvPicPr>
        <p:blipFill>
          <a:blip r:embed="rId7"/>
          <a:stretch>
            <a:fillRect/>
          </a:stretch>
        </p:blipFill>
        <p:spPr>
          <a:xfrm>
            <a:off x="3045318" y="2917302"/>
            <a:ext cx="218724" cy="218724"/>
          </a:xfrm>
          <a:prstGeom prst="rect">
            <a:avLst/>
          </a:prstGeom>
        </p:spPr>
      </p:pic>
      <p:sp>
        <p:nvSpPr>
          <p:cNvPr id="38" name="Text 29"/>
          <p:cNvSpPr txBox="1"/>
          <p:nvPr/>
        </p:nvSpPr>
        <p:spPr>
          <a:xfrm>
            <a:off x="3465576" y="2816352"/>
            <a:ext cx="1280160" cy="420624"/>
          </a:xfrm>
          <a:prstGeom prst="rect">
            <a:avLst/>
          </a:prstGeom>
          <a:noFill/>
          <a:ln/>
        </p:spPr>
        <p:txBody>
          <a:bodyPr wrap="square" lIns="0" tIns="0" rIns="0" bIns="0" rtlCol="0" anchor="ctr"/>
          <a:lstStyle/>
          <a:p>
            <a:pPr indent="0" marL="0">
              <a:buNone/>
            </a:pPr>
            <a:r>
              <a:rPr lang="en-US" sz="1300" b="1" dirty="0">
                <a:solidFill>
                  <a:srgbClr val="12867A"/>
                </a:solidFill>
                <a:latin typeface="Calibri" pitchFamily="34" charset="0"/>
                <a:ea typeface="Calibri" pitchFamily="34" charset="-122"/>
                <a:cs typeface="Calibri" pitchFamily="34" charset="-120"/>
              </a:rPr>
              <a:t>C13</a:t>
            </a:r>
            <a:endParaRPr lang="en-US" sz="1300" dirty="0"/>
          </a:p>
        </p:txBody>
      </p:sp>
      <p:sp>
        <p:nvSpPr>
          <p:cNvPr id="39" name="Text 30"/>
          <p:cNvSpPr txBox="1"/>
          <p:nvPr/>
        </p:nvSpPr>
        <p:spPr>
          <a:xfrm>
            <a:off x="2944368" y="3300984"/>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Legal basis + purpose</a:t>
            </a:r>
            <a:endParaRPr lang="en-US" sz="1150" dirty="0"/>
          </a:p>
        </p:txBody>
      </p:sp>
      <p:sp>
        <p:nvSpPr>
          <p:cNvPr id="40" name="Shape 31"/>
          <p:cNvSpPr/>
          <p:nvPr/>
        </p:nvSpPr>
        <p:spPr>
          <a:xfrm>
            <a:off x="5065776" y="2679192"/>
            <a:ext cx="2121408" cy="1143000"/>
          </a:xfrm>
          <a:prstGeom prst="roundRect">
            <a:avLst>
              <a:gd name="adj" fmla="val 6400"/>
            </a:avLst>
          </a:prstGeom>
          <a:solidFill>
            <a:srgbClr val="F7F9FC"/>
          </a:solidFill>
          <a:ln w="9525">
            <a:solidFill>
              <a:srgbClr val="D5DDE9"/>
            </a:solidFill>
            <a:prstDash val="solid"/>
          </a:ln>
        </p:spPr>
      </p:sp>
      <p:sp>
        <p:nvSpPr>
          <p:cNvPr id="41" name="Shape 32"/>
          <p:cNvSpPr/>
          <p:nvPr/>
        </p:nvSpPr>
        <p:spPr>
          <a:xfrm>
            <a:off x="5202936" y="2816352"/>
            <a:ext cx="420624" cy="420624"/>
          </a:xfrm>
          <a:prstGeom prst="ellipse">
            <a:avLst/>
          </a:prstGeom>
          <a:solidFill>
            <a:srgbClr val="DDF0ED"/>
          </a:solidFill>
          <a:ln w="12700">
            <a:solidFill>
              <a:srgbClr val="DDF0ED"/>
            </a:solidFill>
            <a:prstDash val="solid"/>
          </a:ln>
        </p:spPr>
      </p:sp>
      <p:pic>
        <p:nvPicPr>
          <p:cNvPr id="42" name="Image 7" descr="preencoded.png">    </p:cNvPr>
          <p:cNvPicPr>
            <a:picLocks noChangeAspect="1"/>
          </p:cNvPicPr>
          <p:nvPr/>
        </p:nvPicPr>
        <p:blipFill>
          <a:blip r:embed="rId8"/>
          <a:stretch>
            <a:fillRect/>
          </a:stretch>
        </p:blipFill>
        <p:spPr>
          <a:xfrm>
            <a:off x="5303886" y="2917302"/>
            <a:ext cx="218724" cy="218724"/>
          </a:xfrm>
          <a:prstGeom prst="rect">
            <a:avLst/>
          </a:prstGeom>
        </p:spPr>
      </p:pic>
      <p:sp>
        <p:nvSpPr>
          <p:cNvPr id="43" name="Text 33"/>
          <p:cNvSpPr txBox="1"/>
          <p:nvPr/>
        </p:nvSpPr>
        <p:spPr>
          <a:xfrm>
            <a:off x="5724144" y="2816352"/>
            <a:ext cx="1280160" cy="420624"/>
          </a:xfrm>
          <a:prstGeom prst="rect">
            <a:avLst/>
          </a:prstGeom>
          <a:noFill/>
          <a:ln/>
        </p:spPr>
        <p:txBody>
          <a:bodyPr wrap="square" lIns="0" tIns="0" rIns="0" bIns="0" rtlCol="0" anchor="ctr"/>
          <a:lstStyle/>
          <a:p>
            <a:pPr indent="0" marL="0">
              <a:buNone/>
            </a:pPr>
            <a:r>
              <a:rPr lang="en-US" sz="1300" b="1" dirty="0">
                <a:solidFill>
                  <a:srgbClr val="12867A"/>
                </a:solidFill>
                <a:latin typeface="Calibri" pitchFamily="34" charset="0"/>
                <a:ea typeface="Calibri" pitchFamily="34" charset="-122"/>
                <a:cs typeface="Calibri" pitchFamily="34" charset="-120"/>
              </a:rPr>
              <a:t>C16</a:t>
            </a:r>
            <a:endParaRPr lang="en-US" sz="1300" dirty="0"/>
          </a:p>
        </p:txBody>
      </p:sp>
      <p:sp>
        <p:nvSpPr>
          <p:cNvPr id="44" name="Text 34"/>
          <p:cNvSpPr txBox="1"/>
          <p:nvPr/>
        </p:nvSpPr>
        <p:spPr>
          <a:xfrm>
            <a:off x="5202936" y="3300984"/>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Inferred-memory classification</a:t>
            </a:r>
            <a:endParaRPr lang="en-US" sz="1150" dirty="0"/>
          </a:p>
        </p:txBody>
      </p:sp>
      <p:sp>
        <p:nvSpPr>
          <p:cNvPr id="45" name="Shape 35"/>
          <p:cNvSpPr/>
          <p:nvPr/>
        </p:nvSpPr>
        <p:spPr>
          <a:xfrm>
            <a:off x="7324344" y="2679192"/>
            <a:ext cx="2121408" cy="1143000"/>
          </a:xfrm>
          <a:prstGeom prst="roundRect">
            <a:avLst>
              <a:gd name="adj" fmla="val 6400"/>
            </a:avLst>
          </a:prstGeom>
          <a:solidFill>
            <a:srgbClr val="DDF0ED"/>
          </a:solidFill>
          <a:ln w="9525">
            <a:solidFill>
              <a:srgbClr val="12867A"/>
            </a:solidFill>
            <a:prstDash val="solid"/>
          </a:ln>
        </p:spPr>
      </p:sp>
      <p:sp>
        <p:nvSpPr>
          <p:cNvPr id="46" name="Shape 36"/>
          <p:cNvSpPr/>
          <p:nvPr/>
        </p:nvSpPr>
        <p:spPr>
          <a:xfrm>
            <a:off x="7461504" y="2816352"/>
            <a:ext cx="420624" cy="420624"/>
          </a:xfrm>
          <a:prstGeom prst="ellipse">
            <a:avLst/>
          </a:prstGeom>
          <a:solidFill>
            <a:srgbClr val="DDF0ED"/>
          </a:solidFill>
          <a:ln w="12700">
            <a:solidFill>
              <a:srgbClr val="DDF0ED"/>
            </a:solidFill>
            <a:prstDash val="solid"/>
          </a:ln>
        </p:spPr>
      </p:sp>
      <p:pic>
        <p:nvPicPr>
          <p:cNvPr id="47" name="Image 8" descr="preencoded.png">    </p:cNvPr>
          <p:cNvPicPr>
            <a:picLocks noChangeAspect="1"/>
          </p:cNvPicPr>
          <p:nvPr/>
        </p:nvPicPr>
        <p:blipFill>
          <a:blip r:embed="rId9"/>
          <a:stretch>
            <a:fillRect/>
          </a:stretch>
        </p:blipFill>
        <p:spPr>
          <a:xfrm>
            <a:off x="7562454" y="2917302"/>
            <a:ext cx="218724" cy="218724"/>
          </a:xfrm>
          <a:prstGeom prst="rect">
            <a:avLst/>
          </a:prstGeom>
        </p:spPr>
      </p:pic>
      <p:sp>
        <p:nvSpPr>
          <p:cNvPr id="48" name="Text 37"/>
          <p:cNvSpPr txBox="1"/>
          <p:nvPr/>
        </p:nvSpPr>
        <p:spPr>
          <a:xfrm>
            <a:off x="7982712" y="2816352"/>
            <a:ext cx="1280160" cy="420624"/>
          </a:xfrm>
          <a:prstGeom prst="rect">
            <a:avLst/>
          </a:prstGeom>
          <a:noFill/>
          <a:ln/>
        </p:spPr>
        <p:txBody>
          <a:bodyPr wrap="square" lIns="0" tIns="0" rIns="0" bIns="0" rtlCol="0" anchor="ctr"/>
          <a:lstStyle/>
          <a:p>
            <a:pPr indent="0" marL="0">
              <a:buNone/>
            </a:pPr>
            <a:r>
              <a:rPr lang="en-US" sz="1300" b="1" dirty="0">
                <a:solidFill>
                  <a:srgbClr val="12867A"/>
                </a:solidFill>
                <a:latin typeface="Calibri" pitchFamily="34" charset="0"/>
                <a:ea typeface="Calibri" pitchFamily="34" charset="-122"/>
                <a:cs typeface="Calibri" pitchFamily="34" charset="-120"/>
              </a:rPr>
              <a:t>C17</a:t>
            </a:r>
            <a:endParaRPr lang="en-US" sz="1300" dirty="0"/>
          </a:p>
        </p:txBody>
      </p:sp>
      <p:sp>
        <p:nvSpPr>
          <p:cNvPr id="49" name="Text 38"/>
          <p:cNvSpPr txBox="1"/>
          <p:nvPr/>
        </p:nvSpPr>
        <p:spPr>
          <a:xfrm>
            <a:off x="7461504" y="3300984"/>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Tenant isolation</a:t>
            </a:r>
            <a:endParaRPr lang="en-US" sz="1150" dirty="0"/>
          </a:p>
        </p:txBody>
      </p:sp>
      <p:sp>
        <p:nvSpPr>
          <p:cNvPr id="50" name="Shape 39"/>
          <p:cNvSpPr/>
          <p:nvPr/>
        </p:nvSpPr>
        <p:spPr>
          <a:xfrm>
            <a:off x="9582912" y="2679192"/>
            <a:ext cx="2121408" cy="1143000"/>
          </a:xfrm>
          <a:prstGeom prst="roundRect">
            <a:avLst>
              <a:gd name="adj" fmla="val 6400"/>
            </a:avLst>
          </a:prstGeom>
          <a:solidFill>
            <a:srgbClr val="F7F9FC"/>
          </a:solidFill>
          <a:ln w="9525">
            <a:solidFill>
              <a:srgbClr val="D5DDE9"/>
            </a:solidFill>
            <a:prstDash val="solid"/>
          </a:ln>
        </p:spPr>
      </p:sp>
      <p:sp>
        <p:nvSpPr>
          <p:cNvPr id="51" name="Shape 40"/>
          <p:cNvSpPr/>
          <p:nvPr/>
        </p:nvSpPr>
        <p:spPr>
          <a:xfrm>
            <a:off x="9720072" y="2816352"/>
            <a:ext cx="420624" cy="420624"/>
          </a:xfrm>
          <a:prstGeom prst="ellipse">
            <a:avLst/>
          </a:prstGeom>
          <a:solidFill>
            <a:srgbClr val="DDF0ED"/>
          </a:solidFill>
          <a:ln w="12700">
            <a:solidFill>
              <a:srgbClr val="DDF0ED"/>
            </a:solidFill>
            <a:prstDash val="solid"/>
          </a:ln>
        </p:spPr>
      </p:sp>
      <p:pic>
        <p:nvPicPr>
          <p:cNvPr id="52" name="Image 9" descr="preencoded.png">    </p:cNvPr>
          <p:cNvPicPr>
            <a:picLocks noChangeAspect="1"/>
          </p:cNvPicPr>
          <p:nvPr/>
        </p:nvPicPr>
        <p:blipFill>
          <a:blip r:embed="rId10"/>
          <a:stretch>
            <a:fillRect/>
          </a:stretch>
        </p:blipFill>
        <p:spPr>
          <a:xfrm>
            <a:off x="9821022" y="2917302"/>
            <a:ext cx="218724" cy="218724"/>
          </a:xfrm>
          <a:prstGeom prst="rect">
            <a:avLst/>
          </a:prstGeom>
        </p:spPr>
      </p:pic>
      <p:sp>
        <p:nvSpPr>
          <p:cNvPr id="53" name="Text 41"/>
          <p:cNvSpPr txBox="1"/>
          <p:nvPr/>
        </p:nvSpPr>
        <p:spPr>
          <a:xfrm>
            <a:off x="10241280" y="2816352"/>
            <a:ext cx="1280160" cy="420624"/>
          </a:xfrm>
          <a:prstGeom prst="rect">
            <a:avLst/>
          </a:prstGeom>
          <a:noFill/>
          <a:ln/>
        </p:spPr>
        <p:txBody>
          <a:bodyPr wrap="square" lIns="0" tIns="0" rIns="0" bIns="0" rtlCol="0" anchor="ctr"/>
          <a:lstStyle/>
          <a:p>
            <a:pPr indent="0" marL="0">
              <a:buNone/>
            </a:pPr>
            <a:r>
              <a:rPr lang="en-US" sz="1300" b="1" dirty="0">
                <a:solidFill>
                  <a:srgbClr val="12867A"/>
                </a:solidFill>
                <a:latin typeface="Calibri" pitchFamily="34" charset="0"/>
                <a:ea typeface="Calibri" pitchFamily="34" charset="-122"/>
                <a:cs typeface="Calibri" pitchFamily="34" charset="-120"/>
              </a:rPr>
              <a:t>C19</a:t>
            </a:r>
            <a:endParaRPr lang="en-US" sz="1300" dirty="0"/>
          </a:p>
        </p:txBody>
      </p:sp>
      <p:sp>
        <p:nvSpPr>
          <p:cNvPr id="54" name="Text 42"/>
          <p:cNvSpPr txBox="1"/>
          <p:nvPr/>
        </p:nvSpPr>
        <p:spPr>
          <a:xfrm>
            <a:off x="9720072" y="3300984"/>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Information barriers / MNPI</a:t>
            </a:r>
            <a:endParaRPr lang="en-US" sz="1150" dirty="0"/>
          </a:p>
        </p:txBody>
      </p:sp>
      <p:sp>
        <p:nvSpPr>
          <p:cNvPr id="55" name="Shape 43"/>
          <p:cNvSpPr/>
          <p:nvPr/>
        </p:nvSpPr>
        <p:spPr>
          <a:xfrm>
            <a:off x="548640" y="3986784"/>
            <a:ext cx="2121408" cy="1143000"/>
          </a:xfrm>
          <a:prstGeom prst="roundRect">
            <a:avLst>
              <a:gd name="adj" fmla="val 6400"/>
            </a:avLst>
          </a:prstGeom>
          <a:solidFill>
            <a:srgbClr val="F7F9FC"/>
          </a:solidFill>
          <a:ln w="9525">
            <a:solidFill>
              <a:srgbClr val="D5DDE9"/>
            </a:solidFill>
            <a:prstDash val="solid"/>
          </a:ln>
        </p:spPr>
      </p:sp>
      <p:sp>
        <p:nvSpPr>
          <p:cNvPr id="56" name="Shape 44"/>
          <p:cNvSpPr/>
          <p:nvPr/>
        </p:nvSpPr>
        <p:spPr>
          <a:xfrm>
            <a:off x="685800" y="4123944"/>
            <a:ext cx="420624" cy="420624"/>
          </a:xfrm>
          <a:prstGeom prst="ellipse">
            <a:avLst/>
          </a:prstGeom>
          <a:solidFill>
            <a:srgbClr val="FBF1DE"/>
          </a:solidFill>
          <a:ln w="12700">
            <a:solidFill>
              <a:srgbClr val="FBF1DE"/>
            </a:solidFill>
            <a:prstDash val="solid"/>
          </a:ln>
        </p:spPr>
      </p:sp>
      <p:pic>
        <p:nvPicPr>
          <p:cNvPr id="57" name="Image 10" descr="preencoded.png">    </p:cNvPr>
          <p:cNvPicPr>
            <a:picLocks noChangeAspect="1"/>
          </p:cNvPicPr>
          <p:nvPr/>
        </p:nvPicPr>
        <p:blipFill>
          <a:blip r:embed="rId11"/>
          <a:stretch>
            <a:fillRect/>
          </a:stretch>
        </p:blipFill>
        <p:spPr>
          <a:xfrm>
            <a:off x="786750" y="4224894"/>
            <a:ext cx="218724" cy="218724"/>
          </a:xfrm>
          <a:prstGeom prst="rect">
            <a:avLst/>
          </a:prstGeom>
        </p:spPr>
      </p:pic>
      <p:sp>
        <p:nvSpPr>
          <p:cNvPr id="58" name="Text 45"/>
          <p:cNvSpPr txBox="1"/>
          <p:nvPr/>
        </p:nvSpPr>
        <p:spPr>
          <a:xfrm>
            <a:off x="1207008" y="4123944"/>
            <a:ext cx="1280160" cy="420624"/>
          </a:xfrm>
          <a:prstGeom prst="rect">
            <a:avLst/>
          </a:prstGeom>
          <a:noFill/>
          <a:ln/>
        </p:spPr>
        <p:txBody>
          <a:bodyPr wrap="square" lIns="0" tIns="0" rIns="0" bIns="0" rtlCol="0" anchor="ctr"/>
          <a:lstStyle/>
          <a:p>
            <a:pPr indent="0" marL="0">
              <a:buNone/>
            </a:pPr>
            <a:r>
              <a:rPr lang="en-US" sz="1300" b="1" dirty="0">
                <a:solidFill>
                  <a:srgbClr val="D98E04"/>
                </a:solidFill>
                <a:latin typeface="Calibri" pitchFamily="34" charset="0"/>
                <a:ea typeface="Calibri" pitchFamily="34" charset="-122"/>
                <a:cs typeface="Calibri" pitchFamily="34" charset="-120"/>
              </a:rPr>
              <a:t>C20</a:t>
            </a:r>
            <a:endParaRPr lang="en-US" sz="1300" dirty="0"/>
          </a:p>
        </p:txBody>
      </p:sp>
      <p:sp>
        <p:nvSpPr>
          <p:cNvPr id="59" name="Text 46"/>
          <p:cNvSpPr txBox="1"/>
          <p:nvPr/>
        </p:nvSpPr>
        <p:spPr>
          <a:xfrm>
            <a:off x="685800" y="4608576"/>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Source authority</a:t>
            </a:r>
            <a:endParaRPr lang="en-US" sz="1150" dirty="0"/>
          </a:p>
        </p:txBody>
      </p:sp>
      <p:sp>
        <p:nvSpPr>
          <p:cNvPr id="60" name="Shape 47"/>
          <p:cNvSpPr/>
          <p:nvPr/>
        </p:nvSpPr>
        <p:spPr>
          <a:xfrm>
            <a:off x="2807208" y="3986784"/>
            <a:ext cx="2121408" cy="1143000"/>
          </a:xfrm>
          <a:prstGeom prst="roundRect">
            <a:avLst>
              <a:gd name="adj" fmla="val 6400"/>
            </a:avLst>
          </a:prstGeom>
          <a:solidFill>
            <a:srgbClr val="F7F9FC"/>
          </a:solidFill>
          <a:ln w="9525">
            <a:solidFill>
              <a:srgbClr val="D5DDE9"/>
            </a:solidFill>
            <a:prstDash val="solid"/>
          </a:ln>
        </p:spPr>
      </p:sp>
      <p:sp>
        <p:nvSpPr>
          <p:cNvPr id="61" name="Shape 48"/>
          <p:cNvSpPr/>
          <p:nvPr/>
        </p:nvSpPr>
        <p:spPr>
          <a:xfrm>
            <a:off x="2944368" y="4123944"/>
            <a:ext cx="420624" cy="420624"/>
          </a:xfrm>
          <a:prstGeom prst="ellipse">
            <a:avLst/>
          </a:prstGeom>
          <a:solidFill>
            <a:srgbClr val="FBF1DE"/>
          </a:solidFill>
          <a:ln w="12700">
            <a:solidFill>
              <a:srgbClr val="FBF1DE"/>
            </a:solidFill>
            <a:prstDash val="solid"/>
          </a:ln>
        </p:spPr>
      </p:sp>
      <p:pic>
        <p:nvPicPr>
          <p:cNvPr id="62" name="Image 11" descr="preencoded.png">    </p:cNvPr>
          <p:cNvPicPr>
            <a:picLocks noChangeAspect="1"/>
          </p:cNvPicPr>
          <p:nvPr/>
        </p:nvPicPr>
        <p:blipFill>
          <a:blip r:embed="rId12"/>
          <a:stretch>
            <a:fillRect/>
          </a:stretch>
        </p:blipFill>
        <p:spPr>
          <a:xfrm>
            <a:off x="3045318" y="4224894"/>
            <a:ext cx="218724" cy="218724"/>
          </a:xfrm>
          <a:prstGeom prst="rect">
            <a:avLst/>
          </a:prstGeom>
        </p:spPr>
      </p:pic>
      <p:sp>
        <p:nvSpPr>
          <p:cNvPr id="63" name="Text 49"/>
          <p:cNvSpPr txBox="1"/>
          <p:nvPr/>
        </p:nvSpPr>
        <p:spPr>
          <a:xfrm>
            <a:off x="3465576" y="4123944"/>
            <a:ext cx="1280160" cy="420624"/>
          </a:xfrm>
          <a:prstGeom prst="rect">
            <a:avLst/>
          </a:prstGeom>
          <a:noFill/>
          <a:ln/>
        </p:spPr>
        <p:txBody>
          <a:bodyPr wrap="square" lIns="0" tIns="0" rIns="0" bIns="0" rtlCol="0" anchor="ctr"/>
          <a:lstStyle/>
          <a:p>
            <a:pPr indent="0" marL="0">
              <a:buNone/>
            </a:pPr>
            <a:r>
              <a:rPr lang="en-US" sz="1300" b="1" dirty="0">
                <a:solidFill>
                  <a:srgbClr val="D98E04"/>
                </a:solidFill>
                <a:latin typeface="Calibri" pitchFamily="34" charset="0"/>
                <a:ea typeface="Calibri" pitchFamily="34" charset="-122"/>
                <a:cs typeface="Calibri" pitchFamily="34" charset="-120"/>
              </a:rPr>
              <a:t>C21</a:t>
            </a:r>
            <a:endParaRPr lang="en-US" sz="1300" dirty="0"/>
          </a:p>
        </p:txBody>
      </p:sp>
      <p:sp>
        <p:nvSpPr>
          <p:cNvPr id="64" name="Text 50"/>
          <p:cNvSpPr txBox="1"/>
          <p:nvPr/>
        </p:nvSpPr>
        <p:spPr>
          <a:xfrm>
            <a:off x="2944368" y="4608576"/>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Purpose-bound use</a:t>
            </a:r>
            <a:endParaRPr lang="en-US" sz="1150" dirty="0"/>
          </a:p>
        </p:txBody>
      </p:sp>
      <p:sp>
        <p:nvSpPr>
          <p:cNvPr id="65" name="Shape 51"/>
          <p:cNvSpPr/>
          <p:nvPr/>
        </p:nvSpPr>
        <p:spPr>
          <a:xfrm>
            <a:off x="5065776" y="3986784"/>
            <a:ext cx="2121408" cy="1143000"/>
          </a:xfrm>
          <a:prstGeom prst="roundRect">
            <a:avLst>
              <a:gd name="adj" fmla="val 6400"/>
            </a:avLst>
          </a:prstGeom>
          <a:solidFill>
            <a:srgbClr val="F7F9FC"/>
          </a:solidFill>
          <a:ln w="9525">
            <a:solidFill>
              <a:srgbClr val="D5DDE9"/>
            </a:solidFill>
            <a:prstDash val="solid"/>
          </a:ln>
        </p:spPr>
      </p:sp>
      <p:sp>
        <p:nvSpPr>
          <p:cNvPr id="66" name="Shape 52"/>
          <p:cNvSpPr/>
          <p:nvPr/>
        </p:nvSpPr>
        <p:spPr>
          <a:xfrm>
            <a:off x="5202936" y="4123944"/>
            <a:ext cx="420624" cy="420624"/>
          </a:xfrm>
          <a:prstGeom prst="ellipse">
            <a:avLst/>
          </a:prstGeom>
          <a:solidFill>
            <a:srgbClr val="FBF1DE"/>
          </a:solidFill>
          <a:ln w="12700">
            <a:solidFill>
              <a:srgbClr val="FBF1DE"/>
            </a:solidFill>
            <a:prstDash val="solid"/>
          </a:ln>
        </p:spPr>
      </p:sp>
      <p:pic>
        <p:nvPicPr>
          <p:cNvPr id="67" name="Image 12" descr="preencoded.png">    </p:cNvPr>
          <p:cNvPicPr>
            <a:picLocks noChangeAspect="1"/>
          </p:cNvPicPr>
          <p:nvPr/>
        </p:nvPicPr>
        <p:blipFill>
          <a:blip r:embed="rId13"/>
          <a:stretch>
            <a:fillRect/>
          </a:stretch>
        </p:blipFill>
        <p:spPr>
          <a:xfrm>
            <a:off x="5303886" y="4224894"/>
            <a:ext cx="218724" cy="218724"/>
          </a:xfrm>
          <a:prstGeom prst="rect">
            <a:avLst/>
          </a:prstGeom>
        </p:spPr>
      </p:pic>
      <p:sp>
        <p:nvSpPr>
          <p:cNvPr id="68" name="Text 53"/>
          <p:cNvSpPr txBox="1"/>
          <p:nvPr/>
        </p:nvSpPr>
        <p:spPr>
          <a:xfrm>
            <a:off x="5724144" y="4123944"/>
            <a:ext cx="1280160" cy="420624"/>
          </a:xfrm>
          <a:prstGeom prst="rect">
            <a:avLst/>
          </a:prstGeom>
          <a:noFill/>
          <a:ln/>
        </p:spPr>
        <p:txBody>
          <a:bodyPr wrap="square" lIns="0" tIns="0" rIns="0" bIns="0" rtlCol="0" anchor="ctr"/>
          <a:lstStyle/>
          <a:p>
            <a:pPr indent="0" marL="0">
              <a:buNone/>
            </a:pPr>
            <a:r>
              <a:rPr lang="en-US" sz="1300" b="1" dirty="0">
                <a:solidFill>
                  <a:srgbClr val="D98E04"/>
                </a:solidFill>
                <a:latin typeface="Calibri" pitchFamily="34" charset="0"/>
                <a:ea typeface="Calibri" pitchFamily="34" charset="-122"/>
                <a:cs typeface="Calibri" pitchFamily="34" charset="-120"/>
              </a:rPr>
              <a:t>C23</a:t>
            </a:r>
            <a:endParaRPr lang="en-US" sz="1300" dirty="0"/>
          </a:p>
        </p:txBody>
      </p:sp>
      <p:sp>
        <p:nvSpPr>
          <p:cNvPr id="69" name="Text 54"/>
          <p:cNvSpPr txBox="1"/>
          <p:nvPr/>
        </p:nvSpPr>
        <p:spPr>
          <a:xfrm>
            <a:off x="5202936" y="4608576"/>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Operation authorization</a:t>
            </a:r>
            <a:endParaRPr lang="en-US" sz="1150" dirty="0"/>
          </a:p>
        </p:txBody>
      </p:sp>
      <p:sp>
        <p:nvSpPr>
          <p:cNvPr id="70" name="Shape 55"/>
          <p:cNvSpPr/>
          <p:nvPr/>
        </p:nvSpPr>
        <p:spPr>
          <a:xfrm>
            <a:off x="7324344" y="3986784"/>
            <a:ext cx="2121408" cy="1143000"/>
          </a:xfrm>
          <a:prstGeom prst="roundRect">
            <a:avLst>
              <a:gd name="adj" fmla="val 6400"/>
            </a:avLst>
          </a:prstGeom>
          <a:solidFill>
            <a:srgbClr val="DDF0ED"/>
          </a:solidFill>
          <a:ln w="9525">
            <a:solidFill>
              <a:srgbClr val="12867A"/>
            </a:solidFill>
            <a:prstDash val="solid"/>
          </a:ln>
        </p:spPr>
      </p:sp>
      <p:sp>
        <p:nvSpPr>
          <p:cNvPr id="71" name="Shape 56"/>
          <p:cNvSpPr/>
          <p:nvPr/>
        </p:nvSpPr>
        <p:spPr>
          <a:xfrm>
            <a:off x="7461504" y="4123944"/>
            <a:ext cx="420624" cy="420624"/>
          </a:xfrm>
          <a:prstGeom prst="ellipse">
            <a:avLst/>
          </a:prstGeom>
          <a:solidFill>
            <a:srgbClr val="FBF1DE"/>
          </a:solidFill>
          <a:ln w="12700">
            <a:solidFill>
              <a:srgbClr val="FBF1DE"/>
            </a:solidFill>
            <a:prstDash val="solid"/>
          </a:ln>
        </p:spPr>
      </p:sp>
      <p:pic>
        <p:nvPicPr>
          <p:cNvPr id="72" name="Image 13" descr="preencoded.png">    </p:cNvPr>
          <p:cNvPicPr>
            <a:picLocks noChangeAspect="1"/>
          </p:cNvPicPr>
          <p:nvPr/>
        </p:nvPicPr>
        <p:blipFill>
          <a:blip r:embed="rId14"/>
          <a:stretch>
            <a:fillRect/>
          </a:stretch>
        </p:blipFill>
        <p:spPr>
          <a:xfrm>
            <a:off x="7562454" y="4224894"/>
            <a:ext cx="218724" cy="218724"/>
          </a:xfrm>
          <a:prstGeom prst="rect">
            <a:avLst/>
          </a:prstGeom>
        </p:spPr>
      </p:pic>
      <p:sp>
        <p:nvSpPr>
          <p:cNvPr id="73" name="Text 57"/>
          <p:cNvSpPr txBox="1"/>
          <p:nvPr/>
        </p:nvSpPr>
        <p:spPr>
          <a:xfrm>
            <a:off x="7982712" y="4123944"/>
            <a:ext cx="1280160" cy="420624"/>
          </a:xfrm>
          <a:prstGeom prst="rect">
            <a:avLst/>
          </a:prstGeom>
          <a:noFill/>
          <a:ln/>
        </p:spPr>
        <p:txBody>
          <a:bodyPr wrap="square" lIns="0" tIns="0" rIns="0" bIns="0" rtlCol="0" anchor="ctr"/>
          <a:lstStyle/>
          <a:p>
            <a:pPr indent="0" marL="0">
              <a:buNone/>
            </a:pPr>
            <a:r>
              <a:rPr lang="en-US" sz="1300" b="1" dirty="0">
                <a:solidFill>
                  <a:srgbClr val="D98E04"/>
                </a:solidFill>
                <a:latin typeface="Calibri" pitchFamily="34" charset="0"/>
                <a:ea typeface="Calibri" pitchFamily="34" charset="-122"/>
                <a:cs typeface="Calibri" pitchFamily="34" charset="-120"/>
              </a:rPr>
              <a:t>C24</a:t>
            </a:r>
            <a:endParaRPr lang="en-US" sz="1300" dirty="0"/>
          </a:p>
        </p:txBody>
      </p:sp>
      <p:sp>
        <p:nvSpPr>
          <p:cNvPr id="74" name="Text 58"/>
          <p:cNvSpPr txBox="1"/>
          <p:nvPr/>
        </p:nvSpPr>
        <p:spPr>
          <a:xfrm>
            <a:off x="7461504" y="4608576"/>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Lifecycle states</a:t>
            </a:r>
            <a:endParaRPr lang="en-US" sz="1150" dirty="0"/>
          </a:p>
        </p:txBody>
      </p:sp>
      <p:sp>
        <p:nvSpPr>
          <p:cNvPr id="75" name="Shape 59"/>
          <p:cNvSpPr/>
          <p:nvPr/>
        </p:nvSpPr>
        <p:spPr>
          <a:xfrm>
            <a:off x="9582912" y="3986784"/>
            <a:ext cx="2121408" cy="1143000"/>
          </a:xfrm>
          <a:prstGeom prst="roundRect">
            <a:avLst>
              <a:gd name="adj" fmla="val 6400"/>
            </a:avLst>
          </a:prstGeom>
          <a:solidFill>
            <a:srgbClr val="F7F9FC"/>
          </a:solidFill>
          <a:ln w="9525">
            <a:solidFill>
              <a:srgbClr val="D5DDE9"/>
            </a:solidFill>
            <a:prstDash val="solid"/>
          </a:ln>
        </p:spPr>
      </p:sp>
      <p:sp>
        <p:nvSpPr>
          <p:cNvPr id="76" name="Shape 60"/>
          <p:cNvSpPr/>
          <p:nvPr/>
        </p:nvSpPr>
        <p:spPr>
          <a:xfrm>
            <a:off x="9720072" y="4123944"/>
            <a:ext cx="420624" cy="420624"/>
          </a:xfrm>
          <a:prstGeom prst="ellipse">
            <a:avLst/>
          </a:prstGeom>
          <a:solidFill>
            <a:srgbClr val="FBF1DE"/>
          </a:solidFill>
          <a:ln w="12700">
            <a:solidFill>
              <a:srgbClr val="FBF1DE"/>
            </a:solidFill>
            <a:prstDash val="solid"/>
          </a:ln>
        </p:spPr>
      </p:sp>
      <p:pic>
        <p:nvPicPr>
          <p:cNvPr id="77" name="Image 14" descr="preencoded.png">    </p:cNvPr>
          <p:cNvPicPr>
            <a:picLocks noChangeAspect="1"/>
          </p:cNvPicPr>
          <p:nvPr/>
        </p:nvPicPr>
        <p:blipFill>
          <a:blip r:embed="rId15"/>
          <a:stretch>
            <a:fillRect/>
          </a:stretch>
        </p:blipFill>
        <p:spPr>
          <a:xfrm>
            <a:off x="9821022" y="4224894"/>
            <a:ext cx="218724" cy="218724"/>
          </a:xfrm>
          <a:prstGeom prst="rect">
            <a:avLst/>
          </a:prstGeom>
        </p:spPr>
      </p:pic>
      <p:sp>
        <p:nvSpPr>
          <p:cNvPr id="78" name="Text 61"/>
          <p:cNvSpPr txBox="1"/>
          <p:nvPr/>
        </p:nvSpPr>
        <p:spPr>
          <a:xfrm>
            <a:off x="10241280" y="4123944"/>
            <a:ext cx="1280160" cy="420624"/>
          </a:xfrm>
          <a:prstGeom prst="rect">
            <a:avLst/>
          </a:prstGeom>
          <a:noFill/>
          <a:ln/>
        </p:spPr>
        <p:txBody>
          <a:bodyPr wrap="square" lIns="0" tIns="0" rIns="0" bIns="0" rtlCol="0" anchor="ctr"/>
          <a:lstStyle/>
          <a:p>
            <a:pPr indent="0" marL="0">
              <a:buNone/>
            </a:pPr>
            <a:r>
              <a:rPr lang="en-US" sz="1300" b="1" dirty="0">
                <a:solidFill>
                  <a:srgbClr val="D98E04"/>
                </a:solidFill>
                <a:latin typeface="Calibri" pitchFamily="34" charset="0"/>
                <a:ea typeface="Calibri" pitchFamily="34" charset="-122"/>
                <a:cs typeface="Calibri" pitchFamily="34" charset="-120"/>
              </a:rPr>
              <a:t>C26</a:t>
            </a:r>
            <a:endParaRPr lang="en-US" sz="1300" dirty="0"/>
          </a:p>
        </p:txBody>
      </p:sp>
      <p:sp>
        <p:nvSpPr>
          <p:cNvPr id="79" name="Text 62"/>
          <p:cNvSpPr txBox="1"/>
          <p:nvPr/>
        </p:nvSpPr>
        <p:spPr>
          <a:xfrm>
            <a:off x="9720072" y="4608576"/>
            <a:ext cx="1847088" cy="45720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Version lineage</a:t>
            </a:r>
            <a:endParaRPr lang="en-US" sz="1150" dirty="0"/>
          </a:p>
        </p:txBody>
      </p:sp>
      <p:sp>
        <p:nvSpPr>
          <p:cNvPr id="80" name="Text 63"/>
          <p:cNvSpPr txBox="1"/>
          <p:nvPr/>
        </p:nvSpPr>
        <p:spPr>
          <a:xfrm>
            <a:off x="548640" y="5321808"/>
            <a:ext cx="11094415" cy="320040"/>
          </a:xfrm>
          <a:prstGeom prst="rect">
            <a:avLst/>
          </a:prstGeom>
          <a:noFill/>
          <a:ln/>
        </p:spPr>
        <p:txBody>
          <a:bodyPr wrap="square" lIns="0" tIns="0" rIns="0" bIns="0" rtlCol="0" anchor="t"/>
          <a:lstStyle/>
          <a:p>
            <a:pPr indent="0" marL="0">
              <a:buNone/>
            </a:pPr>
            <a:r>
              <a:rPr lang="en-US" sz="1100" b="1" dirty="0">
                <a:solidFill>
                  <a:srgbClr val="12867A"/>
                </a:solidFill>
                <a:latin typeface="Calibri" pitchFamily="34" charset="0"/>
                <a:ea typeface="Calibri" pitchFamily="34" charset="-122"/>
                <a:cs typeface="Calibri" pitchFamily="34" charset="-120"/>
              </a:rPr>
              <a:t>Minimum viable governed memory (internal-only pilot): </a:t>
            </a:r>
            <a:pPr indent="0" marL="0">
              <a:buNone/>
            </a:pPr>
            <a:r>
              <a:rPr lang="en-US" sz="1100" dirty="0">
                <a:solidFill>
                  <a:srgbClr val="1F2937"/>
                </a:solidFill>
                <a:latin typeface="Calibri" pitchFamily="34" charset="0"/>
                <a:ea typeface="Calibri" pitchFamily="34" charset="-122"/>
                <a:cs typeface="Calibri" pitchFamily="34" charset="-120"/>
              </a:rPr>
              <a:t>C1 · C3 · C5 · C11 · C13 · C17 · C24 · C28 — the rest of P0 is gated by scope tier (C12), so the pilot has a finish line.</a:t>
            </a:r>
            <a:endParaRPr lang="en-US" sz="1100" dirty="0"/>
          </a:p>
        </p:txBody>
      </p:sp>
      <p:sp>
        <p:nvSpPr>
          <p:cNvPr id="81" name="Shape 64"/>
          <p:cNvSpPr/>
          <p:nvPr/>
        </p:nvSpPr>
        <p:spPr>
          <a:xfrm>
            <a:off x="548640" y="5715000"/>
            <a:ext cx="11094415" cy="502920"/>
          </a:xfrm>
          <a:prstGeom prst="roundRect">
            <a:avLst>
              <a:gd name="adj" fmla="val 18182"/>
            </a:avLst>
          </a:prstGeom>
          <a:solidFill>
            <a:srgbClr val="0B1F3A"/>
          </a:solidFill>
          <a:ln w="12700">
            <a:solidFill>
              <a:srgbClr val="0B1F3A"/>
            </a:solidFill>
            <a:prstDash val="solid"/>
          </a:ln>
        </p:spPr>
      </p:sp>
      <p:sp>
        <p:nvSpPr>
          <p:cNvPr id="82" name="Text 65"/>
          <p:cNvSpPr txBox="1"/>
          <p:nvPr/>
        </p:nvSpPr>
        <p:spPr>
          <a:xfrm>
            <a:off x="822960" y="5715000"/>
            <a:ext cx="10545775"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P0 means: no broad exposure of persistent memory until each control has a named owner and an implementation path — fifteen P0 controls before a first pilot is a recipe for shipping nothing.</a:t>
            </a:r>
            <a:endParaRPr lang="en-US" sz="1150" dirty="0"/>
          </a:p>
        </p:txBody>
      </p:sp>
      <p:sp>
        <p:nvSpPr>
          <p:cNvPr id="83" name="Text 66"/>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Full matrix (C1–C33) in the research memorandum, Sections 12, 12.1 and 12.2.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Data governance controls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22</a:t>
            </a:r>
            <a:endParaRPr lang="en-US" sz="900" dirty="0"/>
          </a:p>
        </p:txBody>
      </p:sp>
      <p:sp>
        <p:nvSpPr>
          <p:cNvPr id="5" name="Shape 3"/>
          <p:cNvSpPr/>
          <p:nvPr/>
        </p:nvSpPr>
        <p:spPr>
          <a:xfrm>
            <a:off x="548640" y="1371600"/>
            <a:ext cx="5440680" cy="1325880"/>
          </a:xfrm>
          <a:prstGeom prst="roundRect">
            <a:avLst>
              <a:gd name="adj" fmla="val 5517"/>
            </a:avLst>
          </a:prstGeom>
          <a:solidFill>
            <a:srgbClr val="F7F9FC"/>
          </a:solidFill>
          <a:ln w="9525">
            <a:solidFill>
              <a:srgbClr val="D5DDE9"/>
            </a:solidFill>
            <a:prstDash val="solid"/>
          </a:ln>
        </p:spPr>
      </p:sp>
      <p:sp>
        <p:nvSpPr>
          <p:cNvPr id="6" name="Shape 4"/>
          <p:cNvSpPr/>
          <p:nvPr/>
        </p:nvSpPr>
        <p:spPr>
          <a:xfrm>
            <a:off x="713232" y="1554480"/>
            <a:ext cx="566928" cy="274320"/>
          </a:xfrm>
          <a:prstGeom prst="roundRect">
            <a:avLst>
              <a:gd name="adj" fmla="val 20000"/>
            </a:avLst>
          </a:prstGeom>
          <a:solidFill>
            <a:srgbClr val="E3E9F3"/>
          </a:solidFill>
          <a:ln w="12700">
            <a:solidFill>
              <a:srgbClr val="E3E9F3"/>
            </a:solidFill>
            <a:prstDash val="solid"/>
          </a:ln>
        </p:spPr>
      </p:sp>
      <p:sp>
        <p:nvSpPr>
          <p:cNvPr id="7" name="Text 5"/>
          <p:cNvSpPr txBox="1"/>
          <p:nvPr/>
        </p:nvSpPr>
        <p:spPr>
          <a:xfrm>
            <a:off x="713232" y="1554480"/>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C13</a:t>
            </a:r>
            <a:endParaRPr lang="en-US" sz="1000" dirty="0"/>
          </a:p>
        </p:txBody>
      </p:sp>
      <p:sp>
        <p:nvSpPr>
          <p:cNvPr id="8" name="Text 6"/>
          <p:cNvSpPr txBox="1"/>
          <p:nvPr/>
        </p:nvSpPr>
        <p:spPr>
          <a:xfrm>
            <a:off x="1389888" y="1536192"/>
            <a:ext cx="443484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Legal basis + purpose binding</a:t>
            </a:r>
            <a:endParaRPr lang="en-US" sz="1300" dirty="0"/>
          </a:p>
        </p:txBody>
      </p:sp>
      <p:sp>
        <p:nvSpPr>
          <p:cNvPr id="9" name="Text 7"/>
          <p:cNvSpPr txBox="1"/>
          <p:nvPr/>
        </p:nvSpPr>
        <p:spPr>
          <a:xfrm>
            <a:off x="731520" y="1938528"/>
            <a:ext cx="5074920" cy="62179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Memory carries or inherits an approved purpose and legal basis; retrieval/use is blocked for incompatible purposes.</a:t>
            </a:r>
            <a:endParaRPr lang="en-US" sz="1100" dirty="0"/>
          </a:p>
        </p:txBody>
      </p:sp>
      <p:sp>
        <p:nvSpPr>
          <p:cNvPr id="10" name="Shape 8"/>
          <p:cNvSpPr/>
          <p:nvPr/>
        </p:nvSpPr>
        <p:spPr>
          <a:xfrm>
            <a:off x="6190488" y="1371600"/>
            <a:ext cx="5440680" cy="1325880"/>
          </a:xfrm>
          <a:prstGeom prst="roundRect">
            <a:avLst>
              <a:gd name="adj" fmla="val 5517"/>
            </a:avLst>
          </a:prstGeom>
          <a:solidFill>
            <a:srgbClr val="F7F9FC"/>
          </a:solidFill>
          <a:ln w="9525">
            <a:solidFill>
              <a:srgbClr val="D5DDE9"/>
            </a:solidFill>
            <a:prstDash val="solid"/>
          </a:ln>
        </p:spPr>
      </p:sp>
      <p:sp>
        <p:nvSpPr>
          <p:cNvPr id="11" name="Shape 9"/>
          <p:cNvSpPr/>
          <p:nvPr/>
        </p:nvSpPr>
        <p:spPr>
          <a:xfrm>
            <a:off x="6355080" y="1554480"/>
            <a:ext cx="566928" cy="274320"/>
          </a:xfrm>
          <a:prstGeom prst="roundRect">
            <a:avLst>
              <a:gd name="adj" fmla="val 20000"/>
            </a:avLst>
          </a:prstGeom>
          <a:solidFill>
            <a:srgbClr val="DDF0ED"/>
          </a:solidFill>
          <a:ln w="12700">
            <a:solidFill>
              <a:srgbClr val="DDF0ED"/>
            </a:solidFill>
            <a:prstDash val="solid"/>
          </a:ln>
        </p:spPr>
      </p:sp>
      <p:sp>
        <p:nvSpPr>
          <p:cNvPr id="12" name="Text 10"/>
          <p:cNvSpPr txBox="1"/>
          <p:nvPr/>
        </p:nvSpPr>
        <p:spPr>
          <a:xfrm>
            <a:off x="6355080" y="1554480"/>
            <a:ext cx="566928" cy="274320"/>
          </a:xfrm>
          <a:prstGeom prst="rect">
            <a:avLst/>
          </a:prstGeom>
          <a:noFill/>
          <a:ln/>
        </p:spPr>
        <p:txBody>
          <a:bodyPr wrap="square" lIns="0" tIns="0" rIns="0" bIns="0" rtlCol="0" anchor="ctr"/>
          <a:lstStyle/>
          <a:p>
            <a:pPr algn="ctr" indent="0" marL="0">
              <a:buNone/>
            </a:pPr>
            <a:r>
              <a:rPr lang="en-US" sz="1000" b="1" dirty="0">
                <a:solidFill>
                  <a:srgbClr val="12867A"/>
                </a:solidFill>
                <a:latin typeface="Calibri" pitchFamily="34" charset="0"/>
                <a:ea typeface="Calibri" pitchFamily="34" charset="-122"/>
                <a:cs typeface="Calibri" pitchFamily="34" charset="-120"/>
              </a:rPr>
              <a:t>C16</a:t>
            </a:r>
            <a:endParaRPr lang="en-US" sz="1000" dirty="0"/>
          </a:p>
        </p:txBody>
      </p:sp>
      <p:sp>
        <p:nvSpPr>
          <p:cNvPr id="13" name="Text 11"/>
          <p:cNvSpPr txBox="1"/>
          <p:nvPr/>
        </p:nvSpPr>
        <p:spPr>
          <a:xfrm>
            <a:off x="7031736" y="1536192"/>
            <a:ext cx="443484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Derived / inferred memory governance</a:t>
            </a:r>
            <a:endParaRPr lang="en-US" sz="1300" dirty="0"/>
          </a:p>
        </p:txBody>
      </p:sp>
      <p:sp>
        <p:nvSpPr>
          <p:cNvPr id="14" name="Text 12"/>
          <p:cNvSpPr txBox="1"/>
          <p:nvPr/>
        </p:nvSpPr>
        <p:spPr>
          <a:xfrm>
            <a:off x="6373368" y="1938528"/>
            <a:ext cx="5074920" cy="62179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Observed, stated, extracted, inferred, predicted and derived memories need different risk treatment and different default permissions.</a:t>
            </a:r>
            <a:endParaRPr lang="en-US" sz="1100" dirty="0"/>
          </a:p>
        </p:txBody>
      </p:sp>
      <p:sp>
        <p:nvSpPr>
          <p:cNvPr id="15" name="Shape 13"/>
          <p:cNvSpPr/>
          <p:nvPr/>
        </p:nvSpPr>
        <p:spPr>
          <a:xfrm>
            <a:off x="548640" y="2862072"/>
            <a:ext cx="5440680" cy="1325880"/>
          </a:xfrm>
          <a:prstGeom prst="roundRect">
            <a:avLst>
              <a:gd name="adj" fmla="val 5517"/>
            </a:avLst>
          </a:prstGeom>
          <a:solidFill>
            <a:srgbClr val="F7F9FC"/>
          </a:solidFill>
          <a:ln w="9525">
            <a:solidFill>
              <a:srgbClr val="D5DDE9"/>
            </a:solidFill>
            <a:prstDash val="solid"/>
          </a:ln>
        </p:spPr>
      </p:sp>
      <p:sp>
        <p:nvSpPr>
          <p:cNvPr id="16" name="Shape 14"/>
          <p:cNvSpPr/>
          <p:nvPr/>
        </p:nvSpPr>
        <p:spPr>
          <a:xfrm>
            <a:off x="713232" y="3044952"/>
            <a:ext cx="566928" cy="274320"/>
          </a:xfrm>
          <a:prstGeom prst="roundRect">
            <a:avLst>
              <a:gd name="adj" fmla="val 20000"/>
            </a:avLst>
          </a:prstGeom>
          <a:solidFill>
            <a:srgbClr val="F8E3DE"/>
          </a:solidFill>
          <a:ln w="12700">
            <a:solidFill>
              <a:srgbClr val="F8E3DE"/>
            </a:solidFill>
            <a:prstDash val="solid"/>
          </a:ln>
        </p:spPr>
      </p:sp>
      <p:sp>
        <p:nvSpPr>
          <p:cNvPr id="17" name="Text 15"/>
          <p:cNvSpPr txBox="1"/>
          <p:nvPr/>
        </p:nvSpPr>
        <p:spPr>
          <a:xfrm>
            <a:off x="713232" y="3044952"/>
            <a:ext cx="566928" cy="274320"/>
          </a:xfrm>
          <a:prstGeom prst="rect">
            <a:avLst/>
          </a:prstGeom>
          <a:noFill/>
          <a:ln/>
        </p:spPr>
        <p:txBody>
          <a:bodyPr wrap="square" lIns="0" tIns="0" rIns="0" bIns="0" rtlCol="0" anchor="ctr"/>
          <a:lstStyle/>
          <a:p>
            <a:pPr algn="ctr" indent="0" marL="0">
              <a:buNone/>
            </a:pPr>
            <a:r>
              <a:rPr lang="en-US" sz="1000" b="1" dirty="0">
                <a:solidFill>
                  <a:srgbClr val="C8452B"/>
                </a:solidFill>
                <a:latin typeface="Calibri" pitchFamily="34" charset="0"/>
                <a:ea typeface="Calibri" pitchFamily="34" charset="-122"/>
                <a:cs typeface="Calibri" pitchFamily="34" charset="-120"/>
              </a:rPr>
              <a:t>C19</a:t>
            </a:r>
            <a:endParaRPr lang="en-US" sz="1000" dirty="0"/>
          </a:p>
        </p:txBody>
      </p:sp>
      <p:sp>
        <p:nvSpPr>
          <p:cNvPr id="18" name="Text 16"/>
          <p:cNvSpPr txBox="1"/>
          <p:nvPr/>
        </p:nvSpPr>
        <p:spPr>
          <a:xfrm>
            <a:off x="1389888" y="3026664"/>
            <a:ext cx="443484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Information-barrier / MNPI segmentation</a:t>
            </a:r>
            <a:endParaRPr lang="en-US" sz="1300" dirty="0"/>
          </a:p>
        </p:txBody>
      </p:sp>
      <p:sp>
        <p:nvSpPr>
          <p:cNvPr id="19" name="Text 17"/>
          <p:cNvSpPr txBox="1"/>
          <p:nvPr/>
        </p:nvSpPr>
        <p:spPr>
          <a:xfrm>
            <a:off x="731520" y="3429000"/>
            <a:ext cx="5074920" cy="62179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Prevent shared memory from collapsing research, advisory, private-markets, client, employee or restricted-list boundaries.</a:t>
            </a:r>
            <a:endParaRPr lang="en-US" sz="1100" dirty="0"/>
          </a:p>
        </p:txBody>
      </p:sp>
      <p:sp>
        <p:nvSpPr>
          <p:cNvPr id="20" name="Shape 18"/>
          <p:cNvSpPr/>
          <p:nvPr/>
        </p:nvSpPr>
        <p:spPr>
          <a:xfrm>
            <a:off x="6190488" y="2862072"/>
            <a:ext cx="5440680" cy="1325880"/>
          </a:xfrm>
          <a:prstGeom prst="roundRect">
            <a:avLst>
              <a:gd name="adj" fmla="val 5517"/>
            </a:avLst>
          </a:prstGeom>
          <a:solidFill>
            <a:srgbClr val="F7F9FC"/>
          </a:solidFill>
          <a:ln w="9525">
            <a:solidFill>
              <a:srgbClr val="D5DDE9"/>
            </a:solidFill>
            <a:prstDash val="solid"/>
          </a:ln>
        </p:spPr>
      </p:sp>
      <p:sp>
        <p:nvSpPr>
          <p:cNvPr id="21" name="Shape 19"/>
          <p:cNvSpPr/>
          <p:nvPr/>
        </p:nvSpPr>
        <p:spPr>
          <a:xfrm>
            <a:off x="6355080" y="3044952"/>
            <a:ext cx="566928" cy="274320"/>
          </a:xfrm>
          <a:prstGeom prst="roundRect">
            <a:avLst>
              <a:gd name="adj" fmla="val 20000"/>
            </a:avLst>
          </a:prstGeom>
          <a:solidFill>
            <a:srgbClr val="FBF1DE"/>
          </a:solidFill>
          <a:ln w="12700">
            <a:solidFill>
              <a:srgbClr val="FBF1DE"/>
            </a:solidFill>
            <a:prstDash val="solid"/>
          </a:ln>
        </p:spPr>
      </p:sp>
      <p:sp>
        <p:nvSpPr>
          <p:cNvPr id="22" name="Text 20"/>
          <p:cNvSpPr txBox="1"/>
          <p:nvPr/>
        </p:nvSpPr>
        <p:spPr>
          <a:xfrm>
            <a:off x="6355080" y="3044952"/>
            <a:ext cx="566928" cy="274320"/>
          </a:xfrm>
          <a:prstGeom prst="rect">
            <a:avLst/>
          </a:prstGeom>
          <a:noFill/>
          <a:ln/>
        </p:spPr>
        <p:txBody>
          <a:bodyPr wrap="square" lIns="0" tIns="0" rIns="0" bIns="0" rtlCol="0" anchor="ctr"/>
          <a:lstStyle/>
          <a:p>
            <a:pPr algn="ctr" indent="0" marL="0">
              <a:buNone/>
            </a:pPr>
            <a:r>
              <a:rPr lang="en-US" sz="1000" b="1" dirty="0">
                <a:solidFill>
                  <a:srgbClr val="D98E04"/>
                </a:solidFill>
                <a:latin typeface="Calibri" pitchFamily="34" charset="0"/>
                <a:ea typeface="Calibri" pitchFamily="34" charset="-122"/>
                <a:cs typeface="Calibri" pitchFamily="34" charset="-120"/>
              </a:rPr>
              <a:t>C11</a:t>
            </a:r>
            <a:endParaRPr lang="en-US" sz="1000" dirty="0"/>
          </a:p>
        </p:txBody>
      </p:sp>
      <p:sp>
        <p:nvSpPr>
          <p:cNvPr id="23" name="Text 21"/>
          <p:cNvSpPr txBox="1"/>
          <p:nvPr/>
        </p:nvSpPr>
        <p:spPr>
          <a:xfrm>
            <a:off x="7031736" y="3026664"/>
            <a:ext cx="443484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Provider &amp; cross-border data-flow governance</a:t>
            </a:r>
            <a:endParaRPr lang="en-US" sz="1300" dirty="0"/>
          </a:p>
        </p:txBody>
      </p:sp>
      <p:sp>
        <p:nvSpPr>
          <p:cNvPr id="24" name="Text 22"/>
          <p:cNvSpPr txBox="1"/>
          <p:nvPr/>
        </p:nvSpPr>
        <p:spPr>
          <a:xfrm>
            <a:off x="6373368" y="3429000"/>
            <a:ext cx="5074920" cy="62179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Pin approved LLMs, embedders, rerankers, graph DBs, telemetry and storage; track geography, subprocessors and failover. Graphiti defaults to OpenAI unless reconfigured.</a:t>
            </a:r>
            <a:endParaRPr lang="en-US" sz="1100" dirty="0"/>
          </a:p>
        </p:txBody>
      </p:sp>
      <p:sp>
        <p:nvSpPr>
          <p:cNvPr id="25" name="Shape 23"/>
          <p:cNvSpPr/>
          <p:nvPr/>
        </p:nvSpPr>
        <p:spPr>
          <a:xfrm>
            <a:off x="548640" y="4352544"/>
            <a:ext cx="5440680" cy="1325880"/>
          </a:xfrm>
          <a:prstGeom prst="roundRect">
            <a:avLst>
              <a:gd name="adj" fmla="val 5517"/>
            </a:avLst>
          </a:prstGeom>
          <a:solidFill>
            <a:srgbClr val="F7F9FC"/>
          </a:solidFill>
          <a:ln w="9525">
            <a:solidFill>
              <a:srgbClr val="D5DDE9"/>
            </a:solidFill>
            <a:prstDash val="solid"/>
          </a:ln>
        </p:spPr>
      </p:sp>
      <p:sp>
        <p:nvSpPr>
          <p:cNvPr id="26" name="Shape 24"/>
          <p:cNvSpPr/>
          <p:nvPr/>
        </p:nvSpPr>
        <p:spPr>
          <a:xfrm>
            <a:off x="713232" y="4535424"/>
            <a:ext cx="566928" cy="274320"/>
          </a:xfrm>
          <a:prstGeom prst="roundRect">
            <a:avLst>
              <a:gd name="adj" fmla="val 20000"/>
            </a:avLst>
          </a:prstGeom>
          <a:solidFill>
            <a:srgbClr val="E3E9F3"/>
          </a:solidFill>
          <a:ln w="12700">
            <a:solidFill>
              <a:srgbClr val="E3E9F3"/>
            </a:solidFill>
            <a:prstDash val="solid"/>
          </a:ln>
        </p:spPr>
      </p:sp>
      <p:sp>
        <p:nvSpPr>
          <p:cNvPr id="27" name="Text 25"/>
          <p:cNvSpPr txBox="1"/>
          <p:nvPr/>
        </p:nvSpPr>
        <p:spPr>
          <a:xfrm>
            <a:off x="713232" y="4535424"/>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C12</a:t>
            </a:r>
            <a:endParaRPr lang="en-US" sz="1000" dirty="0"/>
          </a:p>
        </p:txBody>
      </p:sp>
      <p:sp>
        <p:nvSpPr>
          <p:cNvPr id="28" name="Text 26"/>
          <p:cNvSpPr txBox="1"/>
          <p:nvPr/>
        </p:nvSpPr>
        <p:spPr>
          <a:xfrm>
            <a:off x="1389888" y="4517136"/>
            <a:ext cx="443484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Scope-tiered governance</a:t>
            </a:r>
            <a:endParaRPr lang="en-US" sz="1300" dirty="0"/>
          </a:p>
        </p:txBody>
      </p:sp>
      <p:sp>
        <p:nvSpPr>
          <p:cNvPr id="29" name="Text 27"/>
          <p:cNvSpPr txBox="1"/>
          <p:nvPr/>
        </p:nvSpPr>
        <p:spPr>
          <a:xfrm>
            <a:off x="731520" y="4919472"/>
            <a:ext cx="5074920" cy="62179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Internal assistant, investment workflow and client/platform integration require different governance tiers — decide the tier before the first write.</a:t>
            </a:r>
            <a:endParaRPr lang="en-US" sz="1100" dirty="0"/>
          </a:p>
        </p:txBody>
      </p:sp>
      <p:sp>
        <p:nvSpPr>
          <p:cNvPr id="30" name="Shape 28"/>
          <p:cNvSpPr/>
          <p:nvPr/>
        </p:nvSpPr>
        <p:spPr>
          <a:xfrm>
            <a:off x="6190488" y="4352544"/>
            <a:ext cx="5440680" cy="1325880"/>
          </a:xfrm>
          <a:prstGeom prst="roundRect">
            <a:avLst>
              <a:gd name="adj" fmla="val 5517"/>
            </a:avLst>
          </a:prstGeom>
          <a:solidFill>
            <a:srgbClr val="0B1F3A"/>
          </a:solidFill>
          <a:ln w="12700">
            <a:solidFill>
              <a:srgbClr val="0B1F3A"/>
            </a:solidFill>
            <a:prstDash val="solid"/>
          </a:ln>
        </p:spPr>
      </p:sp>
      <p:sp>
        <p:nvSpPr>
          <p:cNvPr id="31" name="Text 29"/>
          <p:cNvSpPr txBox="1"/>
          <p:nvPr/>
        </p:nvSpPr>
        <p:spPr>
          <a:xfrm>
            <a:off x="6373368" y="4462272"/>
            <a:ext cx="5074920" cy="274320"/>
          </a:xfrm>
          <a:prstGeom prst="rect">
            <a:avLst/>
          </a:prstGeom>
          <a:noFill/>
          <a:ln/>
        </p:spPr>
        <p:txBody>
          <a:bodyPr wrap="square" lIns="0" tIns="0" rIns="0" bIns="0" rtlCol="0" anchor="t"/>
          <a:lstStyle/>
          <a:p>
            <a:pPr indent="0" marL="0">
              <a:buNone/>
            </a:pPr>
            <a:r>
              <a:rPr lang="en-US" sz="1100" b="1" dirty="0">
                <a:solidFill>
                  <a:srgbClr val="D98E04"/>
                </a:solidFill>
                <a:latin typeface="Calibri" pitchFamily="34" charset="0"/>
                <a:ea typeface="Calibri" pitchFamily="34" charset="-122"/>
                <a:cs typeface="Calibri" pitchFamily="34" charset="-120"/>
              </a:rPr>
              <a:t>Memory type ladder (rising risk)</a:t>
            </a:r>
            <a:endParaRPr lang="en-US" sz="1100" dirty="0"/>
          </a:p>
        </p:txBody>
      </p:sp>
      <p:sp>
        <p:nvSpPr>
          <p:cNvPr id="32" name="Text 30"/>
          <p:cNvSpPr txBox="1"/>
          <p:nvPr/>
        </p:nvSpPr>
        <p:spPr>
          <a:xfrm>
            <a:off x="6373368" y="4764024"/>
            <a:ext cx="5074920" cy="36576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observed  →  stated  →  extracted  →  inferred  →  predicted  →  derived-from-derived</a:t>
            </a:r>
            <a:endParaRPr lang="en-US" sz="1200" dirty="0"/>
          </a:p>
        </p:txBody>
      </p:sp>
      <p:sp>
        <p:nvSpPr>
          <p:cNvPr id="33" name="Text 31"/>
          <p:cNvSpPr txBox="1"/>
          <p:nvPr/>
        </p:nvSpPr>
        <p:spPr>
          <a:xfrm>
            <a:off x="6373368" y="5157216"/>
            <a:ext cx="5074920" cy="411480"/>
          </a:xfrm>
          <a:prstGeom prst="rect">
            <a:avLst/>
          </a:prstGeom>
          <a:noFill/>
          <a:ln/>
        </p:spPr>
        <p:txBody>
          <a:bodyPr wrap="square" lIns="0" tIns="0" rIns="0" bIns="0" rtlCol="0" anchor="t"/>
          <a:lstStyle/>
          <a:p>
            <a:pPr indent="0" marL="0">
              <a:buNone/>
            </a:pPr>
            <a:r>
              <a:rPr lang="en-US" sz="1050" dirty="0">
                <a:solidFill>
                  <a:srgbClr val="CADCFC"/>
                </a:solidFill>
                <a:latin typeface="Calibri" pitchFamily="34" charset="0"/>
                <a:ea typeface="Calibri" pitchFamily="34" charset="-122"/>
                <a:cs typeface="Calibri" pitchFamily="34" charset="-120"/>
              </a:rPr>
              <a:t>Higher rungs need stronger evidence, tighter permissions and shorter default retention.</a:t>
            </a:r>
            <a:endParaRPr lang="en-US" sz="1050" dirty="0"/>
          </a:p>
        </p:txBody>
      </p:sp>
      <p:sp>
        <p:nvSpPr>
          <p:cNvPr id="34" name="Shape 32"/>
          <p:cNvSpPr/>
          <p:nvPr/>
        </p:nvSpPr>
        <p:spPr>
          <a:xfrm>
            <a:off x="548640" y="5852160"/>
            <a:ext cx="11094415" cy="457200"/>
          </a:xfrm>
          <a:prstGeom prst="roundRect">
            <a:avLst>
              <a:gd name="adj" fmla="val 20000"/>
            </a:avLst>
          </a:prstGeom>
          <a:solidFill>
            <a:srgbClr val="12867A"/>
          </a:solidFill>
          <a:ln w="12700">
            <a:solidFill>
              <a:srgbClr val="12867A"/>
            </a:solidFill>
            <a:prstDash val="solid"/>
          </a:ln>
        </p:spPr>
      </p:sp>
      <p:sp>
        <p:nvSpPr>
          <p:cNvPr id="35" name="Text 33"/>
          <p:cNvSpPr txBox="1"/>
          <p:nvPr/>
        </p:nvSpPr>
        <p:spPr>
          <a:xfrm>
            <a:off x="822960" y="5852160"/>
            <a:ext cx="10545775"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governance answers “what may be remembered, by whom, for what, and for how long” before any storage decision is made.</a:t>
            </a:r>
            <a:endParaRPr lang="en-US" sz="1200" dirty="0"/>
          </a:p>
        </p:txBody>
      </p:sp>
      <p:sp>
        <p:nvSpPr>
          <p:cNvPr id="36" name="Text 34"/>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Memory integrity controls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23</a:t>
            </a:r>
            <a:endParaRPr lang="en-US" sz="900" dirty="0"/>
          </a:p>
        </p:txBody>
      </p:sp>
      <p:sp>
        <p:nvSpPr>
          <p:cNvPr id="5" name="Shape 3"/>
          <p:cNvSpPr/>
          <p:nvPr/>
        </p:nvSpPr>
        <p:spPr>
          <a:xfrm>
            <a:off x="548640" y="1371600"/>
            <a:ext cx="3566160" cy="1874520"/>
          </a:xfrm>
          <a:prstGeom prst="roundRect">
            <a:avLst>
              <a:gd name="adj" fmla="val 3902"/>
            </a:avLst>
          </a:prstGeom>
          <a:solidFill>
            <a:srgbClr val="F7F9FC"/>
          </a:solidFill>
          <a:ln w="9525">
            <a:solidFill>
              <a:srgbClr val="D5DDE9"/>
            </a:solidFill>
            <a:prstDash val="solid"/>
          </a:ln>
        </p:spPr>
      </p:sp>
      <p:sp>
        <p:nvSpPr>
          <p:cNvPr id="6" name="Shape 4"/>
          <p:cNvSpPr/>
          <p:nvPr/>
        </p:nvSpPr>
        <p:spPr>
          <a:xfrm>
            <a:off x="713232" y="1554480"/>
            <a:ext cx="566928" cy="274320"/>
          </a:xfrm>
          <a:prstGeom prst="roundRect">
            <a:avLst>
              <a:gd name="adj" fmla="val 20000"/>
            </a:avLst>
          </a:prstGeom>
          <a:solidFill>
            <a:srgbClr val="E3E9F3"/>
          </a:solidFill>
          <a:ln w="12700">
            <a:solidFill>
              <a:srgbClr val="E3E9F3"/>
            </a:solidFill>
            <a:prstDash val="solid"/>
          </a:ln>
        </p:spPr>
      </p:sp>
      <p:sp>
        <p:nvSpPr>
          <p:cNvPr id="7" name="Text 5"/>
          <p:cNvSpPr txBox="1"/>
          <p:nvPr/>
        </p:nvSpPr>
        <p:spPr>
          <a:xfrm>
            <a:off x="713232" y="1554480"/>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C1</a:t>
            </a:r>
            <a:endParaRPr lang="en-US" sz="1000" dirty="0"/>
          </a:p>
        </p:txBody>
      </p:sp>
      <p:sp>
        <p:nvSpPr>
          <p:cNvPr id="8" name="Text 6"/>
          <p:cNvSpPr txBox="1"/>
          <p:nvPr/>
        </p:nvSpPr>
        <p:spPr>
          <a:xfrm>
            <a:off x="1389888" y="1536192"/>
            <a:ext cx="2560320" cy="310896"/>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Lineage &amp; provenance</a:t>
            </a:r>
            <a:endParaRPr lang="en-US" sz="1250" dirty="0"/>
          </a:p>
        </p:txBody>
      </p:sp>
      <p:sp>
        <p:nvSpPr>
          <p:cNvPr id="9" name="Text 7"/>
          <p:cNvSpPr txBox="1"/>
          <p:nvPr/>
        </p:nvSpPr>
        <p:spPr>
          <a:xfrm>
            <a:off x="731520" y="1938528"/>
            <a:ext cx="3200400" cy="117043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Every memory links back to source evidence and the transformations that produced it.</a:t>
            </a:r>
            <a:endParaRPr lang="en-US" sz="1100" dirty="0"/>
          </a:p>
        </p:txBody>
      </p:sp>
      <p:sp>
        <p:nvSpPr>
          <p:cNvPr id="10" name="Shape 8"/>
          <p:cNvSpPr/>
          <p:nvPr/>
        </p:nvSpPr>
        <p:spPr>
          <a:xfrm>
            <a:off x="4315968" y="1371600"/>
            <a:ext cx="3566160" cy="1874520"/>
          </a:xfrm>
          <a:prstGeom prst="roundRect">
            <a:avLst>
              <a:gd name="adj" fmla="val 3902"/>
            </a:avLst>
          </a:prstGeom>
          <a:solidFill>
            <a:srgbClr val="F7F9FC"/>
          </a:solidFill>
          <a:ln w="9525">
            <a:solidFill>
              <a:srgbClr val="D5DDE9"/>
            </a:solidFill>
            <a:prstDash val="solid"/>
          </a:ln>
        </p:spPr>
      </p:sp>
      <p:sp>
        <p:nvSpPr>
          <p:cNvPr id="11" name="Shape 9"/>
          <p:cNvSpPr/>
          <p:nvPr/>
        </p:nvSpPr>
        <p:spPr>
          <a:xfrm>
            <a:off x="4480560" y="1554480"/>
            <a:ext cx="566928" cy="274320"/>
          </a:xfrm>
          <a:prstGeom prst="roundRect">
            <a:avLst>
              <a:gd name="adj" fmla="val 20000"/>
            </a:avLst>
          </a:prstGeom>
          <a:solidFill>
            <a:srgbClr val="DDF0ED"/>
          </a:solidFill>
          <a:ln w="12700">
            <a:solidFill>
              <a:srgbClr val="DDF0ED"/>
            </a:solidFill>
            <a:prstDash val="solid"/>
          </a:ln>
        </p:spPr>
      </p:sp>
      <p:sp>
        <p:nvSpPr>
          <p:cNvPr id="12" name="Text 10"/>
          <p:cNvSpPr txBox="1"/>
          <p:nvPr/>
        </p:nvSpPr>
        <p:spPr>
          <a:xfrm>
            <a:off x="4480560" y="1554480"/>
            <a:ext cx="566928" cy="274320"/>
          </a:xfrm>
          <a:prstGeom prst="rect">
            <a:avLst/>
          </a:prstGeom>
          <a:noFill/>
          <a:ln/>
        </p:spPr>
        <p:txBody>
          <a:bodyPr wrap="square" lIns="0" tIns="0" rIns="0" bIns="0" rtlCol="0" anchor="ctr"/>
          <a:lstStyle/>
          <a:p>
            <a:pPr algn="ctr" indent="0" marL="0">
              <a:buNone/>
            </a:pPr>
            <a:r>
              <a:rPr lang="en-US" sz="1000" b="1" dirty="0">
                <a:solidFill>
                  <a:srgbClr val="12867A"/>
                </a:solidFill>
                <a:latin typeface="Calibri" pitchFamily="34" charset="0"/>
                <a:ea typeface="Calibri" pitchFamily="34" charset="-122"/>
                <a:cs typeface="Calibri" pitchFamily="34" charset="-120"/>
              </a:rPr>
              <a:t>C6</a:t>
            </a:r>
            <a:endParaRPr lang="en-US" sz="1000" dirty="0"/>
          </a:p>
        </p:txBody>
      </p:sp>
      <p:sp>
        <p:nvSpPr>
          <p:cNvPr id="13" name="Text 11"/>
          <p:cNvSpPr txBox="1"/>
          <p:nvPr/>
        </p:nvSpPr>
        <p:spPr>
          <a:xfrm>
            <a:off x="5157216" y="1536192"/>
            <a:ext cx="2560320" cy="310896"/>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Drift &amp; quality monitoring</a:t>
            </a:r>
            <a:endParaRPr lang="en-US" sz="1250" dirty="0"/>
          </a:p>
        </p:txBody>
      </p:sp>
      <p:sp>
        <p:nvSpPr>
          <p:cNvPr id="14" name="Text 12"/>
          <p:cNvSpPr txBox="1"/>
          <p:nvPr/>
        </p:nvSpPr>
        <p:spPr>
          <a:xfrm>
            <a:off x="4498848" y="1938528"/>
            <a:ext cx="3200400" cy="117043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Measure stale, contradictory, incorrect and harmful memory — and sample the upstream experience stream, since bias propagates even through perfect consolidation (Memory Contagion, 2026).</a:t>
            </a:r>
            <a:endParaRPr lang="en-US" sz="1100" dirty="0"/>
          </a:p>
        </p:txBody>
      </p:sp>
      <p:sp>
        <p:nvSpPr>
          <p:cNvPr id="15" name="Shape 13"/>
          <p:cNvSpPr/>
          <p:nvPr/>
        </p:nvSpPr>
        <p:spPr>
          <a:xfrm>
            <a:off x="8083296" y="1371600"/>
            <a:ext cx="3566160" cy="1874520"/>
          </a:xfrm>
          <a:prstGeom prst="roundRect">
            <a:avLst>
              <a:gd name="adj" fmla="val 3902"/>
            </a:avLst>
          </a:prstGeom>
          <a:solidFill>
            <a:srgbClr val="F7F9FC"/>
          </a:solidFill>
          <a:ln w="9525">
            <a:solidFill>
              <a:srgbClr val="D5DDE9"/>
            </a:solidFill>
            <a:prstDash val="solid"/>
          </a:ln>
        </p:spPr>
      </p:sp>
      <p:sp>
        <p:nvSpPr>
          <p:cNvPr id="16" name="Shape 14"/>
          <p:cNvSpPr/>
          <p:nvPr/>
        </p:nvSpPr>
        <p:spPr>
          <a:xfrm>
            <a:off x="8247888" y="1554480"/>
            <a:ext cx="566928" cy="274320"/>
          </a:xfrm>
          <a:prstGeom prst="roundRect">
            <a:avLst>
              <a:gd name="adj" fmla="val 20000"/>
            </a:avLst>
          </a:prstGeom>
          <a:solidFill>
            <a:srgbClr val="FBF1DE"/>
          </a:solidFill>
          <a:ln w="12700">
            <a:solidFill>
              <a:srgbClr val="FBF1DE"/>
            </a:solidFill>
            <a:prstDash val="solid"/>
          </a:ln>
        </p:spPr>
      </p:sp>
      <p:sp>
        <p:nvSpPr>
          <p:cNvPr id="17" name="Text 15"/>
          <p:cNvSpPr txBox="1"/>
          <p:nvPr/>
        </p:nvSpPr>
        <p:spPr>
          <a:xfrm>
            <a:off x="8247888" y="1554480"/>
            <a:ext cx="566928" cy="274320"/>
          </a:xfrm>
          <a:prstGeom prst="rect">
            <a:avLst/>
          </a:prstGeom>
          <a:noFill/>
          <a:ln/>
        </p:spPr>
        <p:txBody>
          <a:bodyPr wrap="square" lIns="0" tIns="0" rIns="0" bIns="0" rtlCol="0" anchor="ctr"/>
          <a:lstStyle/>
          <a:p>
            <a:pPr algn="ctr" indent="0" marL="0">
              <a:buNone/>
            </a:pPr>
            <a:r>
              <a:rPr lang="en-US" sz="1000" b="1" dirty="0">
                <a:solidFill>
                  <a:srgbClr val="D98E04"/>
                </a:solidFill>
                <a:latin typeface="Calibri" pitchFamily="34" charset="0"/>
                <a:ea typeface="Calibri" pitchFamily="34" charset="-122"/>
                <a:cs typeface="Calibri" pitchFamily="34" charset="-120"/>
              </a:rPr>
              <a:t>C15</a:t>
            </a:r>
            <a:endParaRPr lang="en-US" sz="1000" dirty="0"/>
          </a:p>
        </p:txBody>
      </p:sp>
      <p:sp>
        <p:nvSpPr>
          <p:cNvPr id="18" name="Text 16"/>
          <p:cNvSpPr txBox="1"/>
          <p:nvPr/>
        </p:nvSpPr>
        <p:spPr>
          <a:xfrm>
            <a:off x="8924544" y="1536192"/>
            <a:ext cx="2560320" cy="310896"/>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Ontology / schema governance</a:t>
            </a:r>
            <a:endParaRPr lang="en-US" sz="1250" dirty="0"/>
          </a:p>
        </p:txBody>
      </p:sp>
      <p:sp>
        <p:nvSpPr>
          <p:cNvPr id="19" name="Text 17"/>
          <p:cNvSpPr txBox="1"/>
          <p:nvPr/>
        </p:nvSpPr>
        <p:spPr>
          <a:xfrm>
            <a:off x="8266176" y="1938528"/>
            <a:ext cx="3200400" cy="117043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KG schema changes require versioning, testing and migration controls.</a:t>
            </a:r>
            <a:endParaRPr lang="en-US" sz="1100" dirty="0"/>
          </a:p>
        </p:txBody>
      </p:sp>
      <p:sp>
        <p:nvSpPr>
          <p:cNvPr id="20" name="Shape 18"/>
          <p:cNvSpPr/>
          <p:nvPr/>
        </p:nvSpPr>
        <p:spPr>
          <a:xfrm>
            <a:off x="548640" y="3429000"/>
            <a:ext cx="3566160" cy="1874520"/>
          </a:xfrm>
          <a:prstGeom prst="roundRect">
            <a:avLst>
              <a:gd name="adj" fmla="val 3902"/>
            </a:avLst>
          </a:prstGeom>
          <a:solidFill>
            <a:srgbClr val="F7F9FC"/>
          </a:solidFill>
          <a:ln w="9525">
            <a:solidFill>
              <a:srgbClr val="D5DDE9"/>
            </a:solidFill>
            <a:prstDash val="solid"/>
          </a:ln>
        </p:spPr>
      </p:sp>
      <p:sp>
        <p:nvSpPr>
          <p:cNvPr id="21" name="Shape 19"/>
          <p:cNvSpPr/>
          <p:nvPr/>
        </p:nvSpPr>
        <p:spPr>
          <a:xfrm>
            <a:off x="713232" y="3611880"/>
            <a:ext cx="566928" cy="274320"/>
          </a:xfrm>
          <a:prstGeom prst="roundRect">
            <a:avLst>
              <a:gd name="adj" fmla="val 20000"/>
            </a:avLst>
          </a:prstGeom>
          <a:solidFill>
            <a:srgbClr val="F8E3DE"/>
          </a:solidFill>
          <a:ln w="12700">
            <a:solidFill>
              <a:srgbClr val="F8E3DE"/>
            </a:solidFill>
            <a:prstDash val="solid"/>
          </a:ln>
        </p:spPr>
      </p:sp>
      <p:sp>
        <p:nvSpPr>
          <p:cNvPr id="22" name="Text 20"/>
          <p:cNvSpPr txBox="1"/>
          <p:nvPr/>
        </p:nvSpPr>
        <p:spPr>
          <a:xfrm>
            <a:off x="713232" y="3611880"/>
            <a:ext cx="566928" cy="274320"/>
          </a:xfrm>
          <a:prstGeom prst="rect">
            <a:avLst/>
          </a:prstGeom>
          <a:noFill/>
          <a:ln/>
        </p:spPr>
        <p:txBody>
          <a:bodyPr wrap="square" lIns="0" tIns="0" rIns="0" bIns="0" rtlCol="0" anchor="ctr"/>
          <a:lstStyle/>
          <a:p>
            <a:pPr algn="ctr" indent="0" marL="0">
              <a:buNone/>
            </a:pPr>
            <a:r>
              <a:rPr lang="en-US" sz="1000" b="1" dirty="0">
                <a:solidFill>
                  <a:srgbClr val="C8452B"/>
                </a:solidFill>
                <a:latin typeface="Calibri" pitchFamily="34" charset="0"/>
                <a:ea typeface="Calibri" pitchFamily="34" charset="-122"/>
                <a:cs typeface="Calibri" pitchFamily="34" charset="-120"/>
              </a:rPr>
              <a:t>C20</a:t>
            </a:r>
            <a:endParaRPr lang="en-US" sz="1000" dirty="0"/>
          </a:p>
        </p:txBody>
      </p:sp>
      <p:sp>
        <p:nvSpPr>
          <p:cNvPr id="23" name="Text 21"/>
          <p:cNvSpPr txBox="1"/>
          <p:nvPr/>
        </p:nvSpPr>
        <p:spPr>
          <a:xfrm>
            <a:off x="1389888" y="3593592"/>
            <a:ext cx="2560320" cy="310896"/>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Source-authority hierarchy</a:t>
            </a:r>
            <a:endParaRPr lang="en-US" sz="1250" dirty="0"/>
          </a:p>
        </p:txBody>
      </p:sp>
      <p:sp>
        <p:nvSpPr>
          <p:cNvPr id="24" name="Text 22"/>
          <p:cNvSpPr txBox="1"/>
          <p:nvPr/>
        </p:nvSpPr>
        <p:spPr>
          <a:xfrm>
            <a:off x="731520" y="3995928"/>
            <a:ext cx="3200400" cy="117043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Derived memory cannot outrank authoritative records silently; a tentative client remark must not consolidate into a standing instruction.</a:t>
            </a:r>
            <a:endParaRPr lang="en-US" sz="1100" dirty="0"/>
          </a:p>
        </p:txBody>
      </p:sp>
      <p:sp>
        <p:nvSpPr>
          <p:cNvPr id="25" name="Shape 23"/>
          <p:cNvSpPr/>
          <p:nvPr/>
        </p:nvSpPr>
        <p:spPr>
          <a:xfrm>
            <a:off x="4315968" y="3429000"/>
            <a:ext cx="3566160" cy="1874520"/>
          </a:xfrm>
          <a:prstGeom prst="roundRect">
            <a:avLst>
              <a:gd name="adj" fmla="val 3902"/>
            </a:avLst>
          </a:prstGeom>
          <a:solidFill>
            <a:srgbClr val="F7F9FC"/>
          </a:solidFill>
          <a:ln w="9525">
            <a:solidFill>
              <a:srgbClr val="D5DDE9"/>
            </a:solidFill>
            <a:prstDash val="solid"/>
          </a:ln>
        </p:spPr>
      </p:sp>
      <p:sp>
        <p:nvSpPr>
          <p:cNvPr id="26" name="Shape 24"/>
          <p:cNvSpPr/>
          <p:nvPr/>
        </p:nvSpPr>
        <p:spPr>
          <a:xfrm>
            <a:off x="4480560" y="3611880"/>
            <a:ext cx="566928" cy="274320"/>
          </a:xfrm>
          <a:prstGeom prst="roundRect">
            <a:avLst>
              <a:gd name="adj" fmla="val 20000"/>
            </a:avLst>
          </a:prstGeom>
          <a:solidFill>
            <a:srgbClr val="E3E9F3"/>
          </a:solidFill>
          <a:ln w="12700">
            <a:solidFill>
              <a:srgbClr val="E3E9F3"/>
            </a:solidFill>
            <a:prstDash val="solid"/>
          </a:ln>
        </p:spPr>
      </p:sp>
      <p:sp>
        <p:nvSpPr>
          <p:cNvPr id="27" name="Text 25"/>
          <p:cNvSpPr txBox="1"/>
          <p:nvPr/>
        </p:nvSpPr>
        <p:spPr>
          <a:xfrm>
            <a:off x="4480560" y="3611880"/>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C22</a:t>
            </a:r>
            <a:endParaRPr lang="en-US" sz="1000" dirty="0"/>
          </a:p>
        </p:txBody>
      </p:sp>
      <p:sp>
        <p:nvSpPr>
          <p:cNvPr id="28" name="Text 26"/>
          <p:cNvSpPr txBox="1"/>
          <p:nvPr/>
        </p:nvSpPr>
        <p:spPr>
          <a:xfrm>
            <a:off x="5157216" y="3593592"/>
            <a:ext cx="2560320" cy="310896"/>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Confidence / calibration</a:t>
            </a:r>
            <a:endParaRPr lang="en-US" sz="1250" dirty="0"/>
          </a:p>
        </p:txBody>
      </p:sp>
      <p:sp>
        <p:nvSpPr>
          <p:cNvPr id="29" name="Text 27"/>
          <p:cNvSpPr txBox="1"/>
          <p:nvPr/>
        </p:nvSpPr>
        <p:spPr>
          <a:xfrm>
            <a:off x="4498848" y="3995928"/>
            <a:ext cx="3200400" cy="117043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Reliability is scored and periodically validated against outcomes, not asserted once at write time.</a:t>
            </a:r>
            <a:endParaRPr lang="en-US" sz="1100" dirty="0"/>
          </a:p>
        </p:txBody>
      </p:sp>
      <p:sp>
        <p:nvSpPr>
          <p:cNvPr id="30" name="Shape 28"/>
          <p:cNvSpPr/>
          <p:nvPr/>
        </p:nvSpPr>
        <p:spPr>
          <a:xfrm>
            <a:off x="8083296" y="3429000"/>
            <a:ext cx="3566160" cy="1874520"/>
          </a:xfrm>
          <a:prstGeom prst="roundRect">
            <a:avLst>
              <a:gd name="adj" fmla="val 3902"/>
            </a:avLst>
          </a:prstGeom>
          <a:solidFill>
            <a:srgbClr val="0B1F3A"/>
          </a:solidFill>
          <a:ln w="12700">
            <a:solidFill>
              <a:srgbClr val="0B1F3A"/>
            </a:solidFill>
            <a:prstDash val="solid"/>
          </a:ln>
        </p:spPr>
      </p:sp>
      <p:sp>
        <p:nvSpPr>
          <p:cNvPr id="31" name="Text 29"/>
          <p:cNvSpPr txBox="1"/>
          <p:nvPr/>
        </p:nvSpPr>
        <p:spPr>
          <a:xfrm>
            <a:off x="8266176" y="3566160"/>
            <a:ext cx="3200400" cy="320040"/>
          </a:xfrm>
          <a:prstGeom prst="rect">
            <a:avLst/>
          </a:prstGeom>
          <a:noFill/>
          <a:ln/>
        </p:spPr>
        <p:txBody>
          <a:bodyPr wrap="square" lIns="0" tIns="0" rIns="0" bIns="0" rtlCol="0" anchor="t"/>
          <a:lstStyle/>
          <a:p>
            <a:pPr indent="0" marL="0">
              <a:buNone/>
            </a:pPr>
            <a:r>
              <a:rPr lang="en-US" sz="1100" b="1" dirty="0">
                <a:solidFill>
                  <a:srgbClr val="D98E04"/>
                </a:solidFill>
                <a:latin typeface="Calibri" pitchFamily="34" charset="0"/>
                <a:ea typeface="Calibri" pitchFamily="34" charset="-122"/>
                <a:cs typeface="Calibri" pitchFamily="34" charset="-120"/>
              </a:rPr>
              <a:t>Enterprise graph memory should be able to answer:</a:t>
            </a:r>
            <a:endParaRPr lang="en-US" sz="1100" dirty="0"/>
          </a:p>
        </p:txBody>
      </p:sp>
      <p:sp>
        <p:nvSpPr>
          <p:cNvPr id="32" name="Text 30"/>
          <p:cNvSpPr txBox="1"/>
          <p:nvPr/>
        </p:nvSpPr>
        <p:spPr>
          <a:xfrm>
            <a:off x="8266176" y="3931920"/>
            <a:ext cx="3200400" cy="1234440"/>
          </a:xfrm>
          <a:prstGeom prst="rect">
            <a:avLst/>
          </a:prstGeom>
          <a:noFill/>
          <a:ln/>
        </p:spPr>
        <p:txBody>
          <a:bodyPr wrap="square" lIns="0" tIns="0" rIns="0" bIns="0" rtlCol="0" anchor="t"/>
          <a:lstStyle/>
          <a:p>
            <a:pPr marL="152400" indent="-152400">
              <a:spcAft>
                <a:spcPts val="300"/>
              </a:spcAft>
              <a:buSzPct val="100000"/>
              <a:buChar char="•"/>
            </a:pPr>
            <a:r>
              <a:rPr lang="en-US" sz="1250" b="1" dirty="0">
                <a:solidFill>
                  <a:srgbClr val="FFFFFF"/>
                </a:solidFill>
                <a:latin typeface="Calibri" pitchFamily="34" charset="0"/>
                <a:ea typeface="Calibri" pitchFamily="34" charset="-122"/>
                <a:cs typeface="Calibri" pitchFamily="34" charset="-120"/>
              </a:rPr>
              <a:t>Why do we believe this?</a:t>
            </a:r>
            <a:endParaRPr lang="en-US" sz="1250" dirty="0"/>
          </a:p>
          <a:p>
            <a:pPr marL="152400" indent="-152400">
              <a:spcAft>
                <a:spcPts val="300"/>
              </a:spcAft>
              <a:buSzPct val="100000"/>
              <a:buChar char="•"/>
            </a:pPr>
            <a:r>
              <a:rPr lang="en-US" sz="1250" b="1" dirty="0">
                <a:solidFill>
                  <a:srgbClr val="FFFFFF"/>
                </a:solidFill>
                <a:latin typeface="Calibri" pitchFamily="34" charset="0"/>
                <a:ea typeface="Calibri" pitchFamily="34" charset="-122"/>
                <a:cs typeface="Calibri" pitchFamily="34" charset="-120"/>
              </a:rPr>
              <a:t>When was it true?</a:t>
            </a:r>
            <a:endParaRPr lang="en-US" sz="1250" dirty="0"/>
          </a:p>
          <a:p>
            <a:pPr marL="152400" indent="-152400">
              <a:spcAft>
                <a:spcPts val="300"/>
              </a:spcAft>
              <a:buSzPct val="100000"/>
              <a:buChar char="•"/>
            </a:pPr>
            <a:r>
              <a:rPr lang="en-US" sz="1250" b="1" dirty="0">
                <a:solidFill>
                  <a:srgbClr val="FFFFFF"/>
                </a:solidFill>
                <a:latin typeface="Calibri" pitchFamily="34" charset="0"/>
                <a:ea typeface="Calibri" pitchFamily="34" charset="-122"/>
                <a:cs typeface="Calibri" pitchFamily="34" charset="-120"/>
              </a:rPr>
              <a:t>Who asserted it?</a:t>
            </a:r>
            <a:endParaRPr lang="en-US" sz="1250" dirty="0"/>
          </a:p>
          <a:p>
            <a:pPr marL="152400" indent="-152400">
              <a:spcAft>
                <a:spcPts val="300"/>
              </a:spcAft>
              <a:buSzPct val="100000"/>
              <a:buChar char="•"/>
            </a:pPr>
            <a:r>
              <a:rPr lang="en-US" sz="1250" b="1" dirty="0">
                <a:solidFill>
                  <a:srgbClr val="FFFFFF"/>
                </a:solidFill>
                <a:latin typeface="Calibri" pitchFamily="34" charset="0"/>
                <a:ea typeface="Calibri" pitchFamily="34" charset="-122"/>
                <a:cs typeface="Calibri" pitchFamily="34" charset="-120"/>
              </a:rPr>
              <a:t>How authoritative is it?</a:t>
            </a:r>
            <a:endParaRPr lang="en-US" sz="1250" dirty="0"/>
          </a:p>
        </p:txBody>
      </p:sp>
      <p:sp>
        <p:nvSpPr>
          <p:cNvPr id="33" name="Text 31"/>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AuthMem-Bench (arXiv:2608.01679) and Memory Contagion (arXiv:2606.23195) are the empirical basis for C20 and C6 respectively.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Access &amp; use controls: relevant ≠ permissible</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24</a:t>
            </a:r>
            <a:endParaRPr lang="en-US" sz="900" dirty="0"/>
          </a:p>
        </p:txBody>
      </p:sp>
      <p:sp>
        <p:nvSpPr>
          <p:cNvPr id="5" name="Shape 3"/>
          <p:cNvSpPr/>
          <p:nvPr/>
        </p:nvSpPr>
        <p:spPr>
          <a:xfrm>
            <a:off x="548640" y="1371600"/>
            <a:ext cx="5440680" cy="1828800"/>
          </a:xfrm>
          <a:prstGeom prst="roundRect">
            <a:avLst>
              <a:gd name="adj" fmla="val 4000"/>
            </a:avLst>
          </a:prstGeom>
          <a:solidFill>
            <a:srgbClr val="EEF2F8"/>
          </a:solidFill>
          <a:ln w="9525">
            <a:solidFill>
              <a:srgbClr val="D5DDE9"/>
            </a:solidFill>
            <a:prstDash val="solid"/>
          </a:ln>
        </p:spPr>
      </p:sp>
      <p:sp>
        <p:nvSpPr>
          <p:cNvPr id="6" name="Text 4"/>
          <p:cNvSpPr txBox="1"/>
          <p:nvPr/>
        </p:nvSpPr>
        <p:spPr>
          <a:xfrm>
            <a:off x="777240" y="1481328"/>
            <a:ext cx="5029200" cy="274320"/>
          </a:xfrm>
          <a:prstGeom prst="rect">
            <a:avLst/>
          </a:prstGeom>
          <a:noFill/>
          <a:ln/>
        </p:spPr>
        <p:txBody>
          <a:bodyPr wrap="square" lIns="0" tIns="0" rIns="0" bIns="0" rtlCol="0" anchor="t"/>
          <a:lstStyle/>
          <a:p>
            <a:pPr indent="0" marL="0">
              <a:buNone/>
            </a:pPr>
            <a:r>
              <a:rPr lang="en-US" sz="900" b="1" spc="200" kern="0" dirty="0">
                <a:solidFill>
                  <a:srgbClr val="5C6B80"/>
                </a:solidFill>
                <a:latin typeface="Calibri" pitchFamily="34" charset="0"/>
                <a:ea typeface="Calibri" pitchFamily="34" charset="-122"/>
                <a:cs typeface="Calibri" pitchFamily="34" charset="-120"/>
              </a:rPr>
              <a:t>TRADITIONAL MEMORY SEARCH</a:t>
            </a:r>
            <a:endParaRPr lang="en-US" sz="900" dirty="0"/>
          </a:p>
        </p:txBody>
      </p:sp>
      <p:sp>
        <p:nvSpPr>
          <p:cNvPr id="7" name="Text 5"/>
          <p:cNvSpPr txBox="1"/>
          <p:nvPr/>
        </p:nvSpPr>
        <p:spPr>
          <a:xfrm>
            <a:off x="777240" y="1828800"/>
            <a:ext cx="5029200" cy="548640"/>
          </a:xfrm>
          <a:prstGeom prst="rect">
            <a:avLst/>
          </a:prstGeom>
          <a:noFill/>
          <a:ln/>
        </p:spPr>
        <p:txBody>
          <a:bodyPr wrap="square" lIns="0" tIns="0" rIns="0" bIns="0" rtlCol="0" anchor="ctr"/>
          <a:lstStyle/>
          <a:p>
            <a:pPr indent="0" marL="0">
              <a:buNone/>
            </a:pPr>
            <a:r>
              <a:rPr lang="en-US" sz="1500" b="1" dirty="0">
                <a:solidFill>
                  <a:srgbClr val="1F2937"/>
                </a:solidFill>
                <a:latin typeface="Courier New" pitchFamily="34" charset="0"/>
                <a:ea typeface="Courier New" pitchFamily="34" charset="-122"/>
                <a:cs typeface="Courier New" pitchFamily="34" charset="-120"/>
              </a:rPr>
              <a:t>TopK( similarity(query, memory) )</a:t>
            </a:r>
            <a:endParaRPr lang="en-US" sz="1500" dirty="0"/>
          </a:p>
        </p:txBody>
      </p:sp>
      <p:sp>
        <p:nvSpPr>
          <p:cNvPr id="8" name="Text 6"/>
          <p:cNvSpPr txBox="1"/>
          <p:nvPr/>
        </p:nvSpPr>
        <p:spPr>
          <a:xfrm>
            <a:off x="777240" y="2423160"/>
            <a:ext cx="5029200" cy="6858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Retrieval is decided by embedding distance alone. Anything similar is surfaced — including memory the actor is not entitled to.</a:t>
            </a:r>
            <a:endParaRPr lang="en-US" sz="1100" dirty="0"/>
          </a:p>
        </p:txBody>
      </p:sp>
      <p:sp>
        <p:nvSpPr>
          <p:cNvPr id="9" name="Shape 7"/>
          <p:cNvSpPr/>
          <p:nvPr/>
        </p:nvSpPr>
        <p:spPr>
          <a:xfrm>
            <a:off x="6190488" y="1371600"/>
            <a:ext cx="5440680" cy="1828800"/>
          </a:xfrm>
          <a:prstGeom prst="roundRect">
            <a:avLst>
              <a:gd name="adj" fmla="val 4000"/>
            </a:avLst>
          </a:prstGeom>
          <a:solidFill>
            <a:srgbClr val="0B1F3A"/>
          </a:solidFill>
          <a:ln w="12700">
            <a:solidFill>
              <a:srgbClr val="0B1F3A"/>
            </a:solidFill>
            <a:prstDash val="solid"/>
          </a:ln>
        </p:spPr>
      </p:sp>
      <p:sp>
        <p:nvSpPr>
          <p:cNvPr id="10" name="Text 8"/>
          <p:cNvSpPr txBox="1"/>
          <p:nvPr/>
        </p:nvSpPr>
        <p:spPr>
          <a:xfrm>
            <a:off x="6419088" y="1481328"/>
            <a:ext cx="5029200" cy="274320"/>
          </a:xfrm>
          <a:prstGeom prst="rect">
            <a:avLst/>
          </a:prstGeom>
          <a:noFill/>
          <a:ln/>
        </p:spPr>
        <p:txBody>
          <a:bodyPr wrap="square" lIns="0" tIns="0" rIns="0" bIns="0" rtlCol="0" anchor="t"/>
          <a:lstStyle/>
          <a:p>
            <a:pPr indent="0" marL="0">
              <a:buNone/>
            </a:pPr>
            <a:r>
              <a:rPr lang="en-US" sz="900" b="1" spc="200" kern="0" dirty="0">
                <a:solidFill>
                  <a:srgbClr val="CADCFC"/>
                </a:solidFill>
                <a:latin typeface="Calibri" pitchFamily="34" charset="0"/>
                <a:ea typeface="Calibri" pitchFamily="34" charset="-122"/>
                <a:cs typeface="Calibri" pitchFamily="34" charset="-120"/>
              </a:rPr>
              <a:t>GOVERNED MEMORY SEARCH</a:t>
            </a:r>
            <a:endParaRPr lang="en-US" sz="900" dirty="0"/>
          </a:p>
        </p:txBody>
      </p:sp>
      <p:sp>
        <p:nvSpPr>
          <p:cNvPr id="11" name="Text 9"/>
          <p:cNvSpPr txBox="1"/>
          <p:nvPr/>
        </p:nvSpPr>
        <p:spPr>
          <a:xfrm>
            <a:off x="6419088" y="1783080"/>
            <a:ext cx="5029200" cy="685800"/>
          </a:xfrm>
          <a:prstGeom prst="rect">
            <a:avLst/>
          </a:prstGeom>
          <a:noFill/>
          <a:ln/>
        </p:spPr>
        <p:txBody>
          <a:bodyPr wrap="square" lIns="0" tIns="0" rIns="0" bIns="0" rtlCol="0" anchor="ctr"/>
          <a:lstStyle/>
          <a:p>
            <a:pPr indent="0" marL="0">
              <a:buNone/>
            </a:pPr>
            <a:r>
              <a:rPr lang="en-US" sz="1350" b="1" dirty="0">
                <a:solidFill>
                  <a:srgbClr val="D98E04"/>
                </a:solidFill>
                <a:latin typeface="Courier New" pitchFamily="34" charset="0"/>
                <a:ea typeface="Courier New" pitchFamily="34" charset="-122"/>
                <a:cs typeface="Courier New" pitchFamily="34" charset="-120"/>
              </a:rPr>
              <a:t>TopK( similarity | authorized(actor, purpose,</a:t>
            </a:r>
            <a:endParaRPr lang="en-US" sz="1350" dirty="0"/>
          </a:p>
          <a:p>
            <a:pPr indent="0" marL="0">
              <a:buNone/>
            </a:pPr>
            <a:r>
              <a:rPr lang="en-US" sz="1350" b="1" dirty="0">
                <a:solidFill>
                  <a:srgbClr val="D98E04"/>
                </a:solidFill>
                <a:latin typeface="Courier New" pitchFamily="34" charset="0"/>
                <a:ea typeface="Courier New" pitchFamily="34" charset="-122"/>
                <a:cs typeface="Courier New" pitchFamily="34" charset="-120"/>
              </a:rPr>
              <a:t>        scope, barrier, status) )</a:t>
            </a:r>
            <a:endParaRPr lang="en-US" sz="1350" dirty="0"/>
          </a:p>
        </p:txBody>
      </p:sp>
      <p:sp>
        <p:nvSpPr>
          <p:cNvPr id="12" name="Text 10"/>
          <p:cNvSpPr txBox="1"/>
          <p:nvPr/>
        </p:nvSpPr>
        <p:spPr>
          <a:xfrm>
            <a:off x="6419088" y="2514600"/>
            <a:ext cx="5029200" cy="5943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Authorization is a filter applied before the LLM ever sees the memory — not a post-hoc redaction.</a:t>
            </a:r>
            <a:endParaRPr lang="en-US" sz="1100" dirty="0"/>
          </a:p>
        </p:txBody>
      </p:sp>
      <p:sp>
        <p:nvSpPr>
          <p:cNvPr id="13" name="Shape 11"/>
          <p:cNvSpPr/>
          <p:nvPr/>
        </p:nvSpPr>
        <p:spPr>
          <a:xfrm>
            <a:off x="5989320" y="2286000"/>
            <a:ext cx="201168" cy="0"/>
          </a:xfrm>
          <a:prstGeom prst="line">
            <a:avLst/>
          </a:prstGeom>
          <a:noFill/>
          <a:ln w="25400">
            <a:solidFill>
              <a:srgbClr val="D98E04"/>
            </a:solidFill>
            <a:prstDash val="solid"/>
            <a:tailEnd type="triangle"/>
          </a:ln>
        </p:spPr>
      </p:sp>
      <p:sp>
        <p:nvSpPr>
          <p:cNvPr id="14" name="Shape 12"/>
          <p:cNvSpPr/>
          <p:nvPr/>
        </p:nvSpPr>
        <p:spPr>
          <a:xfrm>
            <a:off x="548640" y="3429000"/>
            <a:ext cx="3566160" cy="1965960"/>
          </a:xfrm>
          <a:prstGeom prst="roundRect">
            <a:avLst>
              <a:gd name="adj" fmla="val 3721"/>
            </a:avLst>
          </a:prstGeom>
          <a:solidFill>
            <a:srgbClr val="F7F9FC"/>
          </a:solidFill>
          <a:ln w="9525">
            <a:solidFill>
              <a:srgbClr val="D5DDE9"/>
            </a:solidFill>
            <a:prstDash val="solid"/>
          </a:ln>
        </p:spPr>
      </p:sp>
      <p:sp>
        <p:nvSpPr>
          <p:cNvPr id="15" name="Shape 13"/>
          <p:cNvSpPr/>
          <p:nvPr/>
        </p:nvSpPr>
        <p:spPr>
          <a:xfrm>
            <a:off x="713232" y="3611880"/>
            <a:ext cx="566928" cy="274320"/>
          </a:xfrm>
          <a:prstGeom prst="roundRect">
            <a:avLst>
              <a:gd name="adj" fmla="val 20000"/>
            </a:avLst>
          </a:prstGeom>
          <a:solidFill>
            <a:srgbClr val="E3E9F3"/>
          </a:solidFill>
          <a:ln w="12700">
            <a:solidFill>
              <a:srgbClr val="E3E9F3"/>
            </a:solidFill>
            <a:prstDash val="solid"/>
          </a:ln>
        </p:spPr>
      </p:sp>
      <p:sp>
        <p:nvSpPr>
          <p:cNvPr id="16" name="Text 14"/>
          <p:cNvSpPr txBox="1"/>
          <p:nvPr/>
        </p:nvSpPr>
        <p:spPr>
          <a:xfrm>
            <a:off x="713232" y="3611880"/>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C17</a:t>
            </a:r>
            <a:endParaRPr lang="en-US" sz="1000" dirty="0"/>
          </a:p>
        </p:txBody>
      </p:sp>
      <p:sp>
        <p:nvSpPr>
          <p:cNvPr id="17" name="Text 15"/>
          <p:cNvSpPr txBox="1"/>
          <p:nvPr/>
        </p:nvSpPr>
        <p:spPr>
          <a:xfrm>
            <a:off x="1389888" y="3593592"/>
            <a:ext cx="256032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Tenant / namespace isolation</a:t>
            </a:r>
            <a:endParaRPr lang="en-US" sz="1300" dirty="0"/>
          </a:p>
        </p:txBody>
      </p:sp>
      <p:sp>
        <p:nvSpPr>
          <p:cNvPr id="18" name="Text 16"/>
          <p:cNvSpPr txBox="1"/>
          <p:nvPr/>
        </p:nvSpPr>
        <p:spPr>
          <a:xfrm>
            <a:off x="731520" y="3995928"/>
            <a:ext cx="3200400" cy="12618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Cross-user, cross-team, cross-client and cross-agent leakage must be prevented semantically — in retrieval and graph traversal — not only by database ACLs. CVE-2026-32247 showed a single injection could traverse all tenants.</a:t>
            </a:r>
            <a:endParaRPr lang="en-US" sz="1100" dirty="0"/>
          </a:p>
        </p:txBody>
      </p:sp>
      <p:sp>
        <p:nvSpPr>
          <p:cNvPr id="19" name="Shape 17"/>
          <p:cNvSpPr/>
          <p:nvPr/>
        </p:nvSpPr>
        <p:spPr>
          <a:xfrm>
            <a:off x="4315968" y="3429000"/>
            <a:ext cx="3566160" cy="1965960"/>
          </a:xfrm>
          <a:prstGeom prst="roundRect">
            <a:avLst>
              <a:gd name="adj" fmla="val 3721"/>
            </a:avLst>
          </a:prstGeom>
          <a:solidFill>
            <a:srgbClr val="F7F9FC"/>
          </a:solidFill>
          <a:ln w="9525">
            <a:solidFill>
              <a:srgbClr val="D5DDE9"/>
            </a:solidFill>
            <a:prstDash val="solid"/>
          </a:ln>
        </p:spPr>
      </p:sp>
      <p:sp>
        <p:nvSpPr>
          <p:cNvPr id="20" name="Shape 18"/>
          <p:cNvSpPr/>
          <p:nvPr/>
        </p:nvSpPr>
        <p:spPr>
          <a:xfrm>
            <a:off x="4480560" y="3611880"/>
            <a:ext cx="566928" cy="274320"/>
          </a:xfrm>
          <a:prstGeom prst="roundRect">
            <a:avLst>
              <a:gd name="adj" fmla="val 20000"/>
            </a:avLst>
          </a:prstGeom>
          <a:solidFill>
            <a:srgbClr val="DDF0ED"/>
          </a:solidFill>
          <a:ln w="12700">
            <a:solidFill>
              <a:srgbClr val="DDF0ED"/>
            </a:solidFill>
            <a:prstDash val="solid"/>
          </a:ln>
        </p:spPr>
      </p:sp>
      <p:sp>
        <p:nvSpPr>
          <p:cNvPr id="21" name="Text 19"/>
          <p:cNvSpPr txBox="1"/>
          <p:nvPr/>
        </p:nvSpPr>
        <p:spPr>
          <a:xfrm>
            <a:off x="4480560" y="3611880"/>
            <a:ext cx="566928" cy="274320"/>
          </a:xfrm>
          <a:prstGeom prst="rect">
            <a:avLst/>
          </a:prstGeom>
          <a:noFill/>
          <a:ln/>
        </p:spPr>
        <p:txBody>
          <a:bodyPr wrap="square" lIns="0" tIns="0" rIns="0" bIns="0" rtlCol="0" anchor="ctr"/>
          <a:lstStyle/>
          <a:p>
            <a:pPr algn="ctr" indent="0" marL="0">
              <a:buNone/>
            </a:pPr>
            <a:r>
              <a:rPr lang="en-US" sz="1000" b="1" dirty="0">
                <a:solidFill>
                  <a:srgbClr val="12867A"/>
                </a:solidFill>
                <a:latin typeface="Calibri" pitchFamily="34" charset="0"/>
                <a:ea typeface="Calibri" pitchFamily="34" charset="-122"/>
                <a:cs typeface="Calibri" pitchFamily="34" charset="-120"/>
              </a:rPr>
              <a:t>C21</a:t>
            </a:r>
            <a:endParaRPr lang="en-US" sz="1000" dirty="0"/>
          </a:p>
        </p:txBody>
      </p:sp>
      <p:sp>
        <p:nvSpPr>
          <p:cNvPr id="22" name="Text 20"/>
          <p:cNvSpPr txBox="1"/>
          <p:nvPr/>
        </p:nvSpPr>
        <p:spPr>
          <a:xfrm>
            <a:off x="5157216" y="3593592"/>
            <a:ext cx="256032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Purpose-bound use authorization</a:t>
            </a:r>
            <a:endParaRPr lang="en-US" sz="1300" dirty="0"/>
          </a:p>
        </p:txBody>
      </p:sp>
      <p:sp>
        <p:nvSpPr>
          <p:cNvPr id="23" name="Text 21"/>
          <p:cNvSpPr txBox="1"/>
          <p:nvPr/>
        </p:nvSpPr>
        <p:spPr>
          <a:xfrm>
            <a:off x="4498848" y="3995928"/>
            <a:ext cx="3200400" cy="12618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memory collected for one purpose (e.g. account servicing) is not automatically usable for another (e.g. product targeting). Purpose travels with the record.</a:t>
            </a:r>
            <a:endParaRPr lang="en-US" sz="1100" dirty="0"/>
          </a:p>
        </p:txBody>
      </p:sp>
      <p:sp>
        <p:nvSpPr>
          <p:cNvPr id="24" name="Shape 22"/>
          <p:cNvSpPr/>
          <p:nvPr/>
        </p:nvSpPr>
        <p:spPr>
          <a:xfrm>
            <a:off x="8083296" y="3429000"/>
            <a:ext cx="3566160" cy="1965960"/>
          </a:xfrm>
          <a:prstGeom prst="roundRect">
            <a:avLst>
              <a:gd name="adj" fmla="val 3721"/>
            </a:avLst>
          </a:prstGeom>
          <a:solidFill>
            <a:srgbClr val="F7F9FC"/>
          </a:solidFill>
          <a:ln w="9525">
            <a:solidFill>
              <a:srgbClr val="D5DDE9"/>
            </a:solidFill>
            <a:prstDash val="solid"/>
          </a:ln>
        </p:spPr>
      </p:sp>
      <p:sp>
        <p:nvSpPr>
          <p:cNvPr id="25" name="Shape 23"/>
          <p:cNvSpPr/>
          <p:nvPr/>
        </p:nvSpPr>
        <p:spPr>
          <a:xfrm>
            <a:off x="8247888" y="3611880"/>
            <a:ext cx="566928" cy="274320"/>
          </a:xfrm>
          <a:prstGeom prst="roundRect">
            <a:avLst>
              <a:gd name="adj" fmla="val 20000"/>
            </a:avLst>
          </a:prstGeom>
          <a:solidFill>
            <a:srgbClr val="FBF1DE"/>
          </a:solidFill>
          <a:ln w="12700">
            <a:solidFill>
              <a:srgbClr val="FBF1DE"/>
            </a:solidFill>
            <a:prstDash val="solid"/>
          </a:ln>
        </p:spPr>
      </p:sp>
      <p:sp>
        <p:nvSpPr>
          <p:cNvPr id="26" name="Text 24"/>
          <p:cNvSpPr txBox="1"/>
          <p:nvPr/>
        </p:nvSpPr>
        <p:spPr>
          <a:xfrm>
            <a:off x="8247888" y="3611880"/>
            <a:ext cx="566928" cy="274320"/>
          </a:xfrm>
          <a:prstGeom prst="rect">
            <a:avLst/>
          </a:prstGeom>
          <a:noFill/>
          <a:ln/>
        </p:spPr>
        <p:txBody>
          <a:bodyPr wrap="square" lIns="0" tIns="0" rIns="0" bIns="0" rtlCol="0" anchor="ctr"/>
          <a:lstStyle/>
          <a:p>
            <a:pPr algn="ctr" indent="0" marL="0">
              <a:buNone/>
            </a:pPr>
            <a:r>
              <a:rPr lang="en-US" sz="1000" b="1" dirty="0">
                <a:solidFill>
                  <a:srgbClr val="D98E04"/>
                </a:solidFill>
                <a:latin typeface="Calibri" pitchFamily="34" charset="0"/>
                <a:ea typeface="Calibri" pitchFamily="34" charset="-122"/>
                <a:cs typeface="Calibri" pitchFamily="34" charset="-120"/>
              </a:rPr>
              <a:t>C23</a:t>
            </a:r>
            <a:endParaRPr lang="en-US" sz="1000" dirty="0"/>
          </a:p>
        </p:txBody>
      </p:sp>
      <p:sp>
        <p:nvSpPr>
          <p:cNvPr id="27" name="Text 25"/>
          <p:cNvSpPr txBox="1"/>
          <p:nvPr/>
        </p:nvSpPr>
        <p:spPr>
          <a:xfrm>
            <a:off x="8924544" y="3593592"/>
            <a:ext cx="256032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Operation authorization</a:t>
            </a:r>
            <a:endParaRPr lang="en-US" sz="1300" dirty="0"/>
          </a:p>
        </p:txBody>
      </p:sp>
      <p:sp>
        <p:nvSpPr>
          <p:cNvPr id="28" name="Text 26"/>
          <p:cNvSpPr txBox="1"/>
          <p:nvPr/>
        </p:nvSpPr>
        <p:spPr>
          <a:xfrm>
            <a:off x="8266176" y="3995928"/>
            <a:ext cx="3200400" cy="12618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READ, WRITE, INFER, UPDATE, MERGE, PROMOTE, RESTRICT, DELETE and EXPORT are separately permissioned; an agent that may read must not implicitly be able to promote or export.</a:t>
            </a:r>
            <a:endParaRPr lang="en-US" sz="1100" dirty="0"/>
          </a:p>
        </p:txBody>
      </p:sp>
      <p:sp>
        <p:nvSpPr>
          <p:cNvPr id="29" name="Text 27"/>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Lifecycle controls: status is not binary</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25</a:t>
            </a:r>
            <a:endParaRPr lang="en-US" sz="900" dirty="0"/>
          </a:p>
        </p:txBody>
      </p:sp>
      <p:sp>
        <p:nvSpPr>
          <p:cNvPr id="5" name="Text 3"/>
          <p:cNvSpPr txBox="1"/>
          <p:nvPr/>
        </p:nvSpPr>
        <p:spPr>
          <a:xfrm>
            <a:off x="548640" y="1325880"/>
            <a:ext cx="9144000" cy="274320"/>
          </a:xfrm>
          <a:prstGeom prst="rect">
            <a:avLst/>
          </a:prstGeom>
          <a:noFill/>
          <a:ln/>
        </p:spPr>
        <p:txBody>
          <a:bodyPr wrap="square" lIns="0" tIns="0" rIns="0" bIns="0" rtlCol="0" anchor="t"/>
          <a:lstStyle/>
          <a:p>
            <a:pPr indent="0" marL="0">
              <a:buNone/>
            </a:pPr>
            <a:r>
              <a:rPr lang="en-US" sz="900" b="1" spc="200" kern="0" dirty="0">
                <a:solidFill>
                  <a:srgbClr val="5C6B80"/>
                </a:solidFill>
                <a:latin typeface="Calibri" pitchFamily="34" charset="0"/>
                <a:ea typeface="Calibri" pitchFamily="34" charset="-122"/>
                <a:cs typeface="Calibri" pitchFamily="34" charset="-120"/>
              </a:rPr>
              <a:t>MEMORY STATE MACHINE — TRANSITIONS ARE POLICY EVENTS, EACH LOGGED</a:t>
            </a:r>
            <a:endParaRPr lang="en-US" sz="900" dirty="0"/>
          </a:p>
        </p:txBody>
      </p:sp>
      <p:sp>
        <p:nvSpPr>
          <p:cNvPr id="6" name="Shape 4"/>
          <p:cNvSpPr/>
          <p:nvPr/>
        </p:nvSpPr>
        <p:spPr>
          <a:xfrm>
            <a:off x="548640" y="1691640"/>
            <a:ext cx="1133856" cy="502920"/>
          </a:xfrm>
          <a:prstGeom prst="roundRect">
            <a:avLst>
              <a:gd name="adj" fmla="val 50909"/>
            </a:avLst>
          </a:prstGeom>
          <a:solidFill>
            <a:srgbClr val="12867A"/>
          </a:solidFill>
          <a:ln w="12700">
            <a:solidFill>
              <a:srgbClr val="12867A"/>
            </a:solidFill>
            <a:prstDash val="solid"/>
          </a:ln>
        </p:spPr>
      </p:sp>
      <p:sp>
        <p:nvSpPr>
          <p:cNvPr id="7" name="Text 5"/>
          <p:cNvSpPr txBox="1"/>
          <p:nvPr/>
        </p:nvSpPr>
        <p:spPr>
          <a:xfrm>
            <a:off x="548640"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8" name="Shape 6"/>
          <p:cNvSpPr/>
          <p:nvPr/>
        </p:nvSpPr>
        <p:spPr>
          <a:xfrm>
            <a:off x="1682496" y="1943100"/>
            <a:ext cx="111214" cy="0"/>
          </a:xfrm>
          <a:prstGeom prst="line">
            <a:avLst/>
          </a:prstGeom>
          <a:noFill/>
          <a:ln w="19050">
            <a:solidFill>
              <a:srgbClr val="5C6B80"/>
            </a:solidFill>
            <a:prstDash val="solid"/>
            <a:tailEnd type="triangle"/>
          </a:ln>
        </p:spPr>
      </p:sp>
      <p:sp>
        <p:nvSpPr>
          <p:cNvPr id="9" name="Shape 7"/>
          <p:cNvSpPr/>
          <p:nvPr/>
        </p:nvSpPr>
        <p:spPr>
          <a:xfrm>
            <a:off x="1793710" y="1691640"/>
            <a:ext cx="1133856" cy="502920"/>
          </a:xfrm>
          <a:prstGeom prst="roundRect">
            <a:avLst>
              <a:gd name="adj" fmla="val 50909"/>
            </a:avLst>
          </a:prstGeom>
          <a:solidFill>
            <a:srgbClr val="12867A"/>
          </a:solidFill>
          <a:ln w="12700">
            <a:solidFill>
              <a:srgbClr val="12867A"/>
            </a:solidFill>
            <a:prstDash val="solid"/>
          </a:ln>
        </p:spPr>
      </p:sp>
      <p:sp>
        <p:nvSpPr>
          <p:cNvPr id="10" name="Text 8"/>
          <p:cNvSpPr txBox="1"/>
          <p:nvPr/>
        </p:nvSpPr>
        <p:spPr>
          <a:xfrm>
            <a:off x="1793710"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PENDING_VERIF.</a:t>
            </a:r>
            <a:endParaRPr lang="en-US" sz="900" dirty="0"/>
          </a:p>
        </p:txBody>
      </p:sp>
      <p:sp>
        <p:nvSpPr>
          <p:cNvPr id="11" name="Shape 9"/>
          <p:cNvSpPr/>
          <p:nvPr/>
        </p:nvSpPr>
        <p:spPr>
          <a:xfrm>
            <a:off x="2927566" y="1943100"/>
            <a:ext cx="111214" cy="0"/>
          </a:xfrm>
          <a:prstGeom prst="line">
            <a:avLst/>
          </a:prstGeom>
          <a:noFill/>
          <a:ln w="19050">
            <a:solidFill>
              <a:srgbClr val="5C6B80"/>
            </a:solidFill>
            <a:prstDash val="solid"/>
            <a:tailEnd type="triangle"/>
          </a:ln>
        </p:spPr>
      </p:sp>
      <p:sp>
        <p:nvSpPr>
          <p:cNvPr id="12" name="Shape 10"/>
          <p:cNvSpPr/>
          <p:nvPr/>
        </p:nvSpPr>
        <p:spPr>
          <a:xfrm>
            <a:off x="3038780" y="1691640"/>
            <a:ext cx="1133856" cy="502920"/>
          </a:xfrm>
          <a:prstGeom prst="roundRect">
            <a:avLst>
              <a:gd name="adj" fmla="val 50909"/>
            </a:avLst>
          </a:prstGeom>
          <a:solidFill>
            <a:srgbClr val="D98E04"/>
          </a:solidFill>
          <a:ln w="12700">
            <a:solidFill>
              <a:srgbClr val="D98E04"/>
            </a:solidFill>
            <a:prstDash val="solid"/>
          </a:ln>
        </p:spPr>
      </p:sp>
      <p:sp>
        <p:nvSpPr>
          <p:cNvPr id="13" name="Text 11"/>
          <p:cNvSpPr txBox="1"/>
          <p:nvPr/>
        </p:nvSpPr>
        <p:spPr>
          <a:xfrm>
            <a:off x="3038780"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DISPUTED</a:t>
            </a:r>
            <a:endParaRPr lang="en-US" sz="900" dirty="0"/>
          </a:p>
        </p:txBody>
      </p:sp>
      <p:sp>
        <p:nvSpPr>
          <p:cNvPr id="14" name="Shape 12"/>
          <p:cNvSpPr/>
          <p:nvPr/>
        </p:nvSpPr>
        <p:spPr>
          <a:xfrm>
            <a:off x="4172636" y="1943100"/>
            <a:ext cx="111214" cy="0"/>
          </a:xfrm>
          <a:prstGeom prst="line">
            <a:avLst/>
          </a:prstGeom>
          <a:noFill/>
          <a:ln w="19050">
            <a:solidFill>
              <a:srgbClr val="5C6B80"/>
            </a:solidFill>
            <a:prstDash val="solid"/>
            <a:tailEnd type="triangle"/>
          </a:ln>
        </p:spPr>
      </p:sp>
      <p:sp>
        <p:nvSpPr>
          <p:cNvPr id="15" name="Shape 13"/>
          <p:cNvSpPr/>
          <p:nvPr/>
        </p:nvSpPr>
        <p:spPr>
          <a:xfrm>
            <a:off x="4283850" y="1691640"/>
            <a:ext cx="1133856" cy="502920"/>
          </a:xfrm>
          <a:prstGeom prst="roundRect">
            <a:avLst>
              <a:gd name="adj" fmla="val 50909"/>
            </a:avLst>
          </a:prstGeom>
          <a:solidFill>
            <a:srgbClr val="C8452B"/>
          </a:solidFill>
          <a:ln w="12700">
            <a:solidFill>
              <a:srgbClr val="C8452B"/>
            </a:solidFill>
            <a:prstDash val="solid"/>
          </a:ln>
        </p:spPr>
      </p:sp>
      <p:sp>
        <p:nvSpPr>
          <p:cNvPr id="16" name="Text 14"/>
          <p:cNvSpPr txBox="1"/>
          <p:nvPr/>
        </p:nvSpPr>
        <p:spPr>
          <a:xfrm>
            <a:off x="4283850"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QUARANTINED</a:t>
            </a:r>
            <a:endParaRPr lang="en-US" sz="900" dirty="0"/>
          </a:p>
        </p:txBody>
      </p:sp>
      <p:sp>
        <p:nvSpPr>
          <p:cNvPr id="17" name="Shape 15"/>
          <p:cNvSpPr/>
          <p:nvPr/>
        </p:nvSpPr>
        <p:spPr>
          <a:xfrm>
            <a:off x="5417706" y="1943100"/>
            <a:ext cx="111214" cy="0"/>
          </a:xfrm>
          <a:prstGeom prst="line">
            <a:avLst/>
          </a:prstGeom>
          <a:noFill/>
          <a:ln w="19050">
            <a:solidFill>
              <a:srgbClr val="5C6B80"/>
            </a:solidFill>
            <a:prstDash val="solid"/>
            <a:tailEnd type="triangle"/>
          </a:ln>
        </p:spPr>
      </p:sp>
      <p:sp>
        <p:nvSpPr>
          <p:cNvPr id="18" name="Shape 16"/>
          <p:cNvSpPr/>
          <p:nvPr/>
        </p:nvSpPr>
        <p:spPr>
          <a:xfrm>
            <a:off x="5528920" y="1691640"/>
            <a:ext cx="1133856" cy="502920"/>
          </a:xfrm>
          <a:prstGeom prst="roundRect">
            <a:avLst>
              <a:gd name="adj" fmla="val 50909"/>
            </a:avLst>
          </a:prstGeom>
          <a:solidFill>
            <a:srgbClr val="D98E04"/>
          </a:solidFill>
          <a:ln w="12700">
            <a:solidFill>
              <a:srgbClr val="D98E04"/>
            </a:solidFill>
            <a:prstDash val="solid"/>
          </a:ln>
        </p:spPr>
      </p:sp>
      <p:sp>
        <p:nvSpPr>
          <p:cNvPr id="19" name="Text 17"/>
          <p:cNvSpPr txBox="1"/>
          <p:nvPr/>
        </p:nvSpPr>
        <p:spPr>
          <a:xfrm>
            <a:off x="5528920"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RESTRICTED</a:t>
            </a:r>
            <a:endParaRPr lang="en-US" sz="900" dirty="0"/>
          </a:p>
        </p:txBody>
      </p:sp>
      <p:sp>
        <p:nvSpPr>
          <p:cNvPr id="20" name="Shape 18"/>
          <p:cNvSpPr/>
          <p:nvPr/>
        </p:nvSpPr>
        <p:spPr>
          <a:xfrm>
            <a:off x="6662776" y="1943100"/>
            <a:ext cx="111214" cy="0"/>
          </a:xfrm>
          <a:prstGeom prst="line">
            <a:avLst/>
          </a:prstGeom>
          <a:noFill/>
          <a:ln w="19050">
            <a:solidFill>
              <a:srgbClr val="5C6B80"/>
            </a:solidFill>
            <a:prstDash val="solid"/>
            <a:tailEnd type="triangle"/>
          </a:ln>
        </p:spPr>
      </p:sp>
      <p:sp>
        <p:nvSpPr>
          <p:cNvPr id="21" name="Shape 19"/>
          <p:cNvSpPr/>
          <p:nvPr/>
        </p:nvSpPr>
        <p:spPr>
          <a:xfrm>
            <a:off x="6773990" y="1691640"/>
            <a:ext cx="1133856" cy="502920"/>
          </a:xfrm>
          <a:prstGeom prst="roundRect">
            <a:avLst>
              <a:gd name="adj" fmla="val 50909"/>
            </a:avLst>
          </a:prstGeom>
          <a:solidFill>
            <a:srgbClr val="5C6B80"/>
          </a:solidFill>
          <a:ln w="12700">
            <a:solidFill>
              <a:srgbClr val="5C6B80"/>
            </a:solidFill>
            <a:prstDash val="solid"/>
          </a:ln>
        </p:spPr>
      </p:sp>
      <p:sp>
        <p:nvSpPr>
          <p:cNvPr id="22" name="Text 20"/>
          <p:cNvSpPr txBox="1"/>
          <p:nvPr/>
        </p:nvSpPr>
        <p:spPr>
          <a:xfrm>
            <a:off x="6773990"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SUPERSEDED</a:t>
            </a:r>
            <a:endParaRPr lang="en-US" sz="900" dirty="0"/>
          </a:p>
        </p:txBody>
      </p:sp>
      <p:sp>
        <p:nvSpPr>
          <p:cNvPr id="23" name="Shape 21"/>
          <p:cNvSpPr/>
          <p:nvPr/>
        </p:nvSpPr>
        <p:spPr>
          <a:xfrm>
            <a:off x="7907846" y="1943100"/>
            <a:ext cx="111214" cy="0"/>
          </a:xfrm>
          <a:prstGeom prst="line">
            <a:avLst/>
          </a:prstGeom>
          <a:noFill/>
          <a:ln w="19050">
            <a:solidFill>
              <a:srgbClr val="5C6B80"/>
            </a:solidFill>
            <a:prstDash val="solid"/>
            <a:tailEnd type="triangle"/>
          </a:ln>
        </p:spPr>
      </p:sp>
      <p:sp>
        <p:nvSpPr>
          <p:cNvPr id="24" name="Shape 22"/>
          <p:cNvSpPr/>
          <p:nvPr/>
        </p:nvSpPr>
        <p:spPr>
          <a:xfrm>
            <a:off x="8019059" y="1691640"/>
            <a:ext cx="1133856" cy="502920"/>
          </a:xfrm>
          <a:prstGeom prst="roundRect">
            <a:avLst>
              <a:gd name="adj" fmla="val 50909"/>
            </a:avLst>
          </a:prstGeom>
          <a:solidFill>
            <a:srgbClr val="5C6B80"/>
          </a:solidFill>
          <a:ln w="12700">
            <a:solidFill>
              <a:srgbClr val="5C6B80"/>
            </a:solidFill>
            <a:prstDash val="solid"/>
          </a:ln>
        </p:spPr>
      </p:sp>
      <p:sp>
        <p:nvSpPr>
          <p:cNvPr id="25" name="Text 23"/>
          <p:cNvSpPr txBox="1"/>
          <p:nvPr/>
        </p:nvSpPr>
        <p:spPr>
          <a:xfrm>
            <a:off x="8019059"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EXPIRED</a:t>
            </a:r>
            <a:endParaRPr lang="en-US" sz="900" dirty="0"/>
          </a:p>
        </p:txBody>
      </p:sp>
      <p:sp>
        <p:nvSpPr>
          <p:cNvPr id="26" name="Shape 24"/>
          <p:cNvSpPr/>
          <p:nvPr/>
        </p:nvSpPr>
        <p:spPr>
          <a:xfrm>
            <a:off x="9152915" y="1943100"/>
            <a:ext cx="111214" cy="0"/>
          </a:xfrm>
          <a:prstGeom prst="line">
            <a:avLst/>
          </a:prstGeom>
          <a:noFill/>
          <a:ln w="19050">
            <a:solidFill>
              <a:srgbClr val="5C6B80"/>
            </a:solidFill>
            <a:prstDash val="solid"/>
            <a:tailEnd type="triangle"/>
          </a:ln>
        </p:spPr>
      </p:sp>
      <p:sp>
        <p:nvSpPr>
          <p:cNvPr id="27" name="Shape 25"/>
          <p:cNvSpPr/>
          <p:nvPr/>
        </p:nvSpPr>
        <p:spPr>
          <a:xfrm>
            <a:off x="9264129" y="1691640"/>
            <a:ext cx="1133856" cy="502920"/>
          </a:xfrm>
          <a:prstGeom prst="roundRect">
            <a:avLst>
              <a:gd name="adj" fmla="val 50909"/>
            </a:avLst>
          </a:prstGeom>
          <a:solidFill>
            <a:srgbClr val="C8452B"/>
          </a:solidFill>
          <a:ln w="12700">
            <a:solidFill>
              <a:srgbClr val="C8452B"/>
            </a:solidFill>
            <a:prstDash val="solid"/>
          </a:ln>
        </p:spPr>
      </p:sp>
      <p:sp>
        <p:nvSpPr>
          <p:cNvPr id="28" name="Text 26"/>
          <p:cNvSpPr txBox="1"/>
          <p:nvPr/>
        </p:nvSpPr>
        <p:spPr>
          <a:xfrm>
            <a:off x="9264129"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HELD</a:t>
            </a:r>
            <a:endParaRPr lang="en-US" sz="900" dirty="0"/>
          </a:p>
        </p:txBody>
      </p:sp>
      <p:sp>
        <p:nvSpPr>
          <p:cNvPr id="29" name="Shape 27"/>
          <p:cNvSpPr/>
          <p:nvPr/>
        </p:nvSpPr>
        <p:spPr>
          <a:xfrm>
            <a:off x="10397985" y="1943100"/>
            <a:ext cx="111214" cy="0"/>
          </a:xfrm>
          <a:prstGeom prst="line">
            <a:avLst/>
          </a:prstGeom>
          <a:noFill/>
          <a:ln w="19050">
            <a:solidFill>
              <a:srgbClr val="5C6B80"/>
            </a:solidFill>
            <a:prstDash val="solid"/>
            <a:tailEnd type="triangle"/>
          </a:ln>
        </p:spPr>
      </p:sp>
      <p:sp>
        <p:nvSpPr>
          <p:cNvPr id="30" name="Shape 28"/>
          <p:cNvSpPr/>
          <p:nvPr/>
        </p:nvSpPr>
        <p:spPr>
          <a:xfrm>
            <a:off x="10509199" y="1691640"/>
            <a:ext cx="1133856" cy="502920"/>
          </a:xfrm>
          <a:prstGeom prst="roundRect">
            <a:avLst>
              <a:gd name="adj" fmla="val 50909"/>
            </a:avLst>
          </a:prstGeom>
          <a:solidFill>
            <a:srgbClr val="0B1F3A"/>
          </a:solidFill>
          <a:ln w="12700">
            <a:solidFill>
              <a:srgbClr val="0B1F3A"/>
            </a:solidFill>
            <a:prstDash val="solid"/>
          </a:ln>
        </p:spPr>
      </p:sp>
      <p:sp>
        <p:nvSpPr>
          <p:cNvPr id="31" name="Text 29"/>
          <p:cNvSpPr txBox="1"/>
          <p:nvPr/>
        </p:nvSpPr>
        <p:spPr>
          <a:xfrm>
            <a:off x="10509199" y="1691640"/>
            <a:ext cx="1133856"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DELETED</a:t>
            </a:r>
            <a:endParaRPr lang="en-US" sz="900" dirty="0"/>
          </a:p>
        </p:txBody>
      </p:sp>
      <p:sp>
        <p:nvSpPr>
          <p:cNvPr id="32" name="Shape 30"/>
          <p:cNvSpPr/>
          <p:nvPr/>
        </p:nvSpPr>
        <p:spPr>
          <a:xfrm>
            <a:off x="548640" y="2606040"/>
            <a:ext cx="3566160" cy="2057400"/>
          </a:xfrm>
          <a:prstGeom prst="roundRect">
            <a:avLst>
              <a:gd name="adj" fmla="val 3556"/>
            </a:avLst>
          </a:prstGeom>
          <a:solidFill>
            <a:srgbClr val="F7F9FC"/>
          </a:solidFill>
          <a:ln w="9525">
            <a:solidFill>
              <a:srgbClr val="D5DDE9"/>
            </a:solidFill>
            <a:prstDash val="solid"/>
          </a:ln>
        </p:spPr>
      </p:sp>
      <p:sp>
        <p:nvSpPr>
          <p:cNvPr id="33" name="Shape 31"/>
          <p:cNvSpPr/>
          <p:nvPr/>
        </p:nvSpPr>
        <p:spPr>
          <a:xfrm>
            <a:off x="713232" y="2788920"/>
            <a:ext cx="566928" cy="274320"/>
          </a:xfrm>
          <a:prstGeom prst="roundRect">
            <a:avLst>
              <a:gd name="adj" fmla="val 20000"/>
            </a:avLst>
          </a:prstGeom>
          <a:solidFill>
            <a:srgbClr val="F8E3DE"/>
          </a:solidFill>
          <a:ln w="12700">
            <a:solidFill>
              <a:srgbClr val="F8E3DE"/>
            </a:solidFill>
            <a:prstDash val="solid"/>
          </a:ln>
        </p:spPr>
      </p:sp>
      <p:sp>
        <p:nvSpPr>
          <p:cNvPr id="34" name="Text 32"/>
          <p:cNvSpPr txBox="1"/>
          <p:nvPr/>
        </p:nvSpPr>
        <p:spPr>
          <a:xfrm>
            <a:off x="713232" y="2788920"/>
            <a:ext cx="566928" cy="274320"/>
          </a:xfrm>
          <a:prstGeom prst="rect">
            <a:avLst/>
          </a:prstGeom>
          <a:noFill/>
          <a:ln/>
        </p:spPr>
        <p:txBody>
          <a:bodyPr wrap="square" lIns="0" tIns="0" rIns="0" bIns="0" rtlCol="0" anchor="ctr"/>
          <a:lstStyle/>
          <a:p>
            <a:pPr algn="ctr" indent="0" marL="0">
              <a:buNone/>
            </a:pPr>
            <a:r>
              <a:rPr lang="en-US" sz="1000" b="1" dirty="0">
                <a:solidFill>
                  <a:srgbClr val="C8452B"/>
                </a:solidFill>
                <a:latin typeface="Calibri" pitchFamily="34" charset="0"/>
                <a:ea typeface="Calibri" pitchFamily="34" charset="-122"/>
                <a:cs typeface="Calibri" pitchFamily="34" charset="-120"/>
              </a:rPr>
              <a:t>C2</a:t>
            </a:r>
            <a:endParaRPr lang="en-US" sz="1000" dirty="0"/>
          </a:p>
        </p:txBody>
      </p:sp>
      <p:sp>
        <p:nvSpPr>
          <p:cNvPr id="35" name="Text 33"/>
          <p:cNvSpPr txBox="1"/>
          <p:nvPr/>
        </p:nvSpPr>
        <p:spPr>
          <a:xfrm>
            <a:off x="1389888" y="2770632"/>
            <a:ext cx="256032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End-to-end erasure</a:t>
            </a:r>
            <a:endParaRPr lang="en-US" sz="1300" dirty="0"/>
          </a:p>
        </p:txBody>
      </p:sp>
      <p:sp>
        <p:nvSpPr>
          <p:cNvPr id="36" name="Text 34"/>
          <p:cNvSpPr txBox="1"/>
          <p:nvPr/>
        </p:nvSpPr>
        <p:spPr>
          <a:xfrm>
            <a:off x="731520" y="3172968"/>
            <a:ext cx="3200400" cy="135331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Delete across raw episodes, summaries, graph nodes/edges, vector indexes, caches, replicas and restoration paths — and issue a deletion receipt. Graphiti’s delete_episode cascades to solely-derived facts; verify physically at the DB layer.</a:t>
            </a:r>
            <a:endParaRPr lang="en-US" sz="1100" dirty="0"/>
          </a:p>
        </p:txBody>
      </p:sp>
      <p:sp>
        <p:nvSpPr>
          <p:cNvPr id="37" name="Shape 35"/>
          <p:cNvSpPr/>
          <p:nvPr/>
        </p:nvSpPr>
        <p:spPr>
          <a:xfrm>
            <a:off x="4315968" y="2606040"/>
            <a:ext cx="3566160" cy="2057400"/>
          </a:xfrm>
          <a:prstGeom prst="roundRect">
            <a:avLst>
              <a:gd name="adj" fmla="val 3556"/>
            </a:avLst>
          </a:prstGeom>
          <a:solidFill>
            <a:srgbClr val="F7F9FC"/>
          </a:solidFill>
          <a:ln w="9525">
            <a:solidFill>
              <a:srgbClr val="D5DDE9"/>
            </a:solidFill>
            <a:prstDash val="solid"/>
          </a:ln>
        </p:spPr>
      </p:sp>
      <p:sp>
        <p:nvSpPr>
          <p:cNvPr id="38" name="Shape 36"/>
          <p:cNvSpPr/>
          <p:nvPr/>
        </p:nvSpPr>
        <p:spPr>
          <a:xfrm>
            <a:off x="4480560" y="2788920"/>
            <a:ext cx="566928" cy="274320"/>
          </a:xfrm>
          <a:prstGeom prst="roundRect">
            <a:avLst>
              <a:gd name="adj" fmla="val 20000"/>
            </a:avLst>
          </a:prstGeom>
          <a:solidFill>
            <a:srgbClr val="FBF1DE"/>
          </a:solidFill>
          <a:ln w="12700">
            <a:solidFill>
              <a:srgbClr val="FBF1DE"/>
            </a:solidFill>
            <a:prstDash val="solid"/>
          </a:ln>
        </p:spPr>
      </p:sp>
      <p:sp>
        <p:nvSpPr>
          <p:cNvPr id="39" name="Text 37"/>
          <p:cNvSpPr txBox="1"/>
          <p:nvPr/>
        </p:nvSpPr>
        <p:spPr>
          <a:xfrm>
            <a:off x="4480560" y="2788920"/>
            <a:ext cx="566928" cy="274320"/>
          </a:xfrm>
          <a:prstGeom prst="rect">
            <a:avLst/>
          </a:prstGeom>
          <a:noFill/>
          <a:ln/>
        </p:spPr>
        <p:txBody>
          <a:bodyPr wrap="square" lIns="0" tIns="0" rIns="0" bIns="0" rtlCol="0" anchor="ctr"/>
          <a:lstStyle/>
          <a:p>
            <a:pPr algn="ctr" indent="0" marL="0">
              <a:buNone/>
            </a:pPr>
            <a:r>
              <a:rPr lang="en-US" sz="1000" b="1" dirty="0">
                <a:solidFill>
                  <a:srgbClr val="D98E04"/>
                </a:solidFill>
                <a:latin typeface="Calibri" pitchFamily="34" charset="0"/>
                <a:ea typeface="Calibri" pitchFamily="34" charset="-122"/>
                <a:cs typeface="Calibri" pitchFamily="34" charset="-120"/>
              </a:rPr>
              <a:t>C7</a:t>
            </a:r>
            <a:endParaRPr lang="en-US" sz="1000" dirty="0"/>
          </a:p>
        </p:txBody>
      </p:sp>
      <p:sp>
        <p:nvSpPr>
          <p:cNvPr id="40" name="Text 38"/>
          <p:cNvSpPr txBox="1"/>
          <p:nvPr/>
        </p:nvSpPr>
        <p:spPr>
          <a:xfrm>
            <a:off x="5157216" y="2770632"/>
            <a:ext cx="256032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Retention + legal hold</a:t>
            </a:r>
            <a:endParaRPr lang="en-US" sz="1300" dirty="0"/>
          </a:p>
        </p:txBody>
      </p:sp>
      <p:sp>
        <p:nvSpPr>
          <p:cNvPr id="41" name="Text 39"/>
          <p:cNvSpPr txBox="1"/>
          <p:nvPr/>
        </p:nvSpPr>
        <p:spPr>
          <a:xfrm>
            <a:off x="4498848" y="3172968"/>
            <a:ext cx="3200400" cy="135331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Retention is driven by record type, purpose, jurisdiction, legal hold and regulatory obligation — not geography alone. Advisers Act records may need retaining while GDPR requires erasure of the same subject’s inferred memory.</a:t>
            </a:r>
            <a:endParaRPr lang="en-US" sz="1100" dirty="0"/>
          </a:p>
        </p:txBody>
      </p:sp>
      <p:sp>
        <p:nvSpPr>
          <p:cNvPr id="42" name="Shape 40"/>
          <p:cNvSpPr/>
          <p:nvPr/>
        </p:nvSpPr>
        <p:spPr>
          <a:xfrm>
            <a:off x="8083296" y="2606040"/>
            <a:ext cx="3566160" cy="2057400"/>
          </a:xfrm>
          <a:prstGeom prst="roundRect">
            <a:avLst>
              <a:gd name="adj" fmla="val 3556"/>
            </a:avLst>
          </a:prstGeom>
          <a:solidFill>
            <a:srgbClr val="F7F9FC"/>
          </a:solidFill>
          <a:ln w="9525">
            <a:solidFill>
              <a:srgbClr val="D5DDE9"/>
            </a:solidFill>
            <a:prstDash val="solid"/>
          </a:ln>
        </p:spPr>
      </p:sp>
      <p:sp>
        <p:nvSpPr>
          <p:cNvPr id="43" name="Shape 41"/>
          <p:cNvSpPr/>
          <p:nvPr/>
        </p:nvSpPr>
        <p:spPr>
          <a:xfrm>
            <a:off x="8247888" y="2788920"/>
            <a:ext cx="566928" cy="274320"/>
          </a:xfrm>
          <a:prstGeom prst="roundRect">
            <a:avLst>
              <a:gd name="adj" fmla="val 20000"/>
            </a:avLst>
          </a:prstGeom>
          <a:solidFill>
            <a:srgbClr val="E3E9F3"/>
          </a:solidFill>
          <a:ln w="12700">
            <a:solidFill>
              <a:srgbClr val="E3E9F3"/>
            </a:solidFill>
            <a:prstDash val="solid"/>
          </a:ln>
        </p:spPr>
      </p:sp>
      <p:sp>
        <p:nvSpPr>
          <p:cNvPr id="44" name="Text 42"/>
          <p:cNvSpPr txBox="1"/>
          <p:nvPr/>
        </p:nvSpPr>
        <p:spPr>
          <a:xfrm>
            <a:off x="8247888" y="2788920"/>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C14</a:t>
            </a:r>
            <a:endParaRPr lang="en-US" sz="1000" dirty="0"/>
          </a:p>
        </p:txBody>
      </p:sp>
      <p:sp>
        <p:nvSpPr>
          <p:cNvPr id="45" name="Text 43"/>
          <p:cNvSpPr txBox="1"/>
          <p:nvPr/>
        </p:nvSpPr>
        <p:spPr>
          <a:xfrm>
            <a:off x="8924544" y="2770632"/>
            <a:ext cx="2560320" cy="310896"/>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Subject-right orchestration</a:t>
            </a:r>
            <a:endParaRPr lang="en-US" sz="1300" dirty="0"/>
          </a:p>
        </p:txBody>
      </p:sp>
      <p:sp>
        <p:nvSpPr>
          <p:cNvPr id="46" name="Text 44"/>
          <p:cNvSpPr txBox="1"/>
          <p:nvPr/>
        </p:nvSpPr>
        <p:spPr>
          <a:xfrm>
            <a:off x="8266176" y="3172968"/>
            <a:ext cx="3200400" cy="135331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Discover, export, rectify, restrict, erase and verify memories across all representations through one service that owns the dependency traversal.</a:t>
            </a:r>
            <a:endParaRPr lang="en-US" sz="1100" dirty="0"/>
          </a:p>
        </p:txBody>
      </p:sp>
      <p:sp>
        <p:nvSpPr>
          <p:cNvPr id="47" name="Shape 45"/>
          <p:cNvSpPr/>
          <p:nvPr/>
        </p:nvSpPr>
        <p:spPr>
          <a:xfrm>
            <a:off x="548640" y="4846320"/>
            <a:ext cx="11094415" cy="1417320"/>
          </a:xfrm>
          <a:prstGeom prst="roundRect">
            <a:avLst>
              <a:gd name="adj" fmla="val 5161"/>
            </a:avLst>
          </a:prstGeom>
          <a:solidFill>
            <a:srgbClr val="E3E9F3"/>
          </a:solidFill>
          <a:ln w="12700">
            <a:solidFill>
              <a:srgbClr val="E3E9F3"/>
            </a:solidFill>
            <a:prstDash val="solid"/>
          </a:ln>
        </p:spPr>
      </p:sp>
      <p:sp>
        <p:nvSpPr>
          <p:cNvPr id="48" name="Text 46"/>
          <p:cNvSpPr txBox="1"/>
          <p:nvPr/>
        </p:nvSpPr>
        <p:spPr>
          <a:xfrm>
            <a:off x="777240" y="4919472"/>
            <a:ext cx="4572000" cy="27432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Key distinctions and transition rules</a:t>
            </a:r>
            <a:endParaRPr lang="en-US" sz="1100" dirty="0"/>
          </a:p>
        </p:txBody>
      </p:sp>
      <p:sp>
        <p:nvSpPr>
          <p:cNvPr id="49" name="Text 47"/>
          <p:cNvSpPr txBox="1"/>
          <p:nvPr/>
        </p:nvSpPr>
        <p:spPr>
          <a:xfrm>
            <a:off x="777240" y="5742432"/>
            <a:ext cx="10637215" cy="4572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Derived memory inherits the most restrictive parent state automatically  •  hold release, reactivation and skill promotion need dual control  •  unresolved DISPUTED defaults to RESTRICTED  •  DELETED is terminal: a re-learned fact is a new record</a:t>
            </a:r>
            <a:endParaRPr lang="en-US" sz="1050" dirty="0"/>
          </a:p>
        </p:txBody>
      </p:sp>
      <p:sp>
        <p:nvSpPr>
          <p:cNvPr id="50" name="Text 48"/>
          <p:cNvSpPr txBox="1"/>
          <p:nvPr/>
        </p:nvSpPr>
        <p:spPr>
          <a:xfrm>
            <a:off x="777240" y="5212080"/>
            <a:ext cx="10637215" cy="502920"/>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no longer true</a:t>
            </a:r>
            <a:pPr indent="0" marL="0">
              <a:buNone/>
            </a:pPr>
            <a:r>
              <a:rPr lang="en-US" sz="1250" dirty="0">
                <a:solidFill>
                  <a:srgbClr val="0B1F3A"/>
                </a:solidFill>
                <a:latin typeface="Calibri" pitchFamily="34" charset="0"/>
                <a:ea typeface="Calibri" pitchFamily="34" charset="-122"/>
                <a:cs typeface="Calibri" pitchFamily="34" charset="-120"/>
              </a:rPr>
              <a:t>  ≠  legally erasable        </a:t>
            </a:r>
            <a:pPr indent="0" marL="0">
              <a:buNone/>
            </a:pPr>
            <a:r>
              <a:rPr lang="en-US" sz="1250" b="1" dirty="0">
                <a:solidFill>
                  <a:srgbClr val="0B1F3A"/>
                </a:solidFill>
                <a:latin typeface="Calibri" pitchFamily="34" charset="0"/>
                <a:ea typeface="Calibri" pitchFamily="34" charset="-122"/>
                <a:cs typeface="Calibri" pitchFamily="34" charset="-120"/>
              </a:rPr>
              <a:t>restricted</a:t>
            </a:r>
            <a:pPr indent="0" marL="0">
              <a:buNone/>
            </a:pPr>
            <a:r>
              <a:rPr lang="en-US" sz="1250" dirty="0">
                <a:solidFill>
                  <a:srgbClr val="0B1F3A"/>
                </a:solidFill>
                <a:latin typeface="Calibri" pitchFamily="34" charset="0"/>
                <a:ea typeface="Calibri" pitchFamily="34" charset="-122"/>
                <a:cs typeface="Calibri" pitchFamily="34" charset="-120"/>
              </a:rPr>
              <a:t>  ≠  deleted        </a:t>
            </a:r>
            <a:pPr indent="0" marL="0">
              <a:buNone/>
            </a:pPr>
            <a:r>
              <a:rPr lang="en-US" sz="1250" b="1" dirty="0">
                <a:solidFill>
                  <a:srgbClr val="0B1F3A"/>
                </a:solidFill>
                <a:latin typeface="Calibri" pitchFamily="34" charset="0"/>
                <a:ea typeface="Calibri" pitchFamily="34" charset="-122"/>
                <a:cs typeface="Calibri" pitchFamily="34" charset="-120"/>
              </a:rPr>
              <a:t>retained for legal hold</a:t>
            </a:r>
            <a:pPr indent="0" marL="0">
              <a:buNone/>
            </a:pPr>
            <a:r>
              <a:rPr lang="en-US" sz="1250" dirty="0">
                <a:solidFill>
                  <a:srgbClr val="0B1F3A"/>
                </a:solidFill>
                <a:latin typeface="Calibri" pitchFamily="34" charset="0"/>
                <a:ea typeface="Calibri" pitchFamily="34" charset="-122"/>
                <a:cs typeface="Calibri" pitchFamily="34" charset="-120"/>
              </a:rPr>
              <a:t>  ≠  usable by agents</a:t>
            </a:r>
            <a:endParaRPr lang="en-US" sz="1250" dirty="0"/>
          </a:p>
        </p:txBody>
      </p:sp>
      <p:sp>
        <p:nvSpPr>
          <p:cNvPr id="51" name="Text 49"/>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Ghost Vectors (arXiv:2606.18497): soft-deleted vectors remain reconstructible from raw HNSW index files — deletion semantics must be tested at each storage layer.</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Operational and third-party controls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26</a:t>
            </a:r>
            <a:endParaRPr lang="en-US" sz="900" dirty="0"/>
          </a:p>
        </p:txBody>
      </p:sp>
      <p:sp>
        <p:nvSpPr>
          <p:cNvPr id="5" name="Shape 3"/>
          <p:cNvSpPr/>
          <p:nvPr/>
        </p:nvSpPr>
        <p:spPr>
          <a:xfrm>
            <a:off x="548640" y="1371600"/>
            <a:ext cx="3566160" cy="1463040"/>
          </a:xfrm>
          <a:prstGeom prst="roundRect">
            <a:avLst>
              <a:gd name="adj" fmla="val 5000"/>
            </a:avLst>
          </a:prstGeom>
          <a:solidFill>
            <a:srgbClr val="F7F9FC"/>
          </a:solidFill>
          <a:ln w="9525">
            <a:solidFill>
              <a:srgbClr val="D5DDE9"/>
            </a:solidFill>
            <a:prstDash val="solid"/>
          </a:ln>
        </p:spPr>
      </p:sp>
      <p:sp>
        <p:nvSpPr>
          <p:cNvPr id="6" name="Shape 4"/>
          <p:cNvSpPr/>
          <p:nvPr/>
        </p:nvSpPr>
        <p:spPr>
          <a:xfrm>
            <a:off x="713232" y="1554480"/>
            <a:ext cx="566928" cy="274320"/>
          </a:xfrm>
          <a:prstGeom prst="roundRect">
            <a:avLst>
              <a:gd name="adj" fmla="val 20000"/>
            </a:avLst>
          </a:prstGeom>
          <a:solidFill>
            <a:srgbClr val="E3E9F3"/>
          </a:solidFill>
          <a:ln w="12700">
            <a:solidFill>
              <a:srgbClr val="E3E9F3"/>
            </a:solidFill>
            <a:prstDash val="solid"/>
          </a:ln>
        </p:spPr>
      </p:sp>
      <p:sp>
        <p:nvSpPr>
          <p:cNvPr id="7" name="Text 5"/>
          <p:cNvSpPr txBox="1"/>
          <p:nvPr/>
        </p:nvSpPr>
        <p:spPr>
          <a:xfrm>
            <a:off x="713232" y="1554480"/>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C5</a:t>
            </a:r>
            <a:endParaRPr lang="en-US" sz="1000" dirty="0"/>
          </a:p>
        </p:txBody>
      </p:sp>
      <p:sp>
        <p:nvSpPr>
          <p:cNvPr id="8" name="Text 6"/>
          <p:cNvSpPr txBox="1"/>
          <p:nvPr/>
        </p:nvSpPr>
        <p:spPr>
          <a:xfrm>
            <a:off x="1389888" y="153619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Continuous OSS / vendor governance</a:t>
            </a:r>
            <a:endParaRPr lang="en-US" sz="1200" dirty="0"/>
          </a:p>
        </p:txBody>
      </p:sp>
      <p:sp>
        <p:nvSpPr>
          <p:cNvPr id="9" name="Text 7"/>
          <p:cNvSpPr txBox="1"/>
          <p:nvPr/>
        </p:nvSpPr>
        <p:spPr>
          <a:xfrm>
            <a:off x="731520" y="1938528"/>
            <a:ext cx="3200400" cy="75895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SBOM, license, pinned version, dependency lock, CVE monitoring scoped to pkg:pypi/graphiti-core, patch SLA, regression suite, upgrade approval, rollback.</a:t>
            </a:r>
            <a:endParaRPr lang="en-US" sz="1050" dirty="0"/>
          </a:p>
        </p:txBody>
      </p:sp>
      <p:sp>
        <p:nvSpPr>
          <p:cNvPr id="10" name="Shape 8"/>
          <p:cNvSpPr/>
          <p:nvPr/>
        </p:nvSpPr>
        <p:spPr>
          <a:xfrm>
            <a:off x="4315968" y="1371600"/>
            <a:ext cx="3566160" cy="1463040"/>
          </a:xfrm>
          <a:prstGeom prst="roundRect">
            <a:avLst>
              <a:gd name="adj" fmla="val 5000"/>
            </a:avLst>
          </a:prstGeom>
          <a:solidFill>
            <a:srgbClr val="F7F9FC"/>
          </a:solidFill>
          <a:ln w="9525">
            <a:solidFill>
              <a:srgbClr val="D5DDE9"/>
            </a:solidFill>
            <a:prstDash val="solid"/>
          </a:ln>
        </p:spPr>
      </p:sp>
      <p:sp>
        <p:nvSpPr>
          <p:cNvPr id="11" name="Shape 9"/>
          <p:cNvSpPr/>
          <p:nvPr/>
        </p:nvSpPr>
        <p:spPr>
          <a:xfrm>
            <a:off x="4480560" y="1554480"/>
            <a:ext cx="566928" cy="274320"/>
          </a:xfrm>
          <a:prstGeom prst="roundRect">
            <a:avLst>
              <a:gd name="adj" fmla="val 20000"/>
            </a:avLst>
          </a:prstGeom>
          <a:solidFill>
            <a:srgbClr val="DDF0ED"/>
          </a:solidFill>
          <a:ln w="12700">
            <a:solidFill>
              <a:srgbClr val="DDF0ED"/>
            </a:solidFill>
            <a:prstDash val="solid"/>
          </a:ln>
        </p:spPr>
      </p:sp>
      <p:sp>
        <p:nvSpPr>
          <p:cNvPr id="12" name="Text 10"/>
          <p:cNvSpPr txBox="1"/>
          <p:nvPr/>
        </p:nvSpPr>
        <p:spPr>
          <a:xfrm>
            <a:off x="4480560" y="1554480"/>
            <a:ext cx="566928" cy="274320"/>
          </a:xfrm>
          <a:prstGeom prst="rect">
            <a:avLst/>
          </a:prstGeom>
          <a:noFill/>
          <a:ln/>
        </p:spPr>
        <p:txBody>
          <a:bodyPr wrap="square" lIns="0" tIns="0" rIns="0" bIns="0" rtlCol="0" anchor="ctr"/>
          <a:lstStyle/>
          <a:p>
            <a:pPr algn="ctr" indent="0" marL="0">
              <a:buNone/>
            </a:pPr>
            <a:r>
              <a:rPr lang="en-US" sz="1000" b="1" dirty="0">
                <a:solidFill>
                  <a:srgbClr val="12867A"/>
                </a:solidFill>
                <a:latin typeface="Calibri" pitchFamily="34" charset="0"/>
                <a:ea typeface="Calibri" pitchFamily="34" charset="-122"/>
                <a:cs typeface="Calibri" pitchFamily="34" charset="-120"/>
              </a:rPr>
              <a:t>C3</a:t>
            </a:r>
            <a:endParaRPr lang="en-US" sz="1000" dirty="0"/>
          </a:p>
        </p:txBody>
      </p:sp>
      <p:sp>
        <p:nvSpPr>
          <p:cNvPr id="13" name="Text 11"/>
          <p:cNvSpPr txBox="1"/>
          <p:nvPr/>
        </p:nvSpPr>
        <p:spPr>
          <a:xfrm>
            <a:off x="5157216" y="153619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Tamper-evident audit trail</a:t>
            </a:r>
            <a:endParaRPr lang="en-US" sz="1200" dirty="0"/>
          </a:p>
        </p:txBody>
      </p:sp>
      <p:sp>
        <p:nvSpPr>
          <p:cNvPr id="14" name="Text 12"/>
          <p:cNvSpPr txBox="1"/>
          <p:nvPr/>
        </p:nvSpPr>
        <p:spPr>
          <a:xfrm>
            <a:off x="4498848" y="1938528"/>
            <a:ext cx="3200400" cy="75895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Reconstruct memory creation, update, use and deletion without duplicating sensitive content into a shadow store.</a:t>
            </a:r>
            <a:endParaRPr lang="en-US" sz="1050" dirty="0"/>
          </a:p>
        </p:txBody>
      </p:sp>
      <p:sp>
        <p:nvSpPr>
          <p:cNvPr id="15" name="Shape 13"/>
          <p:cNvSpPr/>
          <p:nvPr/>
        </p:nvSpPr>
        <p:spPr>
          <a:xfrm>
            <a:off x="8083296" y="1371600"/>
            <a:ext cx="3566160" cy="1463040"/>
          </a:xfrm>
          <a:prstGeom prst="roundRect">
            <a:avLst>
              <a:gd name="adj" fmla="val 5000"/>
            </a:avLst>
          </a:prstGeom>
          <a:solidFill>
            <a:srgbClr val="F7F9FC"/>
          </a:solidFill>
          <a:ln w="9525">
            <a:solidFill>
              <a:srgbClr val="D5DDE9"/>
            </a:solidFill>
            <a:prstDash val="solid"/>
          </a:ln>
        </p:spPr>
      </p:sp>
      <p:sp>
        <p:nvSpPr>
          <p:cNvPr id="16" name="Shape 14"/>
          <p:cNvSpPr/>
          <p:nvPr/>
        </p:nvSpPr>
        <p:spPr>
          <a:xfrm>
            <a:off x="8247888" y="1554480"/>
            <a:ext cx="566928" cy="274320"/>
          </a:xfrm>
          <a:prstGeom prst="roundRect">
            <a:avLst>
              <a:gd name="adj" fmla="val 20000"/>
            </a:avLst>
          </a:prstGeom>
          <a:solidFill>
            <a:srgbClr val="FBF1DE"/>
          </a:solidFill>
          <a:ln w="12700">
            <a:solidFill>
              <a:srgbClr val="FBF1DE"/>
            </a:solidFill>
            <a:prstDash val="solid"/>
          </a:ln>
        </p:spPr>
      </p:sp>
      <p:sp>
        <p:nvSpPr>
          <p:cNvPr id="17" name="Text 15"/>
          <p:cNvSpPr txBox="1"/>
          <p:nvPr/>
        </p:nvSpPr>
        <p:spPr>
          <a:xfrm>
            <a:off x="8247888" y="1554480"/>
            <a:ext cx="566928" cy="274320"/>
          </a:xfrm>
          <a:prstGeom prst="rect">
            <a:avLst/>
          </a:prstGeom>
          <a:noFill/>
          <a:ln/>
        </p:spPr>
        <p:txBody>
          <a:bodyPr wrap="square" lIns="0" tIns="0" rIns="0" bIns="0" rtlCol="0" anchor="ctr"/>
          <a:lstStyle/>
          <a:p>
            <a:pPr algn="ctr" indent="0" marL="0">
              <a:buNone/>
            </a:pPr>
            <a:r>
              <a:rPr lang="en-US" sz="1000" b="1" dirty="0">
                <a:solidFill>
                  <a:srgbClr val="D98E04"/>
                </a:solidFill>
                <a:latin typeface="Calibri" pitchFamily="34" charset="0"/>
                <a:ea typeface="Calibri" pitchFamily="34" charset="-122"/>
                <a:cs typeface="Calibri" pitchFamily="34" charset="-120"/>
              </a:rPr>
              <a:t>C18</a:t>
            </a:r>
            <a:endParaRPr lang="en-US" sz="1000" dirty="0"/>
          </a:p>
        </p:txBody>
      </p:sp>
      <p:sp>
        <p:nvSpPr>
          <p:cNvPr id="18" name="Text 16"/>
          <p:cNvSpPr txBox="1"/>
          <p:nvPr/>
        </p:nvSpPr>
        <p:spPr>
          <a:xfrm>
            <a:off x="8924544" y="153619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Degraded-mode governance</a:t>
            </a:r>
            <a:endParaRPr lang="en-US" sz="1200" dirty="0"/>
          </a:p>
        </p:txBody>
      </p:sp>
      <p:sp>
        <p:nvSpPr>
          <p:cNvPr id="19" name="Text 17"/>
          <p:cNvSpPr txBox="1"/>
          <p:nvPr/>
        </p:nvSpPr>
        <p:spPr>
          <a:xfrm>
            <a:off x="8266176" y="1938528"/>
            <a:ext cx="3200400" cy="75895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Define safe behavior when memory is unavailable, stale, partially restored or inconsistent.</a:t>
            </a:r>
            <a:endParaRPr lang="en-US" sz="1050" dirty="0"/>
          </a:p>
        </p:txBody>
      </p:sp>
      <p:sp>
        <p:nvSpPr>
          <p:cNvPr id="20" name="Shape 18"/>
          <p:cNvSpPr/>
          <p:nvPr/>
        </p:nvSpPr>
        <p:spPr>
          <a:xfrm>
            <a:off x="548640" y="2999232"/>
            <a:ext cx="3566160" cy="1463040"/>
          </a:xfrm>
          <a:prstGeom prst="roundRect">
            <a:avLst>
              <a:gd name="adj" fmla="val 5000"/>
            </a:avLst>
          </a:prstGeom>
          <a:solidFill>
            <a:srgbClr val="F7F9FC"/>
          </a:solidFill>
          <a:ln w="9525">
            <a:solidFill>
              <a:srgbClr val="D5DDE9"/>
            </a:solidFill>
            <a:prstDash val="solid"/>
          </a:ln>
        </p:spPr>
      </p:sp>
      <p:sp>
        <p:nvSpPr>
          <p:cNvPr id="21" name="Shape 19"/>
          <p:cNvSpPr/>
          <p:nvPr/>
        </p:nvSpPr>
        <p:spPr>
          <a:xfrm>
            <a:off x="713232" y="3182112"/>
            <a:ext cx="566928" cy="274320"/>
          </a:xfrm>
          <a:prstGeom prst="roundRect">
            <a:avLst>
              <a:gd name="adj" fmla="val 20000"/>
            </a:avLst>
          </a:prstGeom>
          <a:solidFill>
            <a:srgbClr val="F8E3DE"/>
          </a:solidFill>
          <a:ln w="12700">
            <a:solidFill>
              <a:srgbClr val="F8E3DE"/>
            </a:solidFill>
            <a:prstDash val="solid"/>
          </a:ln>
        </p:spPr>
      </p:sp>
      <p:sp>
        <p:nvSpPr>
          <p:cNvPr id="22" name="Text 20"/>
          <p:cNvSpPr txBox="1"/>
          <p:nvPr/>
        </p:nvSpPr>
        <p:spPr>
          <a:xfrm>
            <a:off x="713232" y="3182112"/>
            <a:ext cx="566928" cy="274320"/>
          </a:xfrm>
          <a:prstGeom prst="rect">
            <a:avLst/>
          </a:prstGeom>
          <a:noFill/>
          <a:ln/>
        </p:spPr>
        <p:txBody>
          <a:bodyPr wrap="square" lIns="0" tIns="0" rIns="0" bIns="0" rtlCol="0" anchor="ctr"/>
          <a:lstStyle/>
          <a:p>
            <a:pPr algn="ctr" indent="0" marL="0">
              <a:buNone/>
            </a:pPr>
            <a:r>
              <a:rPr lang="en-US" sz="1000" b="1" dirty="0">
                <a:solidFill>
                  <a:srgbClr val="C8452B"/>
                </a:solidFill>
                <a:latin typeface="Calibri" pitchFamily="34" charset="0"/>
                <a:ea typeface="Calibri" pitchFamily="34" charset="-122"/>
                <a:cs typeface="Calibri" pitchFamily="34" charset="-120"/>
              </a:rPr>
              <a:t>C26</a:t>
            </a:r>
            <a:endParaRPr lang="en-US" sz="1000" dirty="0"/>
          </a:p>
        </p:txBody>
      </p:sp>
      <p:sp>
        <p:nvSpPr>
          <p:cNvPr id="23" name="Text 21"/>
          <p:cNvSpPr txBox="1"/>
          <p:nvPr/>
        </p:nvSpPr>
        <p:spPr>
          <a:xfrm>
            <a:off x="1389888" y="3163824"/>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Model / prompt / schema version lineage</a:t>
            </a:r>
            <a:endParaRPr lang="en-US" sz="1200" dirty="0"/>
          </a:p>
        </p:txBody>
      </p:sp>
      <p:sp>
        <p:nvSpPr>
          <p:cNvPr id="24" name="Text 22"/>
          <p:cNvSpPr txBox="1"/>
          <p:nvPr/>
        </p:nvSpPr>
        <p:spPr>
          <a:xfrm>
            <a:off x="731520" y="3566160"/>
            <a:ext cx="3200400" cy="75895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Record extractor, embedder, prompt, policy, schema and backend versions for every derived memory.</a:t>
            </a:r>
            <a:endParaRPr lang="en-US" sz="1050" dirty="0"/>
          </a:p>
        </p:txBody>
      </p:sp>
      <p:sp>
        <p:nvSpPr>
          <p:cNvPr id="25" name="Shape 23"/>
          <p:cNvSpPr/>
          <p:nvPr/>
        </p:nvSpPr>
        <p:spPr>
          <a:xfrm>
            <a:off x="4315968" y="2999232"/>
            <a:ext cx="3566160" cy="1463040"/>
          </a:xfrm>
          <a:prstGeom prst="roundRect">
            <a:avLst>
              <a:gd name="adj" fmla="val 5000"/>
            </a:avLst>
          </a:prstGeom>
          <a:solidFill>
            <a:srgbClr val="F7F9FC"/>
          </a:solidFill>
          <a:ln w="9525">
            <a:solidFill>
              <a:srgbClr val="D5DDE9"/>
            </a:solidFill>
            <a:prstDash val="solid"/>
          </a:ln>
        </p:spPr>
      </p:sp>
      <p:sp>
        <p:nvSpPr>
          <p:cNvPr id="26" name="Shape 24"/>
          <p:cNvSpPr/>
          <p:nvPr/>
        </p:nvSpPr>
        <p:spPr>
          <a:xfrm>
            <a:off x="4480560" y="3182112"/>
            <a:ext cx="566928" cy="274320"/>
          </a:xfrm>
          <a:prstGeom prst="roundRect">
            <a:avLst>
              <a:gd name="adj" fmla="val 20000"/>
            </a:avLst>
          </a:prstGeom>
          <a:solidFill>
            <a:srgbClr val="E3E9F3"/>
          </a:solidFill>
          <a:ln w="12700">
            <a:solidFill>
              <a:srgbClr val="E3E9F3"/>
            </a:solidFill>
            <a:prstDash val="solid"/>
          </a:ln>
        </p:spPr>
      </p:sp>
      <p:sp>
        <p:nvSpPr>
          <p:cNvPr id="27" name="Text 25"/>
          <p:cNvSpPr txBox="1"/>
          <p:nvPr/>
        </p:nvSpPr>
        <p:spPr>
          <a:xfrm>
            <a:off x="4480560" y="3182112"/>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C27</a:t>
            </a:r>
            <a:endParaRPr lang="en-US" sz="1000" dirty="0"/>
          </a:p>
        </p:txBody>
      </p:sp>
      <p:sp>
        <p:nvSpPr>
          <p:cNvPr id="28" name="Text 26"/>
          <p:cNvSpPr txBox="1"/>
          <p:nvPr/>
        </p:nvSpPr>
        <p:spPr>
          <a:xfrm>
            <a:off x="5157216" y="3163824"/>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Exit / migration portability</a:t>
            </a:r>
            <a:endParaRPr lang="en-US" sz="1200" dirty="0"/>
          </a:p>
        </p:txBody>
      </p:sp>
      <p:sp>
        <p:nvSpPr>
          <p:cNvPr id="29" name="Text 27"/>
          <p:cNvSpPr txBox="1"/>
          <p:nvPr/>
        </p:nvSpPr>
        <p:spPr>
          <a:xfrm>
            <a:off x="4498848" y="3566160"/>
            <a:ext cx="3200400" cy="75895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Export memory with provenance and policies; test migration without breaking retention, deletion or ACL semantics. Track the W3C memory-interop group and memorywire.</a:t>
            </a:r>
            <a:endParaRPr lang="en-US" sz="1050" dirty="0"/>
          </a:p>
        </p:txBody>
      </p:sp>
      <p:sp>
        <p:nvSpPr>
          <p:cNvPr id="30" name="Shape 28"/>
          <p:cNvSpPr/>
          <p:nvPr/>
        </p:nvSpPr>
        <p:spPr>
          <a:xfrm>
            <a:off x="8083296" y="2999232"/>
            <a:ext cx="3566160" cy="1463040"/>
          </a:xfrm>
          <a:prstGeom prst="roundRect">
            <a:avLst>
              <a:gd name="adj" fmla="val 5000"/>
            </a:avLst>
          </a:prstGeom>
          <a:solidFill>
            <a:srgbClr val="0B1F3A"/>
          </a:solidFill>
          <a:ln w="12700">
            <a:solidFill>
              <a:srgbClr val="0B1F3A"/>
            </a:solidFill>
            <a:prstDash val="solid"/>
          </a:ln>
        </p:spPr>
      </p:sp>
      <p:sp>
        <p:nvSpPr>
          <p:cNvPr id="31" name="Text 29"/>
          <p:cNvSpPr txBox="1"/>
          <p:nvPr/>
        </p:nvSpPr>
        <p:spPr>
          <a:xfrm>
            <a:off x="8266176" y="3108960"/>
            <a:ext cx="3200400" cy="274320"/>
          </a:xfrm>
          <a:prstGeom prst="rect">
            <a:avLst/>
          </a:prstGeom>
          <a:noFill/>
          <a:ln/>
        </p:spPr>
        <p:txBody>
          <a:bodyPr wrap="square" lIns="0" tIns="0" rIns="0" bIns="0" rtlCol="0" anchor="t"/>
          <a:lstStyle/>
          <a:p>
            <a:pPr indent="0" marL="0">
              <a:buNone/>
            </a:pPr>
            <a:r>
              <a:rPr lang="en-US" sz="1100" b="1" dirty="0">
                <a:solidFill>
                  <a:srgbClr val="D98E04"/>
                </a:solidFill>
                <a:latin typeface="Calibri" pitchFamily="34" charset="0"/>
                <a:ea typeface="Calibri" pitchFamily="34" charset="-122"/>
                <a:cs typeface="Calibri" pitchFamily="34" charset="-120"/>
              </a:rPr>
              <a:t>Memory-specific threat classes</a:t>
            </a:r>
            <a:endParaRPr lang="en-US" sz="1100" dirty="0"/>
          </a:p>
        </p:txBody>
      </p:sp>
      <p:sp>
        <p:nvSpPr>
          <p:cNvPr id="32" name="Text 30"/>
          <p:cNvSpPr txBox="1"/>
          <p:nvPr/>
        </p:nvSpPr>
        <p:spPr>
          <a:xfrm>
            <a:off x="8266176" y="3410712"/>
            <a:ext cx="3200400" cy="100584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write-path poisoning · prompt-to-query injection · cross-tenant leakage · unauthorized inference · persistence attack · memory amplification · staleness · provider egress · concentration · bias contagion</a:t>
            </a:r>
            <a:endParaRPr lang="en-US" sz="1050" dirty="0"/>
          </a:p>
        </p:txBody>
      </p:sp>
      <p:sp>
        <p:nvSpPr>
          <p:cNvPr id="33" name="Shape 31"/>
          <p:cNvSpPr/>
          <p:nvPr/>
        </p:nvSpPr>
        <p:spPr>
          <a:xfrm>
            <a:off x="548640" y="4800600"/>
            <a:ext cx="11094415" cy="457200"/>
          </a:xfrm>
          <a:prstGeom prst="roundRect">
            <a:avLst>
              <a:gd name="adj" fmla="val 20000"/>
            </a:avLst>
          </a:prstGeom>
          <a:solidFill>
            <a:srgbClr val="12867A"/>
          </a:solidFill>
          <a:ln w="12700">
            <a:solidFill>
              <a:srgbClr val="12867A"/>
            </a:solidFill>
            <a:prstDash val="solid"/>
          </a:ln>
        </p:spPr>
      </p:sp>
      <p:sp>
        <p:nvSpPr>
          <p:cNvPr id="34" name="Text 32"/>
          <p:cNvSpPr txBox="1"/>
          <p:nvPr/>
        </p:nvSpPr>
        <p:spPr>
          <a:xfrm>
            <a:off x="822960" y="4800600"/>
            <a:ext cx="10545775" cy="45720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Operational controls align with DORA, Reg S-P, FSB AI risk monitoring, NIST GenAI value-chain risk, and internal technology-risk practice.</a:t>
            </a:r>
            <a:endParaRPr lang="en-US" sz="1150" dirty="0"/>
          </a:p>
        </p:txBody>
      </p:sp>
      <p:sp>
        <p:nvSpPr>
          <p:cNvPr id="35" name="Shape 33"/>
          <p:cNvSpPr/>
          <p:nvPr/>
        </p:nvSpPr>
        <p:spPr>
          <a:xfrm>
            <a:off x="548640" y="5440680"/>
            <a:ext cx="11094415" cy="777240"/>
          </a:xfrm>
          <a:prstGeom prst="roundRect">
            <a:avLst>
              <a:gd name="adj" fmla="val 9412"/>
            </a:avLst>
          </a:prstGeom>
          <a:solidFill>
            <a:srgbClr val="F8E3DE"/>
          </a:solidFill>
          <a:ln w="12700">
            <a:solidFill>
              <a:srgbClr val="F8E3DE"/>
            </a:solidFill>
            <a:prstDash val="solid"/>
          </a:ln>
        </p:spPr>
      </p:sp>
      <p:sp>
        <p:nvSpPr>
          <p:cNvPr id="36" name="Text 34"/>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100" b="1" dirty="0">
                <a:solidFill>
                  <a:srgbClr val="C8452B"/>
                </a:solidFill>
                <a:latin typeface="Calibri" pitchFamily="34" charset="0"/>
                <a:ea typeface="Calibri" pitchFamily="34" charset="-122"/>
                <a:cs typeface="Calibri" pitchFamily="34" charset="-120"/>
              </a:rPr>
              <a:t>Live example (17 Sept 2026):  </a:t>
            </a:r>
            <a:pPr indent="0" marL="0">
              <a:buNone/>
            </a:pPr>
            <a:r>
              <a:rPr lang="en-US" sz="1100" dirty="0">
                <a:solidFill>
                  <a:srgbClr val="1F2937"/>
                </a:solidFill>
                <a:latin typeface="Calibri" pitchFamily="34" charset="0"/>
                <a:ea typeface="Calibri" pitchFamily="34" charset="-122"/>
                <a:cs typeface="Calibri" pitchFamily="34" charset="-120"/>
              </a:rPr>
              <a:t>Graphiti CVE-2026-90601 — unauthenticated REST-API authentication bypass, versions 0.30.0–0.30.2 (CVSS 4.0 base 6.9; some trackers 7.3; VulDB labels it critical), fix pending as an unmerged PR (#1739). Any exposed graph_service endpoint needs network-level compensating controls until a released patch is verified.</a:t>
            </a:r>
            <a:endParaRPr lang="en-US" sz="1100" dirty="0"/>
          </a:p>
        </p:txBody>
      </p:sp>
      <p:sp>
        <p:nvSpPr>
          <p:cNvPr id="37" name="Text 35"/>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Six controls added in design review: C28–C33</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27</a:t>
            </a:r>
            <a:endParaRPr lang="en-US" sz="900" dirty="0"/>
          </a:p>
        </p:txBody>
      </p:sp>
      <p:sp>
        <p:nvSpPr>
          <p:cNvPr id="5" name="Shape 3"/>
          <p:cNvSpPr/>
          <p:nvPr/>
        </p:nvSpPr>
        <p:spPr>
          <a:xfrm>
            <a:off x="548640" y="1371600"/>
            <a:ext cx="3566160" cy="1965960"/>
          </a:xfrm>
          <a:prstGeom prst="roundRect">
            <a:avLst>
              <a:gd name="adj" fmla="val 3721"/>
            </a:avLst>
          </a:prstGeom>
          <a:solidFill>
            <a:srgbClr val="F7F9FC"/>
          </a:solidFill>
          <a:ln w="9525">
            <a:solidFill>
              <a:srgbClr val="D5DDE9"/>
            </a:solidFill>
            <a:prstDash val="solid"/>
          </a:ln>
        </p:spPr>
      </p:sp>
      <p:sp>
        <p:nvSpPr>
          <p:cNvPr id="6" name="Shape 4"/>
          <p:cNvSpPr/>
          <p:nvPr/>
        </p:nvSpPr>
        <p:spPr>
          <a:xfrm>
            <a:off x="713232" y="1554480"/>
            <a:ext cx="566928" cy="274320"/>
          </a:xfrm>
          <a:prstGeom prst="roundRect">
            <a:avLst>
              <a:gd name="adj" fmla="val 20000"/>
            </a:avLst>
          </a:prstGeom>
          <a:solidFill>
            <a:srgbClr val="F8E3DE"/>
          </a:solidFill>
          <a:ln w="12700">
            <a:solidFill>
              <a:srgbClr val="F8E3DE"/>
            </a:solidFill>
            <a:prstDash val="solid"/>
          </a:ln>
        </p:spPr>
      </p:sp>
      <p:sp>
        <p:nvSpPr>
          <p:cNvPr id="7" name="Text 5"/>
          <p:cNvSpPr txBox="1"/>
          <p:nvPr/>
        </p:nvSpPr>
        <p:spPr>
          <a:xfrm>
            <a:off x="713232" y="1554480"/>
            <a:ext cx="566928" cy="274320"/>
          </a:xfrm>
          <a:prstGeom prst="rect">
            <a:avLst/>
          </a:prstGeom>
          <a:noFill/>
          <a:ln/>
        </p:spPr>
        <p:txBody>
          <a:bodyPr wrap="square" lIns="0" tIns="0" rIns="0" bIns="0" rtlCol="0" anchor="ctr"/>
          <a:lstStyle/>
          <a:p>
            <a:pPr algn="ctr" indent="0" marL="0">
              <a:buNone/>
            </a:pPr>
            <a:r>
              <a:rPr lang="en-US" sz="1000" b="1" dirty="0">
                <a:solidFill>
                  <a:srgbClr val="C8452B"/>
                </a:solidFill>
                <a:latin typeface="Calibri" pitchFamily="34" charset="0"/>
                <a:ea typeface="Calibri" pitchFamily="34" charset="-122"/>
                <a:cs typeface="Calibri" pitchFamily="34" charset="-120"/>
              </a:rPr>
              <a:t>C28</a:t>
            </a:r>
            <a:endParaRPr lang="en-US" sz="1000" dirty="0"/>
          </a:p>
        </p:txBody>
      </p:sp>
      <p:sp>
        <p:nvSpPr>
          <p:cNvPr id="8" name="Text 6"/>
          <p:cNvSpPr txBox="1"/>
          <p:nvPr/>
        </p:nvSpPr>
        <p:spPr>
          <a:xfrm>
            <a:off x="1389888" y="153619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Consolidation-job governance</a:t>
            </a:r>
            <a:endParaRPr lang="en-US" sz="1200" dirty="0"/>
          </a:p>
        </p:txBody>
      </p:sp>
      <p:sp>
        <p:nvSpPr>
          <p:cNvPr id="9" name="Text 7"/>
          <p:cNvSpPr txBox="1"/>
          <p:nvPr/>
        </p:nvSpPr>
        <p:spPr>
          <a:xfrm>
            <a:off x="731520" y="1938528"/>
            <a:ext cx="3200400" cy="126187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Background writers are identified gateway actors with scoped permissions and budgets; diff-and-approve for high-authority or barrier-scoped memory. P0.</a:t>
            </a:r>
            <a:endParaRPr lang="en-US" sz="1050" dirty="0"/>
          </a:p>
        </p:txBody>
      </p:sp>
      <p:sp>
        <p:nvSpPr>
          <p:cNvPr id="10" name="Shape 8"/>
          <p:cNvSpPr/>
          <p:nvPr/>
        </p:nvSpPr>
        <p:spPr>
          <a:xfrm>
            <a:off x="4315968" y="1371600"/>
            <a:ext cx="3566160" cy="1965960"/>
          </a:xfrm>
          <a:prstGeom prst="roundRect">
            <a:avLst>
              <a:gd name="adj" fmla="val 3721"/>
            </a:avLst>
          </a:prstGeom>
          <a:solidFill>
            <a:srgbClr val="F7F9FC"/>
          </a:solidFill>
          <a:ln w="9525">
            <a:solidFill>
              <a:srgbClr val="D5DDE9"/>
            </a:solidFill>
            <a:prstDash val="solid"/>
          </a:ln>
        </p:spPr>
      </p:sp>
      <p:sp>
        <p:nvSpPr>
          <p:cNvPr id="11" name="Shape 9"/>
          <p:cNvSpPr/>
          <p:nvPr/>
        </p:nvSpPr>
        <p:spPr>
          <a:xfrm>
            <a:off x="4480560" y="1554480"/>
            <a:ext cx="566928" cy="274320"/>
          </a:xfrm>
          <a:prstGeom prst="roundRect">
            <a:avLst>
              <a:gd name="adj" fmla="val 20000"/>
            </a:avLst>
          </a:prstGeom>
          <a:solidFill>
            <a:srgbClr val="FBF1DE"/>
          </a:solidFill>
          <a:ln w="12700">
            <a:solidFill>
              <a:srgbClr val="FBF1DE"/>
            </a:solidFill>
            <a:prstDash val="solid"/>
          </a:ln>
        </p:spPr>
      </p:sp>
      <p:sp>
        <p:nvSpPr>
          <p:cNvPr id="12" name="Text 10"/>
          <p:cNvSpPr txBox="1"/>
          <p:nvPr/>
        </p:nvSpPr>
        <p:spPr>
          <a:xfrm>
            <a:off x="4480560" y="1554480"/>
            <a:ext cx="566928" cy="274320"/>
          </a:xfrm>
          <a:prstGeom prst="rect">
            <a:avLst/>
          </a:prstGeom>
          <a:noFill/>
          <a:ln/>
        </p:spPr>
        <p:txBody>
          <a:bodyPr wrap="square" lIns="0" tIns="0" rIns="0" bIns="0" rtlCol="0" anchor="ctr"/>
          <a:lstStyle/>
          <a:p>
            <a:pPr algn="ctr" indent="0" marL="0">
              <a:buNone/>
            </a:pPr>
            <a:r>
              <a:rPr lang="en-US" sz="1000" b="1" dirty="0">
                <a:solidFill>
                  <a:srgbClr val="D98E04"/>
                </a:solidFill>
                <a:latin typeface="Calibri" pitchFamily="34" charset="0"/>
                <a:ea typeface="Calibri" pitchFamily="34" charset="-122"/>
                <a:cs typeface="Calibri" pitchFamily="34" charset="-120"/>
              </a:rPr>
              <a:t>C29</a:t>
            </a:r>
            <a:endParaRPr lang="en-US" sz="1000" dirty="0"/>
          </a:p>
        </p:txBody>
      </p:sp>
      <p:sp>
        <p:nvSpPr>
          <p:cNvPr id="13" name="Text 11"/>
          <p:cNvSpPr txBox="1"/>
          <p:nvPr/>
        </p:nvSpPr>
        <p:spPr>
          <a:xfrm>
            <a:off x="5157216" y="153619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Memory → skill promotion gate</a:t>
            </a:r>
            <a:endParaRPr lang="en-US" sz="1200" dirty="0"/>
          </a:p>
        </p:txBody>
      </p:sp>
      <p:sp>
        <p:nvSpPr>
          <p:cNvPr id="14" name="Text 12"/>
          <p:cNvSpPr txBox="1"/>
          <p:nvPr/>
        </p:nvSpPr>
        <p:spPr>
          <a:xfrm>
            <a:off x="4498848" y="1938528"/>
            <a:ext cx="3200400" cy="126187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Procedural memory is executable: support threshold, regression suite, provenance, reversibility, dual control where a skill can act on client or market systems. P1.</a:t>
            </a:r>
            <a:endParaRPr lang="en-US" sz="1050" dirty="0"/>
          </a:p>
        </p:txBody>
      </p:sp>
      <p:sp>
        <p:nvSpPr>
          <p:cNvPr id="15" name="Shape 13"/>
          <p:cNvSpPr/>
          <p:nvPr/>
        </p:nvSpPr>
        <p:spPr>
          <a:xfrm>
            <a:off x="8083296" y="1371600"/>
            <a:ext cx="3566160" cy="1965960"/>
          </a:xfrm>
          <a:prstGeom prst="roundRect">
            <a:avLst>
              <a:gd name="adj" fmla="val 3721"/>
            </a:avLst>
          </a:prstGeom>
          <a:solidFill>
            <a:srgbClr val="F7F9FC"/>
          </a:solidFill>
          <a:ln w="9525">
            <a:solidFill>
              <a:srgbClr val="D5DDE9"/>
            </a:solidFill>
            <a:prstDash val="solid"/>
          </a:ln>
        </p:spPr>
      </p:sp>
      <p:sp>
        <p:nvSpPr>
          <p:cNvPr id="16" name="Shape 14"/>
          <p:cNvSpPr/>
          <p:nvPr/>
        </p:nvSpPr>
        <p:spPr>
          <a:xfrm>
            <a:off x="8247888" y="1554480"/>
            <a:ext cx="566928" cy="274320"/>
          </a:xfrm>
          <a:prstGeom prst="roundRect">
            <a:avLst>
              <a:gd name="adj" fmla="val 20000"/>
            </a:avLst>
          </a:prstGeom>
          <a:solidFill>
            <a:srgbClr val="F8E3DE"/>
          </a:solidFill>
          <a:ln w="12700">
            <a:solidFill>
              <a:srgbClr val="F8E3DE"/>
            </a:solidFill>
            <a:prstDash val="solid"/>
          </a:ln>
        </p:spPr>
      </p:sp>
      <p:sp>
        <p:nvSpPr>
          <p:cNvPr id="17" name="Text 15"/>
          <p:cNvSpPr txBox="1"/>
          <p:nvPr/>
        </p:nvSpPr>
        <p:spPr>
          <a:xfrm>
            <a:off x="8247888" y="1554480"/>
            <a:ext cx="566928" cy="274320"/>
          </a:xfrm>
          <a:prstGeom prst="rect">
            <a:avLst/>
          </a:prstGeom>
          <a:noFill/>
          <a:ln/>
        </p:spPr>
        <p:txBody>
          <a:bodyPr wrap="square" lIns="0" tIns="0" rIns="0" bIns="0" rtlCol="0" anchor="ctr"/>
          <a:lstStyle/>
          <a:p>
            <a:pPr algn="ctr" indent="0" marL="0">
              <a:buNone/>
            </a:pPr>
            <a:r>
              <a:rPr lang="en-US" sz="1000" b="1" dirty="0">
                <a:solidFill>
                  <a:srgbClr val="C8452B"/>
                </a:solidFill>
                <a:latin typeface="Calibri" pitchFamily="34" charset="0"/>
                <a:ea typeface="Calibri" pitchFamily="34" charset="-122"/>
                <a:cs typeface="Calibri" pitchFamily="34" charset="-120"/>
              </a:rPr>
              <a:t>C30</a:t>
            </a:r>
            <a:endParaRPr lang="en-US" sz="1000" dirty="0"/>
          </a:p>
        </p:txBody>
      </p:sp>
      <p:sp>
        <p:nvSpPr>
          <p:cNvPr id="18" name="Text 16"/>
          <p:cNvSpPr txBox="1"/>
          <p:nvPr/>
        </p:nvSpPr>
        <p:spPr>
          <a:xfrm>
            <a:off x="8924544" y="153619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Composition leakage control</a:t>
            </a:r>
            <a:endParaRPr lang="en-US" sz="1200" dirty="0"/>
          </a:p>
        </p:txBody>
      </p:sp>
      <p:sp>
        <p:nvSpPr>
          <p:cNvPr id="19" name="Text 17"/>
          <p:cNvSpPr txBox="1"/>
          <p:nvPr/>
        </p:nvSpPr>
        <p:spPr>
          <a:xfrm>
            <a:off x="8266176" y="1938528"/>
            <a:ext cx="3200400" cy="126187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Individually authorized memories can jointly reveal a barrier-crossing inference; the assembled context is checked as a set, not item by item. P0 where barriers apply.</a:t>
            </a:r>
            <a:endParaRPr lang="en-US" sz="1050" dirty="0"/>
          </a:p>
        </p:txBody>
      </p:sp>
      <p:sp>
        <p:nvSpPr>
          <p:cNvPr id="20" name="Shape 18"/>
          <p:cNvSpPr/>
          <p:nvPr/>
        </p:nvSpPr>
        <p:spPr>
          <a:xfrm>
            <a:off x="548640" y="3520440"/>
            <a:ext cx="3566160" cy="1965960"/>
          </a:xfrm>
          <a:prstGeom prst="roundRect">
            <a:avLst>
              <a:gd name="adj" fmla="val 3721"/>
            </a:avLst>
          </a:prstGeom>
          <a:solidFill>
            <a:srgbClr val="F7F9FC"/>
          </a:solidFill>
          <a:ln w="9525">
            <a:solidFill>
              <a:srgbClr val="D5DDE9"/>
            </a:solidFill>
            <a:prstDash val="solid"/>
          </a:ln>
        </p:spPr>
      </p:sp>
      <p:sp>
        <p:nvSpPr>
          <p:cNvPr id="21" name="Shape 19"/>
          <p:cNvSpPr/>
          <p:nvPr/>
        </p:nvSpPr>
        <p:spPr>
          <a:xfrm>
            <a:off x="713232" y="3703320"/>
            <a:ext cx="566928" cy="274320"/>
          </a:xfrm>
          <a:prstGeom prst="roundRect">
            <a:avLst>
              <a:gd name="adj" fmla="val 20000"/>
            </a:avLst>
          </a:prstGeom>
          <a:solidFill>
            <a:srgbClr val="DDF0ED"/>
          </a:solidFill>
          <a:ln w="12700">
            <a:solidFill>
              <a:srgbClr val="DDF0ED"/>
            </a:solidFill>
            <a:prstDash val="solid"/>
          </a:ln>
        </p:spPr>
      </p:sp>
      <p:sp>
        <p:nvSpPr>
          <p:cNvPr id="22" name="Text 20"/>
          <p:cNvSpPr txBox="1"/>
          <p:nvPr/>
        </p:nvSpPr>
        <p:spPr>
          <a:xfrm>
            <a:off x="713232" y="3703320"/>
            <a:ext cx="566928" cy="274320"/>
          </a:xfrm>
          <a:prstGeom prst="rect">
            <a:avLst/>
          </a:prstGeom>
          <a:noFill/>
          <a:ln/>
        </p:spPr>
        <p:txBody>
          <a:bodyPr wrap="square" lIns="0" tIns="0" rIns="0" bIns="0" rtlCol="0" anchor="ctr"/>
          <a:lstStyle/>
          <a:p>
            <a:pPr algn="ctr" indent="0" marL="0">
              <a:buNone/>
            </a:pPr>
            <a:r>
              <a:rPr lang="en-US" sz="1000" b="1" dirty="0">
                <a:solidFill>
                  <a:srgbClr val="12867A"/>
                </a:solidFill>
                <a:latin typeface="Calibri" pitchFamily="34" charset="0"/>
                <a:ea typeface="Calibri" pitchFamily="34" charset="-122"/>
                <a:cs typeface="Calibri" pitchFamily="34" charset="-120"/>
              </a:rPr>
              <a:t>C31</a:t>
            </a:r>
            <a:endParaRPr lang="en-US" sz="1000" dirty="0"/>
          </a:p>
        </p:txBody>
      </p:sp>
      <p:sp>
        <p:nvSpPr>
          <p:cNvPr id="23" name="Text 21"/>
          <p:cNvSpPr txBox="1"/>
          <p:nvPr/>
        </p:nvSpPr>
        <p:spPr>
          <a:xfrm>
            <a:off x="1389888" y="368503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Subject-facing transparency &amp; rights</a:t>
            </a:r>
            <a:endParaRPr lang="en-US" sz="1200" dirty="0"/>
          </a:p>
        </p:txBody>
      </p:sp>
      <p:sp>
        <p:nvSpPr>
          <p:cNvPr id="24" name="Text 22"/>
          <p:cNvSpPr txBox="1"/>
          <p:nvPr/>
        </p:nvSpPr>
        <p:spPr>
          <a:xfrm>
            <a:off x="731520" y="4087368"/>
            <a:ext cx="3200400" cy="126187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Notice, access-to-logic, opt-out / appeal and human review for profiling and ADMT “significant decisions”, evidenced per record via notice_ref. P1; P0 under ADMT rules.</a:t>
            </a:r>
            <a:endParaRPr lang="en-US" sz="1050" dirty="0"/>
          </a:p>
        </p:txBody>
      </p:sp>
      <p:sp>
        <p:nvSpPr>
          <p:cNvPr id="25" name="Shape 23"/>
          <p:cNvSpPr/>
          <p:nvPr/>
        </p:nvSpPr>
        <p:spPr>
          <a:xfrm>
            <a:off x="4315968" y="3520440"/>
            <a:ext cx="3566160" cy="1965960"/>
          </a:xfrm>
          <a:prstGeom prst="roundRect">
            <a:avLst>
              <a:gd name="adj" fmla="val 3721"/>
            </a:avLst>
          </a:prstGeom>
          <a:solidFill>
            <a:srgbClr val="F7F9FC"/>
          </a:solidFill>
          <a:ln w="9525">
            <a:solidFill>
              <a:srgbClr val="D5DDE9"/>
            </a:solidFill>
            <a:prstDash val="solid"/>
          </a:ln>
        </p:spPr>
      </p:sp>
      <p:sp>
        <p:nvSpPr>
          <p:cNvPr id="26" name="Shape 24"/>
          <p:cNvSpPr/>
          <p:nvPr/>
        </p:nvSpPr>
        <p:spPr>
          <a:xfrm>
            <a:off x="4480560" y="3703320"/>
            <a:ext cx="566928" cy="274320"/>
          </a:xfrm>
          <a:prstGeom prst="roundRect">
            <a:avLst>
              <a:gd name="adj" fmla="val 20000"/>
            </a:avLst>
          </a:prstGeom>
          <a:solidFill>
            <a:srgbClr val="E3E9F3"/>
          </a:solidFill>
          <a:ln w="12700">
            <a:solidFill>
              <a:srgbClr val="E3E9F3"/>
            </a:solidFill>
            <a:prstDash val="solid"/>
          </a:ln>
        </p:spPr>
      </p:sp>
      <p:sp>
        <p:nvSpPr>
          <p:cNvPr id="27" name="Text 25"/>
          <p:cNvSpPr txBox="1"/>
          <p:nvPr/>
        </p:nvSpPr>
        <p:spPr>
          <a:xfrm>
            <a:off x="4480560" y="3703320"/>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C32</a:t>
            </a:r>
            <a:endParaRPr lang="en-US" sz="1000" dirty="0"/>
          </a:p>
        </p:txBody>
      </p:sp>
      <p:sp>
        <p:nvSpPr>
          <p:cNvPr id="28" name="Text 26"/>
          <p:cNvSpPr txBox="1"/>
          <p:nvPr/>
        </p:nvSpPr>
        <p:spPr>
          <a:xfrm>
            <a:off x="5157216" y="368503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Agent and non-human identity</a:t>
            </a:r>
            <a:endParaRPr lang="en-US" sz="1200" dirty="0"/>
          </a:p>
        </p:txBody>
      </p:sp>
      <p:sp>
        <p:nvSpPr>
          <p:cNvPr id="29" name="Text 27"/>
          <p:cNvSpPr txBox="1"/>
          <p:nvPr/>
        </p:nvSpPr>
        <p:spPr>
          <a:xfrm>
            <a:off x="4498848" y="4087368"/>
            <a:ext cx="3200400" cy="126187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Every actor — user, agent, sub-agent, job, admin — is attestable and delegation chains are recorded, so “who wrote this” survives multi-agent execution. P0.</a:t>
            </a:r>
            <a:endParaRPr lang="en-US" sz="1050" dirty="0"/>
          </a:p>
        </p:txBody>
      </p:sp>
      <p:sp>
        <p:nvSpPr>
          <p:cNvPr id="30" name="Shape 28"/>
          <p:cNvSpPr/>
          <p:nvPr/>
        </p:nvSpPr>
        <p:spPr>
          <a:xfrm>
            <a:off x="8083296" y="3520440"/>
            <a:ext cx="3566160" cy="1965960"/>
          </a:xfrm>
          <a:prstGeom prst="roundRect">
            <a:avLst>
              <a:gd name="adj" fmla="val 3721"/>
            </a:avLst>
          </a:prstGeom>
          <a:solidFill>
            <a:srgbClr val="F7F9FC"/>
          </a:solidFill>
          <a:ln w="9525">
            <a:solidFill>
              <a:srgbClr val="D5DDE9"/>
            </a:solidFill>
            <a:prstDash val="solid"/>
          </a:ln>
        </p:spPr>
      </p:sp>
      <p:sp>
        <p:nvSpPr>
          <p:cNvPr id="31" name="Shape 29"/>
          <p:cNvSpPr/>
          <p:nvPr/>
        </p:nvSpPr>
        <p:spPr>
          <a:xfrm>
            <a:off x="8247888" y="3703320"/>
            <a:ext cx="566928" cy="274320"/>
          </a:xfrm>
          <a:prstGeom prst="roundRect">
            <a:avLst>
              <a:gd name="adj" fmla="val 20000"/>
            </a:avLst>
          </a:prstGeom>
          <a:solidFill>
            <a:srgbClr val="E3E9F3"/>
          </a:solidFill>
          <a:ln w="12700">
            <a:solidFill>
              <a:srgbClr val="E3E9F3"/>
            </a:solidFill>
            <a:prstDash val="solid"/>
          </a:ln>
        </p:spPr>
      </p:sp>
      <p:sp>
        <p:nvSpPr>
          <p:cNvPr id="32" name="Text 30"/>
          <p:cNvSpPr txBox="1"/>
          <p:nvPr/>
        </p:nvSpPr>
        <p:spPr>
          <a:xfrm>
            <a:off x="8247888" y="3703320"/>
            <a:ext cx="566928" cy="274320"/>
          </a:xfrm>
          <a:prstGeom prst="rect">
            <a:avLst/>
          </a:prstGeom>
          <a:noFill/>
          <a:ln/>
        </p:spPr>
        <p:txBody>
          <a:bodyPr wrap="square" lIns="0" tIns="0" rIns="0" bIns="0" rtlCol="0" anchor="ctr"/>
          <a:lstStyle/>
          <a:p>
            <a:pPr algn="ctr" indent="0" marL="0">
              <a:buNone/>
            </a:pPr>
            <a:r>
              <a:rPr lang="en-US" sz="1000" b="1" dirty="0">
                <a:solidFill>
                  <a:srgbClr val="0B1F3A"/>
                </a:solidFill>
                <a:latin typeface="Calibri" pitchFamily="34" charset="0"/>
                <a:ea typeface="Calibri" pitchFamily="34" charset="-122"/>
                <a:cs typeface="Calibri" pitchFamily="34" charset="-120"/>
              </a:rPr>
              <a:t>C33</a:t>
            </a:r>
            <a:endParaRPr lang="en-US" sz="1000" dirty="0"/>
          </a:p>
        </p:txBody>
      </p:sp>
      <p:sp>
        <p:nvSpPr>
          <p:cNvPr id="33" name="Text 31"/>
          <p:cNvSpPr txBox="1"/>
          <p:nvPr/>
        </p:nvSpPr>
        <p:spPr>
          <a:xfrm>
            <a:off x="8924544" y="3685032"/>
            <a:ext cx="2560320" cy="310896"/>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Backbone / model-change management</a:t>
            </a:r>
            <a:endParaRPr lang="en-US" sz="1200" dirty="0"/>
          </a:p>
        </p:txBody>
      </p:sp>
      <p:sp>
        <p:nvSpPr>
          <p:cNvPr id="34" name="Text 32"/>
          <p:cNvSpPr txBox="1"/>
          <p:nvPr/>
        </p:nvSpPr>
        <p:spPr>
          <a:xfrm>
            <a:off x="8266176" y="4087368"/>
            <a:ext cx="3200400" cy="1261872"/>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LLM, extractor or embedder changes invalidate conformance and can shift embedding neighborhoods so old restrictions no longer bind; change-controlled with re-run. P1.</a:t>
            </a:r>
            <a:endParaRPr lang="en-US" sz="1050" dirty="0"/>
          </a:p>
        </p:txBody>
      </p:sp>
      <p:sp>
        <p:nvSpPr>
          <p:cNvPr id="35" name="Shape 33"/>
          <p:cNvSpPr/>
          <p:nvPr/>
        </p:nvSpPr>
        <p:spPr>
          <a:xfrm>
            <a:off x="548640" y="5715000"/>
            <a:ext cx="11094415" cy="457200"/>
          </a:xfrm>
          <a:prstGeom prst="roundRect">
            <a:avLst>
              <a:gd name="adj" fmla="val 20000"/>
            </a:avLst>
          </a:prstGeom>
          <a:solidFill>
            <a:srgbClr val="12867A"/>
          </a:solidFill>
          <a:ln w="12700">
            <a:solidFill>
              <a:srgbClr val="12867A"/>
            </a:solidFill>
            <a:prstDash val="solid"/>
          </a:ln>
        </p:spPr>
      </p:sp>
      <p:sp>
        <p:nvSpPr>
          <p:cNvPr id="36" name="Text 34"/>
          <p:cNvSpPr txBox="1"/>
          <p:nvPr/>
        </p:nvSpPr>
        <p:spPr>
          <a:xfrm>
            <a:off x="822960" y="5715000"/>
            <a:ext cx="10545775" cy="45720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Every control also gets an accountable owner and an escalation path: the catalogue says what must be true; a RACI column says who acts when the audit trail shows it is not.</a:t>
            </a:r>
            <a:endParaRPr lang="en-US" sz="1150" dirty="0"/>
          </a:p>
        </p:txBody>
      </p:sp>
      <p:sp>
        <p:nvSpPr>
          <p:cNvPr id="37" name="Text 35"/>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Memo Sections 12.1–12.2.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Threat model as a matrix: interface × actor</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28</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874520"/>
                <a:gridCol w="1847088"/>
                <a:gridCol w="1847088"/>
                <a:gridCol w="1847088"/>
                <a:gridCol w="1847088"/>
                <a:gridCol w="182880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Interface</a:t>
                      </a:r>
                      <a:endParaRPr lang="en-US" sz="10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External content</a:t>
                      </a:r>
                      <a:endParaRPr lang="en-US" sz="10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Agent / sub-agent</a:t>
                      </a:r>
                      <a:endParaRPr lang="en-US" sz="10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Background job</a:t>
                      </a:r>
                      <a:endParaRPr lang="en-US" sz="10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Admin / insider</a:t>
                      </a:r>
                      <a:endParaRPr lang="en-US" sz="10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Backend / provider</a:t>
                      </a:r>
                      <a:endParaRPr lang="en-US" sz="10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0B1F3A"/>
                    </a:solidFill>
                  </a:tcPr>
                </a:tc>
              </a:tr>
              <a:tr h="109728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Ingestion (WRITE)</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extractor-prompt injection; write-path poisoning; poisoning by volume</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over-broad capture; unauthorized inference; MNPI capture</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bulk import without provenance</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direct backend writes bypassing gateway</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provider egress of raw content; telemetry leakage</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109728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Consolidation (UPDATE / MERGE / PROMOTE)</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safety-memory dilution via near-duplicates</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confused deputy: low-privilege agent induces high-privilege merge</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authority collapse; unreviewed promotion to skill</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hold release / reactivation without dual control</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re-embedding drift after model change (C33)</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r h="1097280">
                <a:tc>
                  <a:txBody>
                    <a:bodyPr/>
                    <a:lstStyle/>
                    <a:p>
                      <a:pPr indent="0" marL="0">
                        <a:buNone/>
                      </a:pPr>
                      <a:r>
                        <a:rPr lang="en-US" sz="950" b="1" dirty="0">
                          <a:solidFill>
                            <a:srgbClr val="0B1F3A"/>
                          </a:solidFill>
                          <a:latin typeface="Calibri" pitchFamily="34" charset="0"/>
                          <a:ea typeface="Calibri" pitchFamily="34" charset="-122"/>
                          <a:cs typeface="Calibri" pitchFamily="34" charset="-120"/>
                        </a:rPr>
                        <a:t>Retrieval / use (READ / EXPORT)</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prompt-to-query / graph injection (CVE-2026-32247 class)</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cross-tenant traversal; composition leakage in context</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stale or superseded memory used; expired instruction acted on</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audit-log tampering; log as shadow copy</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membership inference / embedding inversion (Ghost Vectors class); index residue</a:t>
                      </a:r>
                      <a:endParaRPr lang="en-US" sz="950" dirty="0">
                        <a:latin typeface="Calibri" charset="0"/>
                        <a:ea typeface="Calibri" charset="0"/>
                        <a:cs typeface="Calibri" charset="0"/>
                      </a:endParaRPr>
                    </a:p>
                  </a:txBody>
                  <a:tcPr marL="63500" marR="63500" marT="50800" marB="50800" anchor="ctr">
                    <a:lnL w="6350" cap="flat" cmpd="sng" algn="ctr">
                      <a:solidFill>
                        <a:srgbClr val="D5DDE9"/>
                      </a:solidFill>
                      <a:prstDash val="solid"/>
                      <a:round/>
                      <a:headEnd type="none" w="med" len="med"/>
                      <a:tailEnd type="none" w="med" len="med"/>
                    </a:lnL>
                    <a:lnR w="6350" cap="flat" cmpd="sng" algn="ctr">
                      <a:solidFill>
                        <a:srgbClr val="D5DDE9"/>
                      </a:solidFill>
                      <a:prstDash val="solid"/>
                      <a:round/>
                      <a:headEnd type="none" w="med" len="med"/>
                      <a:tailEnd type="none" w="med" len="med"/>
                    </a:lnR>
                    <a:lnT w="6350" cap="flat" cmpd="sng" algn="ctr">
                      <a:solidFill>
                        <a:srgbClr val="D5DDE9"/>
                      </a:solidFill>
                      <a:prstDash val="solid"/>
                      <a:round/>
                      <a:headEnd type="none" w="med" len="med"/>
                      <a:tailEnd type="none" w="med" len="med"/>
                    </a:lnT>
                    <a:lnB w="6350" cap="flat" cmpd="sng" algn="ctr">
                      <a:solidFill>
                        <a:srgbClr val="D5DDE9"/>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166360"/>
            <a:ext cx="11094415" cy="45720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Attacker capabilities assumed: </a:t>
            </a:r>
            <a:pPr indent="0" marL="0">
              <a:buNone/>
            </a:pPr>
            <a:r>
              <a:rPr lang="en-US" sz="1100" dirty="0">
                <a:solidFill>
                  <a:srgbClr val="1F2937"/>
                </a:solidFill>
                <a:latin typeface="Calibri" pitchFamily="34" charset="0"/>
                <a:ea typeface="Calibri" pitchFamily="34" charset="-122"/>
                <a:cs typeface="Calibri" pitchFamily="34" charset="-120"/>
              </a:rPr>
              <a:t>external adversary via content · malicious or negligent insider · compromised agent identity · compromised backend or provider. Every cell maps to at least one named test in the conformance suite.</a:t>
            </a:r>
            <a:endParaRPr lang="en-US" sz="1100" dirty="0"/>
          </a:p>
        </p:txBody>
      </p:sp>
      <p:sp>
        <p:nvSpPr>
          <p:cNvPr id="7" name="Shape 4"/>
          <p:cNvSpPr/>
          <p:nvPr/>
        </p:nvSpPr>
        <p:spPr>
          <a:xfrm>
            <a:off x="548640" y="5760720"/>
            <a:ext cx="11094415" cy="457200"/>
          </a:xfrm>
          <a:prstGeom prst="roundRect">
            <a:avLst>
              <a:gd name="adj" fmla="val 20000"/>
            </a:avLst>
          </a:prstGeom>
          <a:solidFill>
            <a:srgbClr val="0B1F3A"/>
          </a:solidFill>
          <a:ln w="12700">
            <a:solidFill>
              <a:srgbClr val="0B1F3A"/>
            </a:solidFill>
            <a:prstDash val="solid"/>
          </a:ln>
        </p:spPr>
      </p:sp>
      <p:sp>
        <p:nvSpPr>
          <p:cNvPr id="8" name="Text 5"/>
          <p:cNvSpPr txBox="1"/>
          <p:nvPr/>
        </p:nvSpPr>
        <p:spPr>
          <a:xfrm>
            <a:off x="822960" y="5760720"/>
            <a:ext cx="10545775"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list finds the threats you already thought of; a matrix finds the cells you left empty.</a:t>
            </a:r>
            <a:endParaRPr lang="en-US" sz="1200" dirty="0"/>
          </a:p>
        </p:txBody>
      </p:sp>
      <p:sp>
        <p:nvSpPr>
          <p:cNvPr id="9" name="Text 6"/>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Memo Section 13.1; NIST AI 100-2e2025; ENISA agent threat taxonomy; SSGM three-interface framing.</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flipH="1">
            <a:off x="7863840" y="1143000"/>
            <a:ext cx="1028700" cy="800100"/>
          </a:xfrm>
          <a:prstGeom prst="line">
            <a:avLst/>
          </a:prstGeom>
          <a:noFill/>
          <a:ln w="12700">
            <a:solidFill>
              <a:srgbClr val="12867A">
                <a:alpha val="70000"/>
              </a:srgbClr>
            </a:solidFill>
            <a:prstDash val="solid"/>
          </a:ln>
        </p:spPr>
      </p:sp>
      <p:sp>
        <p:nvSpPr>
          <p:cNvPr id="3" name="Shape 1"/>
          <p:cNvSpPr/>
          <p:nvPr/>
        </p:nvSpPr>
        <p:spPr>
          <a:xfrm>
            <a:off x="8892540" y="1143000"/>
            <a:ext cx="1143000" cy="628650"/>
          </a:xfrm>
          <a:prstGeom prst="line">
            <a:avLst/>
          </a:prstGeom>
          <a:noFill/>
          <a:ln w="12700">
            <a:solidFill>
              <a:srgbClr val="12867A">
                <a:alpha val="70000"/>
              </a:srgbClr>
            </a:solidFill>
            <a:prstDash val="solid"/>
          </a:ln>
        </p:spPr>
      </p:sp>
      <p:sp>
        <p:nvSpPr>
          <p:cNvPr id="4" name="Shape 2"/>
          <p:cNvSpPr/>
          <p:nvPr/>
        </p:nvSpPr>
        <p:spPr>
          <a:xfrm flipH="1">
            <a:off x="9406890" y="1771650"/>
            <a:ext cx="628650" cy="1085850"/>
          </a:xfrm>
          <a:prstGeom prst="line">
            <a:avLst/>
          </a:prstGeom>
          <a:noFill/>
          <a:ln w="12700">
            <a:solidFill>
              <a:srgbClr val="12867A">
                <a:alpha val="70000"/>
              </a:srgbClr>
            </a:solidFill>
            <a:prstDash val="solid"/>
          </a:ln>
        </p:spPr>
      </p:sp>
      <p:sp>
        <p:nvSpPr>
          <p:cNvPr id="5" name="Shape 3"/>
          <p:cNvSpPr/>
          <p:nvPr/>
        </p:nvSpPr>
        <p:spPr>
          <a:xfrm flipH="1">
            <a:off x="9406890" y="2628900"/>
            <a:ext cx="1543050" cy="228600"/>
          </a:xfrm>
          <a:prstGeom prst="line">
            <a:avLst/>
          </a:prstGeom>
          <a:noFill/>
          <a:ln w="12700">
            <a:solidFill>
              <a:srgbClr val="12867A">
                <a:alpha val="70000"/>
              </a:srgbClr>
            </a:solidFill>
            <a:prstDash val="solid"/>
          </a:ln>
        </p:spPr>
      </p:sp>
      <p:sp>
        <p:nvSpPr>
          <p:cNvPr id="6" name="Shape 4"/>
          <p:cNvSpPr/>
          <p:nvPr/>
        </p:nvSpPr>
        <p:spPr>
          <a:xfrm>
            <a:off x="7863840" y="1943100"/>
            <a:ext cx="685800" cy="1485900"/>
          </a:xfrm>
          <a:prstGeom prst="line">
            <a:avLst/>
          </a:prstGeom>
          <a:noFill/>
          <a:ln w="12700">
            <a:solidFill>
              <a:srgbClr val="12867A">
                <a:alpha val="70000"/>
              </a:srgbClr>
            </a:solidFill>
            <a:prstDash val="solid"/>
          </a:ln>
        </p:spPr>
      </p:sp>
      <p:sp>
        <p:nvSpPr>
          <p:cNvPr id="7" name="Shape 5"/>
          <p:cNvSpPr/>
          <p:nvPr/>
        </p:nvSpPr>
        <p:spPr>
          <a:xfrm flipH="1">
            <a:off x="8549640" y="2857500"/>
            <a:ext cx="857250" cy="571500"/>
          </a:xfrm>
          <a:prstGeom prst="line">
            <a:avLst/>
          </a:prstGeom>
          <a:noFill/>
          <a:ln w="12700">
            <a:solidFill>
              <a:srgbClr val="12867A">
                <a:alpha val="70000"/>
              </a:srgbClr>
            </a:solidFill>
            <a:prstDash val="solid"/>
          </a:ln>
        </p:spPr>
      </p:sp>
      <p:sp>
        <p:nvSpPr>
          <p:cNvPr id="8" name="Shape 6"/>
          <p:cNvSpPr/>
          <p:nvPr/>
        </p:nvSpPr>
        <p:spPr>
          <a:xfrm flipH="1">
            <a:off x="10492740" y="2628900"/>
            <a:ext cx="457200" cy="1257300"/>
          </a:xfrm>
          <a:prstGeom prst="line">
            <a:avLst/>
          </a:prstGeom>
          <a:noFill/>
          <a:ln w="12700">
            <a:solidFill>
              <a:srgbClr val="12867A">
                <a:alpha val="70000"/>
              </a:srgbClr>
            </a:solidFill>
            <a:prstDash val="solid"/>
          </a:ln>
        </p:spPr>
      </p:sp>
      <p:sp>
        <p:nvSpPr>
          <p:cNvPr id="9" name="Shape 7"/>
          <p:cNvSpPr/>
          <p:nvPr/>
        </p:nvSpPr>
        <p:spPr>
          <a:xfrm>
            <a:off x="8549640" y="3429000"/>
            <a:ext cx="1943100" cy="457200"/>
          </a:xfrm>
          <a:prstGeom prst="line">
            <a:avLst/>
          </a:prstGeom>
          <a:noFill/>
          <a:ln w="12700">
            <a:solidFill>
              <a:srgbClr val="12867A">
                <a:alpha val="70000"/>
              </a:srgbClr>
            </a:solidFill>
            <a:prstDash val="solid"/>
          </a:ln>
        </p:spPr>
      </p:sp>
      <p:sp>
        <p:nvSpPr>
          <p:cNvPr id="10" name="Shape 8"/>
          <p:cNvSpPr/>
          <p:nvPr/>
        </p:nvSpPr>
        <p:spPr>
          <a:xfrm flipH="1">
            <a:off x="10035540" y="1600200"/>
            <a:ext cx="1714500" cy="171450"/>
          </a:xfrm>
          <a:prstGeom prst="line">
            <a:avLst/>
          </a:prstGeom>
          <a:noFill/>
          <a:ln w="12700">
            <a:solidFill>
              <a:srgbClr val="12867A">
                <a:alpha val="70000"/>
              </a:srgbClr>
            </a:solidFill>
            <a:prstDash val="solid"/>
          </a:ln>
        </p:spPr>
      </p:sp>
      <p:sp>
        <p:nvSpPr>
          <p:cNvPr id="11" name="Shape 9"/>
          <p:cNvSpPr/>
          <p:nvPr/>
        </p:nvSpPr>
        <p:spPr>
          <a:xfrm>
            <a:off x="11750040" y="1600200"/>
            <a:ext cx="228600" cy="1828800"/>
          </a:xfrm>
          <a:prstGeom prst="line">
            <a:avLst/>
          </a:prstGeom>
          <a:noFill/>
          <a:ln w="12700">
            <a:solidFill>
              <a:srgbClr val="12867A">
                <a:alpha val="70000"/>
              </a:srgbClr>
            </a:solidFill>
            <a:prstDash val="solid"/>
          </a:ln>
        </p:spPr>
      </p:sp>
      <p:sp>
        <p:nvSpPr>
          <p:cNvPr id="12" name="Shape 10"/>
          <p:cNvSpPr/>
          <p:nvPr/>
        </p:nvSpPr>
        <p:spPr>
          <a:xfrm>
            <a:off x="10949940" y="2628900"/>
            <a:ext cx="1028700" cy="800100"/>
          </a:xfrm>
          <a:prstGeom prst="line">
            <a:avLst/>
          </a:prstGeom>
          <a:noFill/>
          <a:ln w="12700">
            <a:solidFill>
              <a:srgbClr val="12867A">
                <a:alpha val="70000"/>
              </a:srgbClr>
            </a:solidFill>
            <a:prstDash val="solid"/>
          </a:ln>
        </p:spPr>
      </p:sp>
      <p:sp>
        <p:nvSpPr>
          <p:cNvPr id="13" name="Shape 11"/>
          <p:cNvSpPr/>
          <p:nvPr/>
        </p:nvSpPr>
        <p:spPr>
          <a:xfrm>
            <a:off x="7738110" y="1817370"/>
            <a:ext cx="251460" cy="251460"/>
          </a:xfrm>
          <a:prstGeom prst="ellipse">
            <a:avLst/>
          </a:prstGeom>
          <a:solidFill>
            <a:srgbClr val="D98E04"/>
          </a:solidFill>
          <a:ln w="12700">
            <a:solidFill>
              <a:srgbClr val="12867A"/>
            </a:solidFill>
            <a:prstDash val="solid"/>
          </a:ln>
        </p:spPr>
      </p:sp>
      <p:sp>
        <p:nvSpPr>
          <p:cNvPr id="14" name="Shape 12"/>
          <p:cNvSpPr/>
          <p:nvPr/>
        </p:nvSpPr>
        <p:spPr>
          <a:xfrm>
            <a:off x="8818245" y="1068705"/>
            <a:ext cx="148590" cy="148590"/>
          </a:xfrm>
          <a:prstGeom prst="ellipse">
            <a:avLst/>
          </a:prstGeom>
          <a:solidFill>
            <a:srgbClr val="12867A">
              <a:alpha val="70000"/>
            </a:srgbClr>
          </a:solidFill>
          <a:ln w="12700">
            <a:solidFill>
              <a:srgbClr val="12867A"/>
            </a:solidFill>
            <a:prstDash val="solid"/>
          </a:ln>
        </p:spPr>
      </p:sp>
      <p:sp>
        <p:nvSpPr>
          <p:cNvPr id="15" name="Shape 13"/>
          <p:cNvSpPr/>
          <p:nvPr/>
        </p:nvSpPr>
        <p:spPr>
          <a:xfrm>
            <a:off x="9961245" y="1697355"/>
            <a:ext cx="148590" cy="148590"/>
          </a:xfrm>
          <a:prstGeom prst="ellipse">
            <a:avLst/>
          </a:prstGeom>
          <a:solidFill>
            <a:srgbClr val="12867A">
              <a:alpha val="70000"/>
            </a:srgbClr>
          </a:solidFill>
          <a:ln w="12700">
            <a:solidFill>
              <a:srgbClr val="12867A"/>
            </a:solidFill>
            <a:prstDash val="solid"/>
          </a:ln>
        </p:spPr>
      </p:sp>
      <p:sp>
        <p:nvSpPr>
          <p:cNvPr id="16" name="Shape 14"/>
          <p:cNvSpPr/>
          <p:nvPr/>
        </p:nvSpPr>
        <p:spPr>
          <a:xfrm>
            <a:off x="9281160" y="2731770"/>
            <a:ext cx="251460" cy="251460"/>
          </a:xfrm>
          <a:prstGeom prst="ellipse">
            <a:avLst/>
          </a:prstGeom>
          <a:solidFill>
            <a:srgbClr val="12867A"/>
          </a:solidFill>
          <a:ln w="12700">
            <a:solidFill>
              <a:srgbClr val="12867A"/>
            </a:solidFill>
            <a:prstDash val="solid"/>
          </a:ln>
        </p:spPr>
      </p:sp>
      <p:sp>
        <p:nvSpPr>
          <p:cNvPr id="17" name="Shape 15"/>
          <p:cNvSpPr/>
          <p:nvPr/>
        </p:nvSpPr>
        <p:spPr>
          <a:xfrm>
            <a:off x="10875645" y="2554605"/>
            <a:ext cx="148590" cy="148590"/>
          </a:xfrm>
          <a:prstGeom prst="ellipse">
            <a:avLst/>
          </a:prstGeom>
          <a:solidFill>
            <a:srgbClr val="D98E04">
              <a:alpha val="70000"/>
            </a:srgbClr>
          </a:solidFill>
          <a:ln w="12700">
            <a:solidFill>
              <a:srgbClr val="12867A"/>
            </a:solidFill>
            <a:prstDash val="solid"/>
          </a:ln>
        </p:spPr>
      </p:sp>
      <p:sp>
        <p:nvSpPr>
          <p:cNvPr id="18" name="Shape 16"/>
          <p:cNvSpPr/>
          <p:nvPr/>
        </p:nvSpPr>
        <p:spPr>
          <a:xfrm>
            <a:off x="8475345" y="3354705"/>
            <a:ext cx="148590" cy="148590"/>
          </a:xfrm>
          <a:prstGeom prst="ellipse">
            <a:avLst/>
          </a:prstGeom>
          <a:solidFill>
            <a:srgbClr val="12867A">
              <a:alpha val="70000"/>
            </a:srgbClr>
          </a:solidFill>
          <a:ln w="12700">
            <a:solidFill>
              <a:srgbClr val="12867A"/>
            </a:solidFill>
            <a:prstDash val="solid"/>
          </a:ln>
        </p:spPr>
      </p:sp>
      <p:sp>
        <p:nvSpPr>
          <p:cNvPr id="19" name="Shape 17"/>
          <p:cNvSpPr/>
          <p:nvPr/>
        </p:nvSpPr>
        <p:spPr>
          <a:xfrm>
            <a:off x="10367010" y="3760470"/>
            <a:ext cx="251460" cy="251460"/>
          </a:xfrm>
          <a:prstGeom prst="ellipse">
            <a:avLst/>
          </a:prstGeom>
          <a:solidFill>
            <a:srgbClr val="12867A"/>
          </a:solidFill>
          <a:ln w="12700">
            <a:solidFill>
              <a:srgbClr val="12867A"/>
            </a:solidFill>
            <a:prstDash val="solid"/>
          </a:ln>
        </p:spPr>
      </p:sp>
      <p:sp>
        <p:nvSpPr>
          <p:cNvPr id="20" name="Shape 18"/>
          <p:cNvSpPr/>
          <p:nvPr/>
        </p:nvSpPr>
        <p:spPr>
          <a:xfrm>
            <a:off x="11675745" y="1525905"/>
            <a:ext cx="148590" cy="148590"/>
          </a:xfrm>
          <a:prstGeom prst="ellipse">
            <a:avLst/>
          </a:prstGeom>
          <a:solidFill>
            <a:srgbClr val="12867A">
              <a:alpha val="70000"/>
            </a:srgbClr>
          </a:solidFill>
          <a:ln w="12700">
            <a:solidFill>
              <a:srgbClr val="12867A"/>
            </a:solidFill>
            <a:prstDash val="solid"/>
          </a:ln>
        </p:spPr>
      </p:sp>
      <p:sp>
        <p:nvSpPr>
          <p:cNvPr id="21" name="Shape 19"/>
          <p:cNvSpPr/>
          <p:nvPr/>
        </p:nvSpPr>
        <p:spPr>
          <a:xfrm>
            <a:off x="11904345" y="3354705"/>
            <a:ext cx="148590" cy="148590"/>
          </a:xfrm>
          <a:prstGeom prst="ellipse">
            <a:avLst/>
          </a:prstGeom>
          <a:solidFill>
            <a:srgbClr val="D98E04">
              <a:alpha val="70000"/>
            </a:srgbClr>
          </a:solidFill>
          <a:ln w="12700">
            <a:solidFill>
              <a:srgbClr val="12867A"/>
            </a:solidFill>
            <a:prstDash val="solid"/>
          </a:ln>
        </p:spPr>
      </p:sp>
      <p:sp>
        <p:nvSpPr>
          <p:cNvPr id="22" name="Text 20"/>
          <p:cNvSpPr txBox="1"/>
          <p:nvPr/>
        </p:nvSpPr>
        <p:spPr>
          <a:xfrm>
            <a:off x="548640" y="1463040"/>
            <a:ext cx="2743200" cy="1097280"/>
          </a:xfrm>
          <a:prstGeom prst="rect">
            <a:avLst/>
          </a:prstGeom>
          <a:noFill/>
          <a:ln/>
        </p:spPr>
        <p:txBody>
          <a:bodyPr wrap="square" lIns="0" tIns="0" rIns="0" bIns="0" rtlCol="0" anchor="t"/>
          <a:lstStyle/>
          <a:p>
            <a:pPr indent="0" marL="0">
              <a:buNone/>
            </a:pPr>
            <a:r>
              <a:rPr lang="en-US" sz="7200" b="1" dirty="0">
                <a:solidFill>
                  <a:srgbClr val="D98E04"/>
                </a:solidFill>
                <a:latin typeface="Cambria" pitchFamily="34" charset="0"/>
                <a:ea typeface="Cambria" pitchFamily="34" charset="-122"/>
                <a:cs typeface="Cambria" pitchFamily="34" charset="-120"/>
              </a:rPr>
              <a:t>05</a:t>
            </a:r>
            <a:endParaRPr lang="en-US" sz="7200" dirty="0"/>
          </a:p>
        </p:txBody>
      </p:sp>
      <p:sp>
        <p:nvSpPr>
          <p:cNvPr id="23" name="Text 21"/>
          <p:cNvSpPr txBox="1"/>
          <p:nvPr/>
        </p:nvSpPr>
        <p:spPr>
          <a:xfrm>
            <a:off x="548640" y="2651760"/>
            <a:ext cx="749808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Implementation blueprint and conformance testing</a:t>
            </a:r>
            <a:endParaRPr lang="en-US" sz="3400" dirty="0"/>
          </a:p>
        </p:txBody>
      </p:sp>
      <p:sp>
        <p:nvSpPr>
          <p:cNvPr id="24" name="Text 22"/>
          <p:cNvSpPr txBox="1"/>
          <p:nvPr/>
        </p:nvSpPr>
        <p:spPr>
          <a:xfrm>
            <a:off x="548640" y="4023360"/>
            <a:ext cx="6949440" cy="109728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A governed memory system is measurable: every backend must pass admission tests, runtime policy checks and continuous monitoring before — and after — production.</a:t>
            </a:r>
            <a:endParaRPr lang="en-US" sz="1500" dirty="0"/>
          </a:p>
        </p:txBody>
      </p:sp>
      <p:sp>
        <p:nvSpPr>
          <p:cNvPr id="25" name="Text 23"/>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RockAI Agent Memory Governance Framework  •  Internal research draft  •  Sept 2026  •  Not legal advice</a:t>
            </a:r>
            <a:endParaRPr lang="en-US" sz="900" dirty="0"/>
          </a:p>
        </p:txBody>
      </p:sp>
      <p:sp>
        <p:nvSpPr>
          <p:cNvPr id="26" name="Text 24"/>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Minimum memory metadata contract</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30</a:t>
            </a:r>
            <a:endParaRPr lang="en-US" sz="900" dirty="0"/>
          </a:p>
        </p:txBody>
      </p:sp>
      <p:sp>
        <p:nvSpPr>
          <p:cNvPr id="5" name="Shape 3"/>
          <p:cNvSpPr/>
          <p:nvPr/>
        </p:nvSpPr>
        <p:spPr>
          <a:xfrm>
            <a:off x="548640" y="1371600"/>
            <a:ext cx="1755648" cy="4206240"/>
          </a:xfrm>
          <a:prstGeom prst="roundRect">
            <a:avLst>
              <a:gd name="adj" fmla="val 4167"/>
            </a:avLst>
          </a:prstGeom>
          <a:solidFill>
            <a:srgbClr val="F7F9FC"/>
          </a:solidFill>
          <a:ln w="9525">
            <a:solidFill>
              <a:srgbClr val="D5DDE9"/>
            </a:solidFill>
            <a:prstDash val="solid"/>
          </a:ln>
        </p:spPr>
      </p:sp>
      <p:sp>
        <p:nvSpPr>
          <p:cNvPr id="6" name="Shape 4"/>
          <p:cNvSpPr/>
          <p:nvPr/>
        </p:nvSpPr>
        <p:spPr>
          <a:xfrm>
            <a:off x="1133856" y="1554480"/>
            <a:ext cx="585216" cy="585216"/>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1274308" y="1694932"/>
            <a:ext cx="304312" cy="304312"/>
          </a:xfrm>
          <a:prstGeom prst="rect">
            <a:avLst/>
          </a:prstGeom>
        </p:spPr>
      </p:pic>
      <p:sp>
        <p:nvSpPr>
          <p:cNvPr id="8" name="Text 5"/>
          <p:cNvSpPr txBox="1"/>
          <p:nvPr/>
        </p:nvSpPr>
        <p:spPr>
          <a:xfrm>
            <a:off x="621792" y="2212848"/>
            <a:ext cx="1609344"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Identity</a:t>
            </a:r>
            <a:endParaRPr lang="en-US" sz="1250" dirty="0"/>
          </a:p>
        </p:txBody>
      </p:sp>
      <p:sp>
        <p:nvSpPr>
          <p:cNvPr id="9" name="Shape 6"/>
          <p:cNvSpPr/>
          <p:nvPr/>
        </p:nvSpPr>
        <p:spPr>
          <a:xfrm>
            <a:off x="868680" y="2651760"/>
            <a:ext cx="1115568" cy="0"/>
          </a:xfrm>
          <a:prstGeom prst="line">
            <a:avLst/>
          </a:prstGeom>
          <a:noFill/>
          <a:ln w="9525">
            <a:solidFill>
              <a:srgbClr val="D5DDE9"/>
            </a:solidFill>
            <a:prstDash val="solid"/>
          </a:ln>
        </p:spPr>
      </p:sp>
      <p:sp>
        <p:nvSpPr>
          <p:cNvPr id="10" name="Shape 7"/>
          <p:cNvSpPr/>
          <p:nvPr/>
        </p:nvSpPr>
        <p:spPr>
          <a:xfrm>
            <a:off x="676656" y="2761488"/>
            <a:ext cx="1499616" cy="329184"/>
          </a:xfrm>
          <a:prstGeom prst="roundRect">
            <a:avLst>
              <a:gd name="adj" fmla="val 13889"/>
            </a:avLst>
          </a:prstGeom>
          <a:solidFill>
            <a:srgbClr val="FFFFFF"/>
          </a:solidFill>
          <a:ln w="9525">
            <a:solidFill>
              <a:srgbClr val="D5DDE9"/>
            </a:solidFill>
            <a:prstDash val="solid"/>
          </a:ln>
        </p:spPr>
      </p:sp>
      <p:sp>
        <p:nvSpPr>
          <p:cNvPr id="11" name="Text 8"/>
          <p:cNvSpPr txBox="1"/>
          <p:nvPr/>
        </p:nvSpPr>
        <p:spPr>
          <a:xfrm>
            <a:off x="676656" y="2761488"/>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memory_id</a:t>
            </a:r>
            <a:endParaRPr lang="en-US" sz="850" dirty="0"/>
          </a:p>
        </p:txBody>
      </p:sp>
      <p:sp>
        <p:nvSpPr>
          <p:cNvPr id="12" name="Shape 9"/>
          <p:cNvSpPr/>
          <p:nvPr/>
        </p:nvSpPr>
        <p:spPr>
          <a:xfrm>
            <a:off x="676656" y="3154680"/>
            <a:ext cx="1499616" cy="329184"/>
          </a:xfrm>
          <a:prstGeom prst="roundRect">
            <a:avLst>
              <a:gd name="adj" fmla="val 13889"/>
            </a:avLst>
          </a:prstGeom>
          <a:solidFill>
            <a:srgbClr val="FFFFFF"/>
          </a:solidFill>
          <a:ln w="9525">
            <a:solidFill>
              <a:srgbClr val="D5DDE9"/>
            </a:solidFill>
            <a:prstDash val="solid"/>
          </a:ln>
        </p:spPr>
      </p:sp>
      <p:sp>
        <p:nvSpPr>
          <p:cNvPr id="13" name="Text 10"/>
          <p:cNvSpPr txBox="1"/>
          <p:nvPr/>
        </p:nvSpPr>
        <p:spPr>
          <a:xfrm>
            <a:off x="676656" y="3154680"/>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tenant_id</a:t>
            </a:r>
            <a:endParaRPr lang="en-US" sz="850" dirty="0"/>
          </a:p>
        </p:txBody>
      </p:sp>
      <p:sp>
        <p:nvSpPr>
          <p:cNvPr id="14" name="Shape 11"/>
          <p:cNvSpPr/>
          <p:nvPr/>
        </p:nvSpPr>
        <p:spPr>
          <a:xfrm>
            <a:off x="676656" y="3547872"/>
            <a:ext cx="1499616" cy="329184"/>
          </a:xfrm>
          <a:prstGeom prst="roundRect">
            <a:avLst>
              <a:gd name="adj" fmla="val 13889"/>
            </a:avLst>
          </a:prstGeom>
          <a:solidFill>
            <a:srgbClr val="FFFFFF"/>
          </a:solidFill>
          <a:ln w="9525">
            <a:solidFill>
              <a:srgbClr val="D5DDE9"/>
            </a:solidFill>
            <a:prstDash val="solid"/>
          </a:ln>
        </p:spPr>
      </p:sp>
      <p:sp>
        <p:nvSpPr>
          <p:cNvPr id="15" name="Text 12"/>
          <p:cNvSpPr txBox="1"/>
          <p:nvPr/>
        </p:nvSpPr>
        <p:spPr>
          <a:xfrm>
            <a:off x="676656" y="3547872"/>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subject_id</a:t>
            </a:r>
            <a:endParaRPr lang="en-US" sz="850" dirty="0"/>
          </a:p>
        </p:txBody>
      </p:sp>
      <p:sp>
        <p:nvSpPr>
          <p:cNvPr id="16" name="Shape 13"/>
          <p:cNvSpPr/>
          <p:nvPr/>
        </p:nvSpPr>
        <p:spPr>
          <a:xfrm>
            <a:off x="676656" y="3941064"/>
            <a:ext cx="1499616" cy="329184"/>
          </a:xfrm>
          <a:prstGeom prst="roundRect">
            <a:avLst>
              <a:gd name="adj" fmla="val 13889"/>
            </a:avLst>
          </a:prstGeom>
          <a:solidFill>
            <a:srgbClr val="FFFFFF"/>
          </a:solidFill>
          <a:ln w="9525">
            <a:solidFill>
              <a:srgbClr val="D5DDE9"/>
            </a:solidFill>
            <a:prstDash val="solid"/>
          </a:ln>
        </p:spPr>
      </p:sp>
      <p:sp>
        <p:nvSpPr>
          <p:cNvPr id="17" name="Text 14"/>
          <p:cNvSpPr txBox="1"/>
          <p:nvPr/>
        </p:nvSpPr>
        <p:spPr>
          <a:xfrm>
            <a:off x="676656" y="3941064"/>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namespace</a:t>
            </a:r>
            <a:endParaRPr lang="en-US" sz="850" dirty="0"/>
          </a:p>
        </p:txBody>
      </p:sp>
      <p:sp>
        <p:nvSpPr>
          <p:cNvPr id="18" name="Shape 15"/>
          <p:cNvSpPr/>
          <p:nvPr/>
        </p:nvSpPr>
        <p:spPr>
          <a:xfrm>
            <a:off x="2414016" y="1371600"/>
            <a:ext cx="1755648" cy="4206240"/>
          </a:xfrm>
          <a:prstGeom prst="roundRect">
            <a:avLst>
              <a:gd name="adj" fmla="val 4167"/>
            </a:avLst>
          </a:prstGeom>
          <a:solidFill>
            <a:srgbClr val="F7F9FC"/>
          </a:solidFill>
          <a:ln w="9525">
            <a:solidFill>
              <a:srgbClr val="D5DDE9"/>
            </a:solidFill>
            <a:prstDash val="solid"/>
          </a:ln>
        </p:spPr>
      </p:sp>
      <p:sp>
        <p:nvSpPr>
          <p:cNvPr id="19" name="Shape 16"/>
          <p:cNvSpPr/>
          <p:nvPr/>
        </p:nvSpPr>
        <p:spPr>
          <a:xfrm>
            <a:off x="2999232" y="1554480"/>
            <a:ext cx="585216" cy="585216"/>
          </a:xfrm>
          <a:prstGeom prst="ellipse">
            <a:avLst/>
          </a:prstGeom>
          <a:solidFill>
            <a:srgbClr val="DDF0ED"/>
          </a:solidFill>
          <a:ln w="12700">
            <a:solidFill>
              <a:srgbClr val="DDF0ED"/>
            </a:solidFill>
            <a:prstDash val="solid"/>
          </a:ln>
        </p:spPr>
      </p:sp>
      <p:pic>
        <p:nvPicPr>
          <p:cNvPr id="20" name="Image 1" descr="preencoded.png">    </p:cNvPr>
          <p:cNvPicPr>
            <a:picLocks noChangeAspect="1"/>
          </p:cNvPicPr>
          <p:nvPr/>
        </p:nvPicPr>
        <p:blipFill>
          <a:blip r:embed="rId2"/>
          <a:stretch>
            <a:fillRect/>
          </a:stretch>
        </p:blipFill>
        <p:spPr>
          <a:xfrm>
            <a:off x="3139684" y="1694932"/>
            <a:ext cx="304312" cy="304312"/>
          </a:xfrm>
          <a:prstGeom prst="rect">
            <a:avLst/>
          </a:prstGeom>
        </p:spPr>
      </p:pic>
      <p:sp>
        <p:nvSpPr>
          <p:cNvPr id="21" name="Text 17"/>
          <p:cNvSpPr txBox="1"/>
          <p:nvPr/>
        </p:nvSpPr>
        <p:spPr>
          <a:xfrm>
            <a:off x="2487168" y="2212848"/>
            <a:ext cx="1609344"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Content</a:t>
            </a:r>
            <a:endParaRPr lang="en-US" sz="1250" dirty="0"/>
          </a:p>
        </p:txBody>
      </p:sp>
      <p:sp>
        <p:nvSpPr>
          <p:cNvPr id="22" name="Shape 18"/>
          <p:cNvSpPr/>
          <p:nvPr/>
        </p:nvSpPr>
        <p:spPr>
          <a:xfrm>
            <a:off x="2734056" y="2651760"/>
            <a:ext cx="1115568" cy="0"/>
          </a:xfrm>
          <a:prstGeom prst="line">
            <a:avLst/>
          </a:prstGeom>
          <a:noFill/>
          <a:ln w="9525">
            <a:solidFill>
              <a:srgbClr val="D5DDE9"/>
            </a:solidFill>
            <a:prstDash val="solid"/>
          </a:ln>
        </p:spPr>
      </p:sp>
      <p:sp>
        <p:nvSpPr>
          <p:cNvPr id="23" name="Shape 19"/>
          <p:cNvSpPr/>
          <p:nvPr/>
        </p:nvSpPr>
        <p:spPr>
          <a:xfrm>
            <a:off x="2542032" y="2761488"/>
            <a:ext cx="1499616" cy="329184"/>
          </a:xfrm>
          <a:prstGeom prst="roundRect">
            <a:avLst>
              <a:gd name="adj" fmla="val 13889"/>
            </a:avLst>
          </a:prstGeom>
          <a:solidFill>
            <a:srgbClr val="FFFFFF"/>
          </a:solidFill>
          <a:ln w="9525">
            <a:solidFill>
              <a:srgbClr val="D5DDE9"/>
            </a:solidFill>
            <a:prstDash val="solid"/>
          </a:ln>
        </p:spPr>
      </p:sp>
      <p:sp>
        <p:nvSpPr>
          <p:cNvPr id="24" name="Text 20"/>
          <p:cNvSpPr txBox="1"/>
          <p:nvPr/>
        </p:nvSpPr>
        <p:spPr>
          <a:xfrm>
            <a:off x="2542032" y="2761488"/>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value / ref</a:t>
            </a:r>
            <a:endParaRPr lang="en-US" sz="850" dirty="0"/>
          </a:p>
        </p:txBody>
      </p:sp>
      <p:sp>
        <p:nvSpPr>
          <p:cNvPr id="25" name="Shape 21"/>
          <p:cNvSpPr/>
          <p:nvPr/>
        </p:nvSpPr>
        <p:spPr>
          <a:xfrm>
            <a:off x="2542032" y="3154680"/>
            <a:ext cx="1499616" cy="329184"/>
          </a:xfrm>
          <a:prstGeom prst="roundRect">
            <a:avLst>
              <a:gd name="adj" fmla="val 13889"/>
            </a:avLst>
          </a:prstGeom>
          <a:solidFill>
            <a:srgbClr val="FFFFFF"/>
          </a:solidFill>
          <a:ln w="9525">
            <a:solidFill>
              <a:srgbClr val="D5DDE9"/>
            </a:solidFill>
            <a:prstDash val="solid"/>
          </a:ln>
        </p:spPr>
      </p:sp>
      <p:sp>
        <p:nvSpPr>
          <p:cNvPr id="26" name="Text 22"/>
          <p:cNvSpPr txBox="1"/>
          <p:nvPr/>
        </p:nvSpPr>
        <p:spPr>
          <a:xfrm>
            <a:off x="2542032" y="3154680"/>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type</a:t>
            </a:r>
            <a:endParaRPr lang="en-US" sz="850" dirty="0"/>
          </a:p>
        </p:txBody>
      </p:sp>
      <p:sp>
        <p:nvSpPr>
          <p:cNvPr id="27" name="Shape 23"/>
          <p:cNvSpPr/>
          <p:nvPr/>
        </p:nvSpPr>
        <p:spPr>
          <a:xfrm>
            <a:off x="2542032" y="3547872"/>
            <a:ext cx="1499616" cy="329184"/>
          </a:xfrm>
          <a:prstGeom prst="roundRect">
            <a:avLst>
              <a:gd name="adj" fmla="val 13889"/>
            </a:avLst>
          </a:prstGeom>
          <a:solidFill>
            <a:srgbClr val="FFFFFF"/>
          </a:solidFill>
          <a:ln w="9525">
            <a:solidFill>
              <a:srgbClr val="D5DDE9"/>
            </a:solidFill>
            <a:prstDash val="solid"/>
          </a:ln>
        </p:spPr>
      </p:sp>
      <p:sp>
        <p:nvSpPr>
          <p:cNvPr id="28" name="Text 24"/>
          <p:cNvSpPr txBox="1"/>
          <p:nvPr/>
        </p:nvSpPr>
        <p:spPr>
          <a:xfrm>
            <a:off x="2542032" y="3547872"/>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derivation_type</a:t>
            </a:r>
            <a:endParaRPr lang="en-US" sz="850" dirty="0"/>
          </a:p>
        </p:txBody>
      </p:sp>
      <p:sp>
        <p:nvSpPr>
          <p:cNvPr id="29" name="Shape 25"/>
          <p:cNvSpPr/>
          <p:nvPr/>
        </p:nvSpPr>
        <p:spPr>
          <a:xfrm>
            <a:off x="2542032" y="3941064"/>
            <a:ext cx="1499616" cy="329184"/>
          </a:xfrm>
          <a:prstGeom prst="roundRect">
            <a:avLst>
              <a:gd name="adj" fmla="val 13889"/>
            </a:avLst>
          </a:prstGeom>
          <a:solidFill>
            <a:srgbClr val="DDF0ED"/>
          </a:solidFill>
          <a:ln w="9525">
            <a:solidFill>
              <a:srgbClr val="12867A"/>
            </a:solidFill>
            <a:prstDash val="solid"/>
          </a:ln>
        </p:spPr>
      </p:sp>
      <p:sp>
        <p:nvSpPr>
          <p:cNvPr id="30" name="Text 26"/>
          <p:cNvSpPr txBox="1"/>
          <p:nvPr/>
        </p:nvSpPr>
        <p:spPr>
          <a:xfrm>
            <a:off x="2542032" y="3941064"/>
            <a:ext cx="1499616" cy="329184"/>
          </a:xfrm>
          <a:prstGeom prst="rect">
            <a:avLst/>
          </a:prstGeom>
          <a:noFill/>
          <a:ln/>
        </p:spPr>
        <p:txBody>
          <a:bodyPr wrap="square" lIns="0" tIns="0" rIns="0" bIns="0" rtlCol="0" anchor="ctr"/>
          <a:lstStyle/>
          <a:p>
            <a:pPr algn="ctr" indent="0" marL="0">
              <a:buNone/>
            </a:pPr>
            <a:r>
              <a:rPr lang="en-US" sz="850" b="1" dirty="0">
                <a:solidFill>
                  <a:srgbClr val="12867A"/>
                </a:solidFill>
                <a:latin typeface="Courier New" pitchFamily="34" charset="0"/>
                <a:ea typeface="Courier New" pitchFamily="34" charset="-122"/>
                <a:cs typeface="Courier New" pitchFamily="34" charset="-120"/>
              </a:rPr>
              <a:t>assertion_type</a:t>
            </a:r>
            <a:endParaRPr lang="en-US" sz="850" dirty="0"/>
          </a:p>
        </p:txBody>
      </p:sp>
      <p:sp>
        <p:nvSpPr>
          <p:cNvPr id="31" name="Shape 27"/>
          <p:cNvSpPr/>
          <p:nvPr/>
        </p:nvSpPr>
        <p:spPr>
          <a:xfrm>
            <a:off x="4279392" y="1371600"/>
            <a:ext cx="1755648" cy="4206240"/>
          </a:xfrm>
          <a:prstGeom prst="roundRect">
            <a:avLst>
              <a:gd name="adj" fmla="val 4167"/>
            </a:avLst>
          </a:prstGeom>
          <a:solidFill>
            <a:srgbClr val="F7F9FC"/>
          </a:solidFill>
          <a:ln w="9525">
            <a:solidFill>
              <a:srgbClr val="D5DDE9"/>
            </a:solidFill>
            <a:prstDash val="solid"/>
          </a:ln>
        </p:spPr>
      </p:sp>
      <p:sp>
        <p:nvSpPr>
          <p:cNvPr id="32" name="Shape 28"/>
          <p:cNvSpPr/>
          <p:nvPr/>
        </p:nvSpPr>
        <p:spPr>
          <a:xfrm>
            <a:off x="4864608" y="1554480"/>
            <a:ext cx="585216" cy="585216"/>
          </a:xfrm>
          <a:prstGeom prst="ellipse">
            <a:avLst/>
          </a:prstGeom>
          <a:solidFill>
            <a:srgbClr val="FBF1DE"/>
          </a:solidFill>
          <a:ln w="12700">
            <a:solidFill>
              <a:srgbClr val="FBF1DE"/>
            </a:solidFill>
            <a:prstDash val="solid"/>
          </a:ln>
        </p:spPr>
      </p:sp>
      <p:pic>
        <p:nvPicPr>
          <p:cNvPr id="33" name="Image 2" descr="preencoded.png">    </p:cNvPr>
          <p:cNvPicPr>
            <a:picLocks noChangeAspect="1"/>
          </p:cNvPicPr>
          <p:nvPr/>
        </p:nvPicPr>
        <p:blipFill>
          <a:blip r:embed="rId3"/>
          <a:stretch>
            <a:fillRect/>
          </a:stretch>
        </p:blipFill>
        <p:spPr>
          <a:xfrm>
            <a:off x="5005060" y="1694932"/>
            <a:ext cx="304312" cy="304312"/>
          </a:xfrm>
          <a:prstGeom prst="rect">
            <a:avLst/>
          </a:prstGeom>
        </p:spPr>
      </p:pic>
      <p:sp>
        <p:nvSpPr>
          <p:cNvPr id="34" name="Text 29"/>
          <p:cNvSpPr txBox="1"/>
          <p:nvPr/>
        </p:nvSpPr>
        <p:spPr>
          <a:xfrm>
            <a:off x="4352544" y="2212848"/>
            <a:ext cx="1609344"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Provenance</a:t>
            </a:r>
            <a:endParaRPr lang="en-US" sz="1250" dirty="0"/>
          </a:p>
        </p:txBody>
      </p:sp>
      <p:sp>
        <p:nvSpPr>
          <p:cNvPr id="35" name="Shape 30"/>
          <p:cNvSpPr/>
          <p:nvPr/>
        </p:nvSpPr>
        <p:spPr>
          <a:xfrm>
            <a:off x="4599432" y="2651760"/>
            <a:ext cx="1115568" cy="0"/>
          </a:xfrm>
          <a:prstGeom prst="line">
            <a:avLst/>
          </a:prstGeom>
          <a:noFill/>
          <a:ln w="9525">
            <a:solidFill>
              <a:srgbClr val="D5DDE9"/>
            </a:solidFill>
            <a:prstDash val="solid"/>
          </a:ln>
        </p:spPr>
      </p:sp>
      <p:sp>
        <p:nvSpPr>
          <p:cNvPr id="36" name="Shape 31"/>
          <p:cNvSpPr/>
          <p:nvPr/>
        </p:nvSpPr>
        <p:spPr>
          <a:xfrm>
            <a:off x="4407408" y="2761488"/>
            <a:ext cx="1499616" cy="329184"/>
          </a:xfrm>
          <a:prstGeom prst="roundRect">
            <a:avLst>
              <a:gd name="adj" fmla="val 13889"/>
            </a:avLst>
          </a:prstGeom>
          <a:solidFill>
            <a:srgbClr val="FFFFFF"/>
          </a:solidFill>
          <a:ln w="9525">
            <a:solidFill>
              <a:srgbClr val="D5DDE9"/>
            </a:solidFill>
            <a:prstDash val="solid"/>
          </a:ln>
        </p:spPr>
      </p:sp>
      <p:sp>
        <p:nvSpPr>
          <p:cNvPr id="37" name="Text 32"/>
          <p:cNvSpPr txBox="1"/>
          <p:nvPr/>
        </p:nvSpPr>
        <p:spPr>
          <a:xfrm>
            <a:off x="4407408" y="2761488"/>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source_id</a:t>
            </a:r>
            <a:endParaRPr lang="en-US" sz="850" dirty="0"/>
          </a:p>
        </p:txBody>
      </p:sp>
      <p:sp>
        <p:nvSpPr>
          <p:cNvPr id="38" name="Shape 33"/>
          <p:cNvSpPr/>
          <p:nvPr/>
        </p:nvSpPr>
        <p:spPr>
          <a:xfrm>
            <a:off x="4407408" y="3154680"/>
            <a:ext cx="1499616" cy="329184"/>
          </a:xfrm>
          <a:prstGeom prst="roundRect">
            <a:avLst>
              <a:gd name="adj" fmla="val 13889"/>
            </a:avLst>
          </a:prstGeom>
          <a:solidFill>
            <a:srgbClr val="FFFFFF"/>
          </a:solidFill>
          <a:ln w="9525">
            <a:solidFill>
              <a:srgbClr val="D5DDE9"/>
            </a:solidFill>
            <a:prstDash val="solid"/>
          </a:ln>
        </p:spPr>
      </p:sp>
      <p:sp>
        <p:nvSpPr>
          <p:cNvPr id="39" name="Text 34"/>
          <p:cNvSpPr txBox="1"/>
          <p:nvPr/>
        </p:nvSpPr>
        <p:spPr>
          <a:xfrm>
            <a:off x="4407408" y="3154680"/>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source_authority</a:t>
            </a:r>
            <a:endParaRPr lang="en-US" sz="850" dirty="0"/>
          </a:p>
        </p:txBody>
      </p:sp>
      <p:sp>
        <p:nvSpPr>
          <p:cNvPr id="40" name="Shape 35"/>
          <p:cNvSpPr/>
          <p:nvPr/>
        </p:nvSpPr>
        <p:spPr>
          <a:xfrm>
            <a:off x="4407408" y="3547872"/>
            <a:ext cx="1499616" cy="329184"/>
          </a:xfrm>
          <a:prstGeom prst="roundRect">
            <a:avLst>
              <a:gd name="adj" fmla="val 13889"/>
            </a:avLst>
          </a:prstGeom>
          <a:solidFill>
            <a:srgbClr val="FFFFFF"/>
          </a:solidFill>
          <a:ln w="9525">
            <a:solidFill>
              <a:srgbClr val="D5DDE9"/>
            </a:solidFill>
            <a:prstDash val="solid"/>
          </a:ln>
        </p:spPr>
      </p:sp>
      <p:sp>
        <p:nvSpPr>
          <p:cNvPr id="41" name="Text 36"/>
          <p:cNvSpPr txBox="1"/>
          <p:nvPr/>
        </p:nvSpPr>
        <p:spPr>
          <a:xfrm>
            <a:off x="4407408" y="3547872"/>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parent IDs</a:t>
            </a:r>
            <a:endParaRPr lang="en-US" sz="850" dirty="0"/>
          </a:p>
        </p:txBody>
      </p:sp>
      <p:sp>
        <p:nvSpPr>
          <p:cNvPr id="42" name="Shape 37"/>
          <p:cNvSpPr/>
          <p:nvPr/>
        </p:nvSpPr>
        <p:spPr>
          <a:xfrm>
            <a:off x="4407408" y="3941064"/>
            <a:ext cx="1499616" cy="329184"/>
          </a:xfrm>
          <a:prstGeom prst="roundRect">
            <a:avLst>
              <a:gd name="adj" fmla="val 13889"/>
            </a:avLst>
          </a:prstGeom>
          <a:solidFill>
            <a:srgbClr val="DDF0ED"/>
          </a:solidFill>
          <a:ln w="9525">
            <a:solidFill>
              <a:srgbClr val="12867A"/>
            </a:solidFill>
            <a:prstDash val="solid"/>
          </a:ln>
        </p:spPr>
      </p:sp>
      <p:sp>
        <p:nvSpPr>
          <p:cNvPr id="43" name="Text 38"/>
          <p:cNvSpPr txBox="1"/>
          <p:nvPr/>
        </p:nvSpPr>
        <p:spPr>
          <a:xfrm>
            <a:off x="4407408" y="3941064"/>
            <a:ext cx="1499616" cy="329184"/>
          </a:xfrm>
          <a:prstGeom prst="rect">
            <a:avLst/>
          </a:prstGeom>
          <a:noFill/>
          <a:ln/>
        </p:spPr>
        <p:txBody>
          <a:bodyPr wrap="square" lIns="0" tIns="0" rIns="0" bIns="0" rtlCol="0" anchor="ctr"/>
          <a:lstStyle/>
          <a:p>
            <a:pPr algn="ctr" indent="0" marL="0">
              <a:buNone/>
            </a:pPr>
            <a:r>
              <a:rPr lang="en-US" sz="850" b="1" dirty="0">
                <a:solidFill>
                  <a:srgbClr val="12867A"/>
                </a:solidFill>
                <a:latin typeface="Courier New" pitchFamily="34" charset="0"/>
                <a:ea typeface="Courier New" pitchFamily="34" charset="-122"/>
                <a:cs typeface="Courier New" pitchFamily="34" charset="-120"/>
              </a:rPr>
              <a:t>evidence_count</a:t>
            </a:r>
            <a:endParaRPr lang="en-US" sz="850" dirty="0"/>
          </a:p>
        </p:txBody>
      </p:sp>
      <p:sp>
        <p:nvSpPr>
          <p:cNvPr id="44" name="Shape 39"/>
          <p:cNvSpPr/>
          <p:nvPr/>
        </p:nvSpPr>
        <p:spPr>
          <a:xfrm>
            <a:off x="6144768" y="1371600"/>
            <a:ext cx="1755648" cy="4206240"/>
          </a:xfrm>
          <a:prstGeom prst="roundRect">
            <a:avLst>
              <a:gd name="adj" fmla="val 4167"/>
            </a:avLst>
          </a:prstGeom>
          <a:solidFill>
            <a:srgbClr val="F7F9FC"/>
          </a:solidFill>
          <a:ln w="9525">
            <a:solidFill>
              <a:srgbClr val="D5DDE9"/>
            </a:solidFill>
            <a:prstDash val="solid"/>
          </a:ln>
        </p:spPr>
      </p:sp>
      <p:sp>
        <p:nvSpPr>
          <p:cNvPr id="45" name="Shape 40"/>
          <p:cNvSpPr/>
          <p:nvPr/>
        </p:nvSpPr>
        <p:spPr>
          <a:xfrm>
            <a:off x="6729984" y="1554480"/>
            <a:ext cx="585216" cy="585216"/>
          </a:xfrm>
          <a:prstGeom prst="ellipse">
            <a:avLst/>
          </a:prstGeom>
          <a:solidFill>
            <a:srgbClr val="F8E3DE"/>
          </a:solidFill>
          <a:ln w="12700">
            <a:solidFill>
              <a:srgbClr val="F8E3DE"/>
            </a:solidFill>
            <a:prstDash val="solid"/>
          </a:ln>
        </p:spPr>
      </p:sp>
      <p:pic>
        <p:nvPicPr>
          <p:cNvPr id="46" name="Image 3" descr="preencoded.png">    </p:cNvPr>
          <p:cNvPicPr>
            <a:picLocks noChangeAspect="1"/>
          </p:cNvPicPr>
          <p:nvPr/>
        </p:nvPicPr>
        <p:blipFill>
          <a:blip r:embed="rId4"/>
          <a:stretch>
            <a:fillRect/>
          </a:stretch>
        </p:blipFill>
        <p:spPr>
          <a:xfrm>
            <a:off x="6870436" y="1694932"/>
            <a:ext cx="304312" cy="304312"/>
          </a:xfrm>
          <a:prstGeom prst="rect">
            <a:avLst/>
          </a:prstGeom>
        </p:spPr>
      </p:pic>
      <p:sp>
        <p:nvSpPr>
          <p:cNvPr id="47" name="Text 41"/>
          <p:cNvSpPr txBox="1"/>
          <p:nvPr/>
        </p:nvSpPr>
        <p:spPr>
          <a:xfrm>
            <a:off x="6217920" y="2212848"/>
            <a:ext cx="1609344"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Governance</a:t>
            </a:r>
            <a:endParaRPr lang="en-US" sz="1250" dirty="0"/>
          </a:p>
        </p:txBody>
      </p:sp>
      <p:sp>
        <p:nvSpPr>
          <p:cNvPr id="48" name="Shape 42"/>
          <p:cNvSpPr/>
          <p:nvPr/>
        </p:nvSpPr>
        <p:spPr>
          <a:xfrm>
            <a:off x="6464808" y="2651760"/>
            <a:ext cx="1115568" cy="0"/>
          </a:xfrm>
          <a:prstGeom prst="line">
            <a:avLst/>
          </a:prstGeom>
          <a:noFill/>
          <a:ln w="9525">
            <a:solidFill>
              <a:srgbClr val="D5DDE9"/>
            </a:solidFill>
            <a:prstDash val="solid"/>
          </a:ln>
        </p:spPr>
      </p:sp>
      <p:sp>
        <p:nvSpPr>
          <p:cNvPr id="49" name="Shape 43"/>
          <p:cNvSpPr/>
          <p:nvPr/>
        </p:nvSpPr>
        <p:spPr>
          <a:xfrm>
            <a:off x="6272784" y="2761488"/>
            <a:ext cx="1499616" cy="329184"/>
          </a:xfrm>
          <a:prstGeom prst="roundRect">
            <a:avLst>
              <a:gd name="adj" fmla="val 13889"/>
            </a:avLst>
          </a:prstGeom>
          <a:solidFill>
            <a:srgbClr val="FFFFFF"/>
          </a:solidFill>
          <a:ln w="9525">
            <a:solidFill>
              <a:srgbClr val="D5DDE9"/>
            </a:solidFill>
            <a:prstDash val="solid"/>
          </a:ln>
        </p:spPr>
      </p:sp>
      <p:sp>
        <p:nvSpPr>
          <p:cNvPr id="50" name="Text 44"/>
          <p:cNvSpPr txBox="1"/>
          <p:nvPr/>
        </p:nvSpPr>
        <p:spPr>
          <a:xfrm>
            <a:off x="6272784" y="2761488"/>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purpose</a:t>
            </a:r>
            <a:endParaRPr lang="en-US" sz="850" dirty="0"/>
          </a:p>
        </p:txBody>
      </p:sp>
      <p:sp>
        <p:nvSpPr>
          <p:cNvPr id="51" name="Shape 45"/>
          <p:cNvSpPr/>
          <p:nvPr/>
        </p:nvSpPr>
        <p:spPr>
          <a:xfrm>
            <a:off x="6272784" y="3154680"/>
            <a:ext cx="1499616" cy="329184"/>
          </a:xfrm>
          <a:prstGeom prst="roundRect">
            <a:avLst>
              <a:gd name="adj" fmla="val 13889"/>
            </a:avLst>
          </a:prstGeom>
          <a:solidFill>
            <a:srgbClr val="FFFFFF"/>
          </a:solidFill>
          <a:ln w="9525">
            <a:solidFill>
              <a:srgbClr val="D5DDE9"/>
            </a:solidFill>
            <a:prstDash val="solid"/>
          </a:ln>
        </p:spPr>
      </p:sp>
      <p:sp>
        <p:nvSpPr>
          <p:cNvPr id="52" name="Text 46"/>
          <p:cNvSpPr txBox="1"/>
          <p:nvPr/>
        </p:nvSpPr>
        <p:spPr>
          <a:xfrm>
            <a:off x="6272784" y="3154680"/>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legal_basis</a:t>
            </a:r>
            <a:endParaRPr lang="en-US" sz="850" dirty="0"/>
          </a:p>
        </p:txBody>
      </p:sp>
      <p:sp>
        <p:nvSpPr>
          <p:cNvPr id="53" name="Shape 47"/>
          <p:cNvSpPr/>
          <p:nvPr/>
        </p:nvSpPr>
        <p:spPr>
          <a:xfrm>
            <a:off x="6272784" y="3547872"/>
            <a:ext cx="1499616" cy="329184"/>
          </a:xfrm>
          <a:prstGeom prst="roundRect">
            <a:avLst>
              <a:gd name="adj" fmla="val 13889"/>
            </a:avLst>
          </a:prstGeom>
          <a:solidFill>
            <a:srgbClr val="FFFFFF"/>
          </a:solidFill>
          <a:ln w="9525">
            <a:solidFill>
              <a:srgbClr val="D5DDE9"/>
            </a:solidFill>
            <a:prstDash val="solid"/>
          </a:ln>
        </p:spPr>
      </p:sp>
      <p:sp>
        <p:nvSpPr>
          <p:cNvPr id="54" name="Text 48"/>
          <p:cNvSpPr txBox="1"/>
          <p:nvPr/>
        </p:nvSpPr>
        <p:spPr>
          <a:xfrm>
            <a:off x="6272784" y="3547872"/>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permitted uses</a:t>
            </a:r>
            <a:endParaRPr lang="en-US" sz="850" dirty="0"/>
          </a:p>
        </p:txBody>
      </p:sp>
      <p:sp>
        <p:nvSpPr>
          <p:cNvPr id="55" name="Shape 49"/>
          <p:cNvSpPr/>
          <p:nvPr/>
        </p:nvSpPr>
        <p:spPr>
          <a:xfrm>
            <a:off x="6272784" y="3941064"/>
            <a:ext cx="1499616" cy="329184"/>
          </a:xfrm>
          <a:prstGeom prst="roundRect">
            <a:avLst>
              <a:gd name="adj" fmla="val 13889"/>
            </a:avLst>
          </a:prstGeom>
          <a:solidFill>
            <a:srgbClr val="FFFFFF"/>
          </a:solidFill>
          <a:ln w="9525">
            <a:solidFill>
              <a:srgbClr val="D5DDE9"/>
            </a:solidFill>
            <a:prstDash val="solid"/>
          </a:ln>
        </p:spPr>
      </p:sp>
      <p:sp>
        <p:nvSpPr>
          <p:cNvPr id="56" name="Text 50"/>
          <p:cNvSpPr txBox="1"/>
          <p:nvPr/>
        </p:nvSpPr>
        <p:spPr>
          <a:xfrm>
            <a:off x="6272784" y="3941064"/>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sensitivity</a:t>
            </a:r>
            <a:endParaRPr lang="en-US" sz="850" dirty="0"/>
          </a:p>
        </p:txBody>
      </p:sp>
      <p:sp>
        <p:nvSpPr>
          <p:cNvPr id="57" name="Shape 51"/>
          <p:cNvSpPr/>
          <p:nvPr/>
        </p:nvSpPr>
        <p:spPr>
          <a:xfrm>
            <a:off x="6272784" y="4334256"/>
            <a:ext cx="1499616" cy="329184"/>
          </a:xfrm>
          <a:prstGeom prst="roundRect">
            <a:avLst>
              <a:gd name="adj" fmla="val 13889"/>
            </a:avLst>
          </a:prstGeom>
          <a:solidFill>
            <a:srgbClr val="FFFFFF"/>
          </a:solidFill>
          <a:ln w="9525">
            <a:solidFill>
              <a:srgbClr val="D5DDE9"/>
            </a:solidFill>
            <a:prstDash val="solid"/>
          </a:ln>
        </p:spPr>
      </p:sp>
      <p:sp>
        <p:nvSpPr>
          <p:cNvPr id="58" name="Text 52"/>
          <p:cNvSpPr txBox="1"/>
          <p:nvPr/>
        </p:nvSpPr>
        <p:spPr>
          <a:xfrm>
            <a:off x="6272784" y="4334256"/>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barrier</a:t>
            </a:r>
            <a:endParaRPr lang="en-US" sz="850" dirty="0"/>
          </a:p>
        </p:txBody>
      </p:sp>
      <p:sp>
        <p:nvSpPr>
          <p:cNvPr id="59" name="Shape 53"/>
          <p:cNvSpPr/>
          <p:nvPr/>
        </p:nvSpPr>
        <p:spPr>
          <a:xfrm>
            <a:off x="6272784" y="4727448"/>
            <a:ext cx="1499616" cy="329184"/>
          </a:xfrm>
          <a:prstGeom prst="roundRect">
            <a:avLst>
              <a:gd name="adj" fmla="val 13889"/>
            </a:avLst>
          </a:prstGeom>
          <a:solidFill>
            <a:srgbClr val="DDF0ED"/>
          </a:solidFill>
          <a:ln w="9525">
            <a:solidFill>
              <a:srgbClr val="12867A"/>
            </a:solidFill>
            <a:prstDash val="solid"/>
          </a:ln>
        </p:spPr>
      </p:sp>
      <p:sp>
        <p:nvSpPr>
          <p:cNvPr id="60" name="Text 54"/>
          <p:cNvSpPr txBox="1"/>
          <p:nvPr/>
        </p:nvSpPr>
        <p:spPr>
          <a:xfrm>
            <a:off x="6272784" y="4727448"/>
            <a:ext cx="1499616" cy="329184"/>
          </a:xfrm>
          <a:prstGeom prst="rect">
            <a:avLst/>
          </a:prstGeom>
          <a:noFill/>
          <a:ln/>
        </p:spPr>
        <p:txBody>
          <a:bodyPr wrap="square" lIns="0" tIns="0" rIns="0" bIns="0" rtlCol="0" anchor="ctr"/>
          <a:lstStyle/>
          <a:p>
            <a:pPr algn="ctr" indent="0" marL="0">
              <a:buNone/>
            </a:pPr>
            <a:r>
              <a:rPr lang="en-US" sz="850" b="1" dirty="0">
                <a:solidFill>
                  <a:srgbClr val="12867A"/>
                </a:solidFill>
                <a:latin typeface="Courier New" pitchFamily="34" charset="0"/>
                <a:ea typeface="Courier New" pitchFamily="34" charset="-122"/>
                <a:cs typeface="Courier New" pitchFamily="34" charset="-120"/>
              </a:rPr>
              <a:t>notice_ref</a:t>
            </a:r>
            <a:endParaRPr lang="en-US" sz="850" dirty="0"/>
          </a:p>
        </p:txBody>
      </p:sp>
      <p:sp>
        <p:nvSpPr>
          <p:cNvPr id="61" name="Shape 55"/>
          <p:cNvSpPr/>
          <p:nvPr/>
        </p:nvSpPr>
        <p:spPr>
          <a:xfrm>
            <a:off x="6272784" y="5120640"/>
            <a:ext cx="1499616" cy="329184"/>
          </a:xfrm>
          <a:prstGeom prst="roundRect">
            <a:avLst>
              <a:gd name="adj" fmla="val 13889"/>
            </a:avLst>
          </a:prstGeom>
          <a:solidFill>
            <a:srgbClr val="DDF0ED"/>
          </a:solidFill>
          <a:ln w="9525">
            <a:solidFill>
              <a:srgbClr val="12867A"/>
            </a:solidFill>
            <a:prstDash val="solid"/>
          </a:ln>
        </p:spPr>
      </p:sp>
      <p:sp>
        <p:nvSpPr>
          <p:cNvPr id="62" name="Text 56"/>
          <p:cNvSpPr txBox="1"/>
          <p:nvPr/>
        </p:nvSpPr>
        <p:spPr>
          <a:xfrm>
            <a:off x="6272784" y="5120640"/>
            <a:ext cx="1499616" cy="329184"/>
          </a:xfrm>
          <a:prstGeom prst="rect">
            <a:avLst/>
          </a:prstGeom>
          <a:noFill/>
          <a:ln/>
        </p:spPr>
        <p:txBody>
          <a:bodyPr wrap="square" lIns="0" tIns="0" rIns="0" bIns="0" rtlCol="0" anchor="ctr"/>
          <a:lstStyle/>
          <a:p>
            <a:pPr algn="ctr" indent="0" marL="0">
              <a:buNone/>
            </a:pPr>
            <a:r>
              <a:rPr lang="en-US" sz="850" b="1" dirty="0">
                <a:solidFill>
                  <a:srgbClr val="12867A"/>
                </a:solidFill>
                <a:latin typeface="Courier New" pitchFamily="34" charset="0"/>
                <a:ea typeface="Courier New" pitchFamily="34" charset="-122"/>
                <a:cs typeface="Courier New" pitchFamily="34" charset="-120"/>
              </a:rPr>
              <a:t>effective_policy_hash</a:t>
            </a:r>
            <a:endParaRPr lang="en-US" sz="850" dirty="0"/>
          </a:p>
        </p:txBody>
      </p:sp>
      <p:sp>
        <p:nvSpPr>
          <p:cNvPr id="63" name="Shape 57"/>
          <p:cNvSpPr/>
          <p:nvPr/>
        </p:nvSpPr>
        <p:spPr>
          <a:xfrm>
            <a:off x="8010144" y="1371600"/>
            <a:ext cx="1755648" cy="4206240"/>
          </a:xfrm>
          <a:prstGeom prst="roundRect">
            <a:avLst>
              <a:gd name="adj" fmla="val 4167"/>
            </a:avLst>
          </a:prstGeom>
          <a:solidFill>
            <a:srgbClr val="F7F9FC"/>
          </a:solidFill>
          <a:ln w="9525">
            <a:solidFill>
              <a:srgbClr val="D5DDE9"/>
            </a:solidFill>
            <a:prstDash val="solid"/>
          </a:ln>
        </p:spPr>
      </p:sp>
      <p:sp>
        <p:nvSpPr>
          <p:cNvPr id="64" name="Shape 58"/>
          <p:cNvSpPr/>
          <p:nvPr/>
        </p:nvSpPr>
        <p:spPr>
          <a:xfrm>
            <a:off x="8595360" y="1554480"/>
            <a:ext cx="585216" cy="585216"/>
          </a:xfrm>
          <a:prstGeom prst="ellipse">
            <a:avLst/>
          </a:prstGeom>
          <a:solidFill>
            <a:srgbClr val="E3E9F3"/>
          </a:solidFill>
          <a:ln w="12700">
            <a:solidFill>
              <a:srgbClr val="E3E9F3"/>
            </a:solidFill>
            <a:prstDash val="solid"/>
          </a:ln>
        </p:spPr>
      </p:sp>
      <p:pic>
        <p:nvPicPr>
          <p:cNvPr id="65" name="Image 4" descr="preencoded.png">    </p:cNvPr>
          <p:cNvPicPr>
            <a:picLocks noChangeAspect="1"/>
          </p:cNvPicPr>
          <p:nvPr/>
        </p:nvPicPr>
        <p:blipFill>
          <a:blip r:embed="rId5"/>
          <a:stretch>
            <a:fillRect/>
          </a:stretch>
        </p:blipFill>
        <p:spPr>
          <a:xfrm>
            <a:off x="8735812" y="1694932"/>
            <a:ext cx="304312" cy="304312"/>
          </a:xfrm>
          <a:prstGeom prst="rect">
            <a:avLst/>
          </a:prstGeom>
        </p:spPr>
      </p:pic>
      <p:sp>
        <p:nvSpPr>
          <p:cNvPr id="66" name="Text 59"/>
          <p:cNvSpPr txBox="1"/>
          <p:nvPr/>
        </p:nvSpPr>
        <p:spPr>
          <a:xfrm>
            <a:off x="8083296" y="2212848"/>
            <a:ext cx="1609344"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Temporal</a:t>
            </a:r>
            <a:endParaRPr lang="en-US" sz="1250" dirty="0"/>
          </a:p>
        </p:txBody>
      </p:sp>
      <p:sp>
        <p:nvSpPr>
          <p:cNvPr id="67" name="Shape 60"/>
          <p:cNvSpPr/>
          <p:nvPr/>
        </p:nvSpPr>
        <p:spPr>
          <a:xfrm>
            <a:off x="8330184" y="2651760"/>
            <a:ext cx="1115568" cy="0"/>
          </a:xfrm>
          <a:prstGeom prst="line">
            <a:avLst/>
          </a:prstGeom>
          <a:noFill/>
          <a:ln w="9525">
            <a:solidFill>
              <a:srgbClr val="D5DDE9"/>
            </a:solidFill>
            <a:prstDash val="solid"/>
          </a:ln>
        </p:spPr>
      </p:sp>
      <p:sp>
        <p:nvSpPr>
          <p:cNvPr id="68" name="Shape 61"/>
          <p:cNvSpPr/>
          <p:nvPr/>
        </p:nvSpPr>
        <p:spPr>
          <a:xfrm>
            <a:off x="8138160" y="2761488"/>
            <a:ext cx="1499616" cy="329184"/>
          </a:xfrm>
          <a:prstGeom prst="roundRect">
            <a:avLst>
              <a:gd name="adj" fmla="val 13889"/>
            </a:avLst>
          </a:prstGeom>
          <a:solidFill>
            <a:srgbClr val="FFFFFF"/>
          </a:solidFill>
          <a:ln w="9525">
            <a:solidFill>
              <a:srgbClr val="D5DDE9"/>
            </a:solidFill>
            <a:prstDash val="solid"/>
          </a:ln>
        </p:spPr>
      </p:sp>
      <p:sp>
        <p:nvSpPr>
          <p:cNvPr id="69" name="Text 62"/>
          <p:cNvSpPr txBox="1"/>
          <p:nvPr/>
        </p:nvSpPr>
        <p:spPr>
          <a:xfrm>
            <a:off x="8138160" y="2761488"/>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created_at</a:t>
            </a:r>
            <a:endParaRPr lang="en-US" sz="850" dirty="0"/>
          </a:p>
        </p:txBody>
      </p:sp>
      <p:sp>
        <p:nvSpPr>
          <p:cNvPr id="70" name="Shape 63"/>
          <p:cNvSpPr/>
          <p:nvPr/>
        </p:nvSpPr>
        <p:spPr>
          <a:xfrm>
            <a:off x="8138160" y="3154680"/>
            <a:ext cx="1499616" cy="329184"/>
          </a:xfrm>
          <a:prstGeom prst="roundRect">
            <a:avLst>
              <a:gd name="adj" fmla="val 13889"/>
            </a:avLst>
          </a:prstGeom>
          <a:solidFill>
            <a:srgbClr val="FFFFFF"/>
          </a:solidFill>
          <a:ln w="9525">
            <a:solidFill>
              <a:srgbClr val="D5DDE9"/>
            </a:solidFill>
            <a:prstDash val="solid"/>
          </a:ln>
        </p:spPr>
      </p:sp>
      <p:sp>
        <p:nvSpPr>
          <p:cNvPr id="71" name="Text 64"/>
          <p:cNvSpPr txBox="1"/>
          <p:nvPr/>
        </p:nvSpPr>
        <p:spPr>
          <a:xfrm>
            <a:off x="8138160" y="3154680"/>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valid_from / to</a:t>
            </a:r>
            <a:endParaRPr lang="en-US" sz="850" dirty="0"/>
          </a:p>
        </p:txBody>
      </p:sp>
      <p:sp>
        <p:nvSpPr>
          <p:cNvPr id="72" name="Shape 65"/>
          <p:cNvSpPr/>
          <p:nvPr/>
        </p:nvSpPr>
        <p:spPr>
          <a:xfrm>
            <a:off x="8138160" y="3547872"/>
            <a:ext cx="1499616" cy="329184"/>
          </a:xfrm>
          <a:prstGeom prst="roundRect">
            <a:avLst>
              <a:gd name="adj" fmla="val 13889"/>
            </a:avLst>
          </a:prstGeom>
          <a:solidFill>
            <a:srgbClr val="FFFFFF"/>
          </a:solidFill>
          <a:ln w="9525">
            <a:solidFill>
              <a:srgbClr val="D5DDE9"/>
            </a:solidFill>
            <a:prstDash val="solid"/>
          </a:ln>
        </p:spPr>
      </p:sp>
      <p:sp>
        <p:nvSpPr>
          <p:cNvPr id="73" name="Text 66"/>
          <p:cNvSpPr txBox="1"/>
          <p:nvPr/>
        </p:nvSpPr>
        <p:spPr>
          <a:xfrm>
            <a:off x="8138160" y="3547872"/>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review_at</a:t>
            </a:r>
            <a:endParaRPr lang="en-US" sz="850" dirty="0"/>
          </a:p>
        </p:txBody>
      </p:sp>
      <p:sp>
        <p:nvSpPr>
          <p:cNvPr id="74" name="Shape 67"/>
          <p:cNvSpPr/>
          <p:nvPr/>
        </p:nvSpPr>
        <p:spPr>
          <a:xfrm>
            <a:off x="8138160" y="3941064"/>
            <a:ext cx="1499616" cy="329184"/>
          </a:xfrm>
          <a:prstGeom prst="roundRect">
            <a:avLst>
              <a:gd name="adj" fmla="val 13889"/>
            </a:avLst>
          </a:prstGeom>
          <a:solidFill>
            <a:srgbClr val="FFFFFF"/>
          </a:solidFill>
          <a:ln w="9525">
            <a:solidFill>
              <a:srgbClr val="D5DDE9"/>
            </a:solidFill>
            <a:prstDash val="solid"/>
          </a:ln>
        </p:spPr>
      </p:sp>
      <p:sp>
        <p:nvSpPr>
          <p:cNvPr id="75" name="Text 68"/>
          <p:cNvSpPr txBox="1"/>
          <p:nvPr/>
        </p:nvSpPr>
        <p:spPr>
          <a:xfrm>
            <a:off x="8138160" y="3941064"/>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expires_at</a:t>
            </a:r>
            <a:endParaRPr lang="en-US" sz="850" dirty="0"/>
          </a:p>
        </p:txBody>
      </p:sp>
      <p:sp>
        <p:nvSpPr>
          <p:cNvPr id="76" name="Shape 69"/>
          <p:cNvSpPr/>
          <p:nvPr/>
        </p:nvSpPr>
        <p:spPr>
          <a:xfrm>
            <a:off x="8138160" y="4334256"/>
            <a:ext cx="1499616" cy="329184"/>
          </a:xfrm>
          <a:prstGeom prst="roundRect">
            <a:avLst>
              <a:gd name="adj" fmla="val 13889"/>
            </a:avLst>
          </a:prstGeom>
          <a:solidFill>
            <a:srgbClr val="DDF0ED"/>
          </a:solidFill>
          <a:ln w="9525">
            <a:solidFill>
              <a:srgbClr val="12867A"/>
            </a:solidFill>
            <a:prstDash val="solid"/>
          </a:ln>
        </p:spPr>
      </p:sp>
      <p:sp>
        <p:nvSpPr>
          <p:cNvPr id="77" name="Text 70"/>
          <p:cNvSpPr txBox="1"/>
          <p:nvPr/>
        </p:nvSpPr>
        <p:spPr>
          <a:xfrm>
            <a:off x="8138160" y="4334256"/>
            <a:ext cx="1499616" cy="329184"/>
          </a:xfrm>
          <a:prstGeom prst="rect">
            <a:avLst/>
          </a:prstGeom>
          <a:noFill/>
          <a:ln/>
        </p:spPr>
        <p:txBody>
          <a:bodyPr wrap="square" lIns="0" tIns="0" rIns="0" bIns="0" rtlCol="0" anchor="ctr"/>
          <a:lstStyle/>
          <a:p>
            <a:pPr algn="ctr" indent="0" marL="0">
              <a:buNone/>
            </a:pPr>
            <a:r>
              <a:rPr lang="en-US" sz="850" b="1" dirty="0">
                <a:solidFill>
                  <a:srgbClr val="12867A"/>
                </a:solidFill>
                <a:latin typeface="Courier New" pitchFamily="34" charset="0"/>
                <a:ea typeface="Courier New" pitchFamily="34" charset="-122"/>
                <a:cs typeface="Courier New" pitchFamily="34" charset="-120"/>
              </a:rPr>
              <a:t>last_retrieved_at</a:t>
            </a:r>
            <a:endParaRPr lang="en-US" sz="850" dirty="0"/>
          </a:p>
        </p:txBody>
      </p:sp>
      <p:sp>
        <p:nvSpPr>
          <p:cNvPr id="78" name="Shape 71"/>
          <p:cNvSpPr/>
          <p:nvPr/>
        </p:nvSpPr>
        <p:spPr>
          <a:xfrm>
            <a:off x="9875520" y="1371600"/>
            <a:ext cx="1755648" cy="4206240"/>
          </a:xfrm>
          <a:prstGeom prst="roundRect">
            <a:avLst>
              <a:gd name="adj" fmla="val 4167"/>
            </a:avLst>
          </a:prstGeom>
          <a:solidFill>
            <a:srgbClr val="F7F9FC"/>
          </a:solidFill>
          <a:ln w="9525">
            <a:solidFill>
              <a:srgbClr val="D5DDE9"/>
            </a:solidFill>
            <a:prstDash val="solid"/>
          </a:ln>
        </p:spPr>
      </p:sp>
      <p:sp>
        <p:nvSpPr>
          <p:cNvPr id="79" name="Shape 72"/>
          <p:cNvSpPr/>
          <p:nvPr/>
        </p:nvSpPr>
        <p:spPr>
          <a:xfrm>
            <a:off x="10460736" y="1554480"/>
            <a:ext cx="585216" cy="585216"/>
          </a:xfrm>
          <a:prstGeom prst="ellipse">
            <a:avLst/>
          </a:prstGeom>
          <a:solidFill>
            <a:srgbClr val="DDF0ED"/>
          </a:solidFill>
          <a:ln w="12700">
            <a:solidFill>
              <a:srgbClr val="DDF0ED"/>
            </a:solidFill>
            <a:prstDash val="solid"/>
          </a:ln>
        </p:spPr>
      </p:sp>
      <p:pic>
        <p:nvPicPr>
          <p:cNvPr id="80" name="Image 5" descr="preencoded.png">    </p:cNvPr>
          <p:cNvPicPr>
            <a:picLocks noChangeAspect="1"/>
          </p:cNvPicPr>
          <p:nvPr/>
        </p:nvPicPr>
        <p:blipFill>
          <a:blip r:embed="rId6"/>
          <a:stretch>
            <a:fillRect/>
          </a:stretch>
        </p:blipFill>
        <p:spPr>
          <a:xfrm>
            <a:off x="10601188" y="1694932"/>
            <a:ext cx="304312" cy="304312"/>
          </a:xfrm>
          <a:prstGeom prst="rect">
            <a:avLst/>
          </a:prstGeom>
        </p:spPr>
      </p:pic>
      <p:sp>
        <p:nvSpPr>
          <p:cNvPr id="81" name="Text 73"/>
          <p:cNvSpPr txBox="1"/>
          <p:nvPr/>
        </p:nvSpPr>
        <p:spPr>
          <a:xfrm>
            <a:off x="9948672" y="2212848"/>
            <a:ext cx="1609344"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Lifecycle &amp; tech</a:t>
            </a:r>
            <a:endParaRPr lang="en-US" sz="1250" dirty="0"/>
          </a:p>
        </p:txBody>
      </p:sp>
      <p:sp>
        <p:nvSpPr>
          <p:cNvPr id="82" name="Shape 74"/>
          <p:cNvSpPr/>
          <p:nvPr/>
        </p:nvSpPr>
        <p:spPr>
          <a:xfrm>
            <a:off x="10195560" y="2651760"/>
            <a:ext cx="1115568" cy="0"/>
          </a:xfrm>
          <a:prstGeom prst="line">
            <a:avLst/>
          </a:prstGeom>
          <a:noFill/>
          <a:ln w="9525">
            <a:solidFill>
              <a:srgbClr val="D5DDE9"/>
            </a:solidFill>
            <a:prstDash val="solid"/>
          </a:ln>
        </p:spPr>
      </p:sp>
      <p:sp>
        <p:nvSpPr>
          <p:cNvPr id="83" name="Shape 75"/>
          <p:cNvSpPr/>
          <p:nvPr/>
        </p:nvSpPr>
        <p:spPr>
          <a:xfrm>
            <a:off x="10003536" y="2761488"/>
            <a:ext cx="1499616" cy="329184"/>
          </a:xfrm>
          <a:prstGeom prst="roundRect">
            <a:avLst>
              <a:gd name="adj" fmla="val 13889"/>
            </a:avLst>
          </a:prstGeom>
          <a:solidFill>
            <a:srgbClr val="FFFFFF"/>
          </a:solidFill>
          <a:ln w="9525">
            <a:solidFill>
              <a:srgbClr val="D5DDE9"/>
            </a:solidFill>
            <a:prstDash val="solid"/>
          </a:ln>
        </p:spPr>
      </p:sp>
      <p:sp>
        <p:nvSpPr>
          <p:cNvPr id="84" name="Text 76"/>
          <p:cNvSpPr txBox="1"/>
          <p:nvPr/>
        </p:nvSpPr>
        <p:spPr>
          <a:xfrm>
            <a:off x="10003536" y="2761488"/>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status</a:t>
            </a:r>
            <a:endParaRPr lang="en-US" sz="850" dirty="0"/>
          </a:p>
        </p:txBody>
      </p:sp>
      <p:sp>
        <p:nvSpPr>
          <p:cNvPr id="85" name="Shape 77"/>
          <p:cNvSpPr/>
          <p:nvPr/>
        </p:nvSpPr>
        <p:spPr>
          <a:xfrm>
            <a:off x="10003536" y="3154680"/>
            <a:ext cx="1499616" cy="329184"/>
          </a:xfrm>
          <a:prstGeom prst="roundRect">
            <a:avLst>
              <a:gd name="adj" fmla="val 13889"/>
            </a:avLst>
          </a:prstGeom>
          <a:solidFill>
            <a:srgbClr val="FFFFFF"/>
          </a:solidFill>
          <a:ln w="9525">
            <a:solidFill>
              <a:srgbClr val="D5DDE9"/>
            </a:solidFill>
            <a:prstDash val="solid"/>
          </a:ln>
        </p:spPr>
      </p:sp>
      <p:sp>
        <p:nvSpPr>
          <p:cNvPr id="86" name="Text 78"/>
          <p:cNvSpPr txBox="1"/>
          <p:nvPr/>
        </p:nvSpPr>
        <p:spPr>
          <a:xfrm>
            <a:off x="10003536" y="3154680"/>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legal_hold</a:t>
            </a:r>
            <a:endParaRPr lang="en-US" sz="850" dirty="0"/>
          </a:p>
        </p:txBody>
      </p:sp>
      <p:sp>
        <p:nvSpPr>
          <p:cNvPr id="87" name="Shape 79"/>
          <p:cNvSpPr/>
          <p:nvPr/>
        </p:nvSpPr>
        <p:spPr>
          <a:xfrm>
            <a:off x="10003536" y="3547872"/>
            <a:ext cx="1499616" cy="329184"/>
          </a:xfrm>
          <a:prstGeom prst="roundRect">
            <a:avLst>
              <a:gd name="adj" fmla="val 13889"/>
            </a:avLst>
          </a:prstGeom>
          <a:solidFill>
            <a:srgbClr val="FFFFFF"/>
          </a:solidFill>
          <a:ln w="9525">
            <a:solidFill>
              <a:srgbClr val="D5DDE9"/>
            </a:solidFill>
            <a:prstDash val="solid"/>
          </a:ln>
        </p:spPr>
      </p:sp>
      <p:sp>
        <p:nvSpPr>
          <p:cNvPr id="88" name="Text 80"/>
          <p:cNvSpPr txBox="1"/>
          <p:nvPr/>
        </p:nvSpPr>
        <p:spPr>
          <a:xfrm>
            <a:off x="10003536" y="3547872"/>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backend</a:t>
            </a:r>
            <a:endParaRPr lang="en-US" sz="850" dirty="0"/>
          </a:p>
        </p:txBody>
      </p:sp>
      <p:sp>
        <p:nvSpPr>
          <p:cNvPr id="89" name="Shape 81"/>
          <p:cNvSpPr/>
          <p:nvPr/>
        </p:nvSpPr>
        <p:spPr>
          <a:xfrm>
            <a:off x="10003536" y="3941064"/>
            <a:ext cx="1499616" cy="329184"/>
          </a:xfrm>
          <a:prstGeom prst="roundRect">
            <a:avLst>
              <a:gd name="adj" fmla="val 13889"/>
            </a:avLst>
          </a:prstGeom>
          <a:solidFill>
            <a:srgbClr val="FFFFFF"/>
          </a:solidFill>
          <a:ln w="9525">
            <a:solidFill>
              <a:srgbClr val="D5DDE9"/>
            </a:solidFill>
            <a:prstDash val="solid"/>
          </a:ln>
        </p:spPr>
      </p:sp>
      <p:sp>
        <p:nvSpPr>
          <p:cNvPr id="90" name="Text 82"/>
          <p:cNvSpPr txBox="1"/>
          <p:nvPr/>
        </p:nvSpPr>
        <p:spPr>
          <a:xfrm>
            <a:off x="10003536" y="3941064"/>
            <a:ext cx="1499616" cy="329184"/>
          </a:xfrm>
          <a:prstGeom prst="rect">
            <a:avLst/>
          </a:prstGeom>
          <a:noFill/>
          <a:ln/>
        </p:spPr>
        <p:txBody>
          <a:bodyPr wrap="square" lIns="0" tIns="0" rIns="0" bIns="0" rtlCol="0" anchor="ctr"/>
          <a:lstStyle/>
          <a:p>
            <a:pPr algn="ctr" indent="0" marL="0">
              <a:buNone/>
            </a:pPr>
            <a:r>
              <a:rPr lang="en-US" sz="850" b="1" dirty="0">
                <a:solidFill>
                  <a:srgbClr val="1F2937"/>
                </a:solidFill>
                <a:latin typeface="Courier New" pitchFamily="34" charset="0"/>
                <a:ea typeface="Courier New" pitchFamily="34" charset="-122"/>
                <a:cs typeface="Courier New" pitchFamily="34" charset="-120"/>
              </a:rPr>
              <a:t>model / prompt / schema version</a:t>
            </a:r>
            <a:endParaRPr lang="en-US" sz="850" dirty="0"/>
          </a:p>
        </p:txBody>
      </p:sp>
      <p:sp>
        <p:nvSpPr>
          <p:cNvPr id="91" name="Shape 83"/>
          <p:cNvSpPr/>
          <p:nvPr/>
        </p:nvSpPr>
        <p:spPr>
          <a:xfrm>
            <a:off x="10003536" y="4334256"/>
            <a:ext cx="1499616" cy="329184"/>
          </a:xfrm>
          <a:prstGeom prst="roundRect">
            <a:avLst>
              <a:gd name="adj" fmla="val 13889"/>
            </a:avLst>
          </a:prstGeom>
          <a:solidFill>
            <a:srgbClr val="DDF0ED"/>
          </a:solidFill>
          <a:ln w="9525">
            <a:solidFill>
              <a:srgbClr val="12867A"/>
            </a:solidFill>
            <a:prstDash val="solid"/>
          </a:ln>
        </p:spPr>
      </p:sp>
      <p:sp>
        <p:nvSpPr>
          <p:cNvPr id="92" name="Text 84"/>
          <p:cNvSpPr txBox="1"/>
          <p:nvPr/>
        </p:nvSpPr>
        <p:spPr>
          <a:xfrm>
            <a:off x="10003536" y="4334256"/>
            <a:ext cx="1499616" cy="329184"/>
          </a:xfrm>
          <a:prstGeom prst="rect">
            <a:avLst/>
          </a:prstGeom>
          <a:noFill/>
          <a:ln/>
        </p:spPr>
        <p:txBody>
          <a:bodyPr wrap="square" lIns="0" tIns="0" rIns="0" bIns="0" rtlCol="0" anchor="ctr"/>
          <a:lstStyle/>
          <a:p>
            <a:pPr algn="ctr" indent="0" marL="0">
              <a:buNone/>
            </a:pPr>
            <a:r>
              <a:rPr lang="en-US" sz="850" b="1" dirty="0">
                <a:solidFill>
                  <a:srgbClr val="12867A"/>
                </a:solidFill>
                <a:latin typeface="Courier New" pitchFamily="34" charset="0"/>
                <a:ea typeface="Courier New" pitchFamily="34" charset="-122"/>
                <a:cs typeface="Courier New" pitchFamily="34" charset="-120"/>
              </a:rPr>
              <a:t>retrieval_count</a:t>
            </a:r>
            <a:endParaRPr lang="en-US" sz="850" dirty="0"/>
          </a:p>
        </p:txBody>
      </p:sp>
      <p:sp>
        <p:nvSpPr>
          <p:cNvPr id="93" name="Text 85"/>
          <p:cNvSpPr txBox="1"/>
          <p:nvPr/>
        </p:nvSpPr>
        <p:spPr>
          <a:xfrm>
            <a:off x="548640" y="5650992"/>
            <a:ext cx="11094415" cy="274320"/>
          </a:xfrm>
          <a:prstGeom prst="rect">
            <a:avLst/>
          </a:prstGeom>
          <a:noFill/>
          <a:ln/>
        </p:spPr>
        <p:txBody>
          <a:bodyPr wrap="square" lIns="0" tIns="0" rIns="0" bIns="0" rtlCol="0" anchor="t"/>
          <a:lstStyle/>
          <a:p>
            <a:pPr indent="0" marL="0">
              <a:buNone/>
            </a:pPr>
            <a:r>
              <a:rPr lang="en-US" sz="1000" b="1" dirty="0">
                <a:solidFill>
                  <a:srgbClr val="12867A"/>
                </a:solidFill>
                <a:latin typeface="Calibri" pitchFamily="34" charset="0"/>
                <a:ea typeface="Calibri" pitchFamily="34" charset="-122"/>
                <a:cs typeface="Calibri" pitchFamily="34" charset="-120"/>
              </a:rPr>
              <a:t>Teal fields </a:t>
            </a:r>
            <a:pPr indent="0" marL="0">
              <a:buNone/>
            </a:pPr>
            <a:r>
              <a:rPr lang="en-US" sz="1000" dirty="0">
                <a:solidFill>
                  <a:srgbClr val="5C6B80"/>
                </a:solidFill>
                <a:latin typeface="Calibri" pitchFamily="34" charset="0"/>
                <a:ea typeface="Calibri" pitchFamily="34" charset="-122"/>
                <a:cs typeface="Calibri" pitchFamily="34" charset="-120"/>
              </a:rPr>
              <a:t>added in design review — they are what the conformance tests and metrics actually consume. derivation + authority + assertion_type + confidence + verification form one defined trust tuple.</a:t>
            </a:r>
            <a:endParaRPr lang="en-US" sz="1000" dirty="0"/>
          </a:p>
        </p:txBody>
      </p:sp>
      <p:sp>
        <p:nvSpPr>
          <p:cNvPr id="94" name="Shape 86"/>
          <p:cNvSpPr/>
          <p:nvPr/>
        </p:nvSpPr>
        <p:spPr>
          <a:xfrm>
            <a:off x="548640" y="5943600"/>
            <a:ext cx="11094415" cy="438912"/>
          </a:xfrm>
          <a:prstGeom prst="roundRect">
            <a:avLst>
              <a:gd name="adj" fmla="val 20833"/>
            </a:avLst>
          </a:prstGeom>
          <a:solidFill>
            <a:srgbClr val="0B1F3A"/>
          </a:solidFill>
          <a:ln w="12700">
            <a:solidFill>
              <a:srgbClr val="0B1F3A"/>
            </a:solidFill>
            <a:prstDash val="solid"/>
          </a:ln>
        </p:spPr>
      </p:sp>
      <p:sp>
        <p:nvSpPr>
          <p:cNvPr id="95" name="Text 87"/>
          <p:cNvSpPr txBox="1"/>
          <p:nvPr/>
        </p:nvSpPr>
        <p:spPr>
          <a:xfrm>
            <a:off x="822960" y="5943600"/>
            <a:ext cx="10545775" cy="43891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Not every field is physically duplicated per record — but every field must be reconstructible through inheritance, and effective_policy_hash proves the resolved policy has not drifted.</a:t>
            </a:r>
            <a:endParaRPr lang="en-US" sz="1100" dirty="0"/>
          </a:p>
        </p:txBody>
      </p:sp>
      <p:sp>
        <p:nvSpPr>
          <p:cNvPr id="96" name="Text 88"/>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Contract detail in the research memorandum, Section 11.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Graph edge governance: where profiling happens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31</a:t>
            </a:r>
            <a:endParaRPr lang="en-US" sz="900" dirty="0"/>
          </a:p>
        </p:txBody>
      </p:sp>
      <p:sp>
        <p:nvSpPr>
          <p:cNvPr id="5" name="Shape 3"/>
          <p:cNvSpPr/>
          <p:nvPr/>
        </p:nvSpPr>
        <p:spPr>
          <a:xfrm>
            <a:off x="2148840" y="3497580"/>
            <a:ext cx="2788920" cy="0"/>
          </a:xfrm>
          <a:prstGeom prst="line">
            <a:avLst/>
          </a:prstGeom>
          <a:noFill/>
          <a:ln w="31750">
            <a:solidFill>
              <a:srgbClr val="0B1F3A"/>
            </a:solidFill>
            <a:prstDash val="solid"/>
            <a:tailEnd type="triangle"/>
          </a:ln>
        </p:spPr>
      </p:sp>
      <p:sp>
        <p:nvSpPr>
          <p:cNvPr id="6" name="Shape 4"/>
          <p:cNvSpPr/>
          <p:nvPr/>
        </p:nvSpPr>
        <p:spPr>
          <a:xfrm>
            <a:off x="1188720" y="3017520"/>
            <a:ext cx="960120" cy="960120"/>
          </a:xfrm>
          <a:prstGeom prst="ellipse">
            <a:avLst/>
          </a:prstGeom>
          <a:solidFill>
            <a:srgbClr val="0B1F3A"/>
          </a:solidFill>
          <a:ln w="12700">
            <a:solidFill>
              <a:srgbClr val="0B1F3A"/>
            </a:solidFill>
            <a:prstDash val="solid"/>
          </a:ln>
        </p:spPr>
      </p:sp>
      <p:sp>
        <p:nvSpPr>
          <p:cNvPr id="7" name="Text 5"/>
          <p:cNvSpPr txBox="1"/>
          <p:nvPr/>
        </p:nvSpPr>
        <p:spPr>
          <a:xfrm>
            <a:off x="1188720" y="3017520"/>
            <a:ext cx="96012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User</a:t>
            </a:r>
            <a:endParaRPr lang="en-US" sz="1300" dirty="0"/>
          </a:p>
        </p:txBody>
      </p:sp>
      <p:sp>
        <p:nvSpPr>
          <p:cNvPr id="8" name="Shape 6"/>
          <p:cNvSpPr/>
          <p:nvPr/>
        </p:nvSpPr>
        <p:spPr>
          <a:xfrm>
            <a:off x="4937760" y="3017520"/>
            <a:ext cx="960120" cy="960120"/>
          </a:xfrm>
          <a:prstGeom prst="ellipse">
            <a:avLst/>
          </a:prstGeom>
          <a:solidFill>
            <a:srgbClr val="12867A"/>
          </a:solidFill>
          <a:ln w="12700">
            <a:solidFill>
              <a:srgbClr val="12867A"/>
            </a:solidFill>
            <a:prstDash val="solid"/>
          </a:ln>
        </p:spPr>
      </p:sp>
      <p:sp>
        <p:nvSpPr>
          <p:cNvPr id="9" name="Text 7"/>
          <p:cNvSpPr txBox="1"/>
          <p:nvPr/>
        </p:nvSpPr>
        <p:spPr>
          <a:xfrm>
            <a:off x="4937760" y="3017520"/>
            <a:ext cx="960120"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Preference</a:t>
            </a:r>
            <a:endParaRPr lang="en-US" sz="1100" dirty="0"/>
          </a:p>
        </p:txBody>
      </p:sp>
      <p:sp>
        <p:nvSpPr>
          <p:cNvPr id="10" name="Shape 8"/>
          <p:cNvSpPr/>
          <p:nvPr/>
        </p:nvSpPr>
        <p:spPr>
          <a:xfrm>
            <a:off x="2651760" y="3063240"/>
            <a:ext cx="1554480" cy="384048"/>
          </a:xfrm>
          <a:prstGeom prst="roundRect">
            <a:avLst>
              <a:gd name="adj" fmla="val 47619"/>
            </a:avLst>
          </a:prstGeom>
          <a:solidFill>
            <a:srgbClr val="D98E04"/>
          </a:solidFill>
          <a:ln w="12700">
            <a:solidFill>
              <a:srgbClr val="D98E04"/>
            </a:solidFill>
            <a:prstDash val="solid"/>
          </a:ln>
        </p:spPr>
      </p:sp>
      <p:sp>
        <p:nvSpPr>
          <p:cNvPr id="11" name="Text 9"/>
          <p:cNvSpPr txBox="1"/>
          <p:nvPr/>
        </p:nvSpPr>
        <p:spPr>
          <a:xfrm>
            <a:off x="2651760" y="3063240"/>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PREFERS</a:t>
            </a:r>
            <a:endParaRPr lang="en-US" sz="1100" dirty="0"/>
          </a:p>
        </p:txBody>
      </p:sp>
      <p:sp>
        <p:nvSpPr>
          <p:cNvPr id="12" name="Text 10"/>
          <p:cNvSpPr txBox="1"/>
          <p:nvPr/>
        </p:nvSpPr>
        <p:spPr>
          <a:xfrm>
            <a:off x="822960" y="4206240"/>
            <a:ext cx="5303520" cy="731520"/>
          </a:xfrm>
          <a:prstGeom prst="rect">
            <a:avLst/>
          </a:prstGeom>
          <a:noFill/>
          <a:ln/>
        </p:spPr>
        <p:txBody>
          <a:bodyPr wrap="square" lIns="0" tIns="0" rIns="0" bIns="0" rtlCol="0" anchor="t"/>
          <a:lstStyle/>
          <a:p>
            <a:pPr algn="ctr" indent="0" marL="0">
              <a:buNone/>
            </a:pPr>
            <a:r>
              <a:rPr lang="en-US" sz="1150" i="1" dirty="0">
                <a:solidFill>
                  <a:srgbClr val="5C6B80"/>
                </a:solidFill>
                <a:latin typeface="Calibri" pitchFamily="34" charset="0"/>
                <a:ea typeface="Calibri" pitchFamily="34" charset="-122"/>
                <a:cs typeface="Calibri" pitchFamily="34" charset="-120"/>
              </a:rPr>
              <a:t>Low-risk on its face — but an inferred edge is a profiling decision, and profiling is a regulated activity.</a:t>
            </a:r>
            <a:endParaRPr lang="en-US" sz="1150" dirty="0"/>
          </a:p>
        </p:txBody>
      </p:sp>
      <p:sp>
        <p:nvSpPr>
          <p:cNvPr id="13" name="Text 11"/>
          <p:cNvSpPr txBox="1"/>
          <p:nvPr/>
        </p:nvSpPr>
        <p:spPr>
          <a:xfrm>
            <a:off x="822960" y="1417320"/>
            <a:ext cx="5303520" cy="457200"/>
          </a:xfrm>
          <a:prstGeom prst="rect">
            <a:avLst/>
          </a:prstGeom>
          <a:noFill/>
          <a:ln/>
        </p:spPr>
        <p:txBody>
          <a:bodyPr wrap="square" lIns="0" tIns="0" rIns="0" bIns="0" rtlCol="0" anchor="t"/>
          <a:lstStyle/>
          <a:p>
            <a:pPr algn="ctr" indent="0" marL="0">
              <a:buNone/>
            </a:pPr>
            <a:r>
              <a:rPr lang="en-US" sz="1200" b="1" dirty="0">
                <a:solidFill>
                  <a:srgbClr val="0B1F3A"/>
                </a:solidFill>
                <a:latin typeface="Calibri" pitchFamily="34" charset="0"/>
                <a:ea typeface="Calibri" pitchFamily="34" charset="-122"/>
                <a:cs typeface="Calibri" pitchFamily="34" charset="-120"/>
              </a:rPr>
              <a:t>the edge, not the entity, is where GDPR Art. 22 and AI Act Art. 5 bite</a:t>
            </a:r>
            <a:endParaRPr lang="en-US" sz="1200" dirty="0"/>
          </a:p>
        </p:txBody>
      </p:sp>
      <p:sp>
        <p:nvSpPr>
          <p:cNvPr id="14" name="Text 12"/>
          <p:cNvSpPr txBox="1"/>
          <p:nvPr/>
        </p:nvSpPr>
        <p:spPr>
          <a:xfrm>
            <a:off x="2377440" y="3520440"/>
            <a:ext cx="2194560" cy="822960"/>
          </a:xfrm>
          <a:prstGeom prst="rect">
            <a:avLst/>
          </a:prstGeom>
          <a:noFill/>
          <a:ln/>
        </p:spPr>
        <p:txBody>
          <a:bodyPr wrap="square" lIns="0" tIns="0" rIns="0" bIns="0" rtlCol="0" anchor="t"/>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derivation: inferred</a:t>
            </a:r>
            <a:endParaRPr lang="en-US" sz="950" dirty="0"/>
          </a:p>
          <a:p>
            <a:pPr algn="ctr" indent="0" marL="0">
              <a:buNone/>
            </a:pPr>
            <a:r>
              <a:rPr lang="en-US" sz="950" dirty="0">
                <a:solidFill>
                  <a:srgbClr val="1F2937"/>
                </a:solidFill>
                <a:latin typeface="Courier New" pitchFamily="34" charset="0"/>
                <a:ea typeface="Courier New" pitchFamily="34" charset="-122"/>
                <a:cs typeface="Courier New" pitchFamily="34" charset="-120"/>
              </a:rPr>
              <a:t>confidence: 0.62</a:t>
            </a:r>
            <a:endParaRPr lang="en-US" sz="950" dirty="0"/>
          </a:p>
          <a:p>
            <a:pPr algn="ctr" indent="0" marL="0">
              <a:buNone/>
            </a:pPr>
            <a:r>
              <a:rPr lang="en-US" sz="950" dirty="0">
                <a:solidFill>
                  <a:srgbClr val="1F2937"/>
                </a:solidFill>
                <a:latin typeface="Courier New" pitchFamily="34" charset="0"/>
                <a:ea typeface="Courier New" pitchFamily="34" charset="-122"/>
                <a:cs typeface="Courier New" pitchFamily="34" charset="-120"/>
              </a:rPr>
              <a:t>valid: 2026-03 → ?</a:t>
            </a:r>
            <a:endParaRPr lang="en-US" sz="950" dirty="0"/>
          </a:p>
        </p:txBody>
      </p:sp>
      <p:sp>
        <p:nvSpPr>
          <p:cNvPr id="15" name="Shape 13"/>
          <p:cNvSpPr/>
          <p:nvPr/>
        </p:nvSpPr>
        <p:spPr>
          <a:xfrm>
            <a:off x="6675120" y="1371600"/>
            <a:ext cx="4983480" cy="4023360"/>
          </a:xfrm>
          <a:prstGeom prst="roundRect">
            <a:avLst>
              <a:gd name="adj" fmla="val 1818"/>
            </a:avLst>
          </a:prstGeom>
          <a:solidFill>
            <a:srgbClr val="F7F9FC"/>
          </a:solidFill>
          <a:ln w="9525">
            <a:solidFill>
              <a:srgbClr val="D5DDE9"/>
            </a:solidFill>
            <a:prstDash val="solid"/>
          </a:ln>
        </p:spPr>
      </p:sp>
      <p:sp>
        <p:nvSpPr>
          <p:cNvPr id="16" name="Text 14"/>
          <p:cNvSpPr txBox="1"/>
          <p:nvPr/>
        </p:nvSpPr>
        <p:spPr>
          <a:xfrm>
            <a:off x="6903720" y="1508760"/>
            <a:ext cx="4572000"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Required edge metadata</a:t>
            </a:r>
            <a:endParaRPr lang="en-US" sz="1400" dirty="0"/>
          </a:p>
        </p:txBody>
      </p:sp>
      <p:sp>
        <p:nvSpPr>
          <p:cNvPr id="17" name="Shape 15"/>
          <p:cNvSpPr/>
          <p:nvPr/>
        </p:nvSpPr>
        <p:spPr>
          <a:xfrm>
            <a:off x="6949440" y="2075688"/>
            <a:ext cx="182880" cy="182880"/>
          </a:xfrm>
          <a:prstGeom prst="ellipse">
            <a:avLst/>
          </a:prstGeom>
          <a:solidFill>
            <a:srgbClr val="D98E04"/>
          </a:solidFill>
          <a:ln w="12700">
            <a:solidFill>
              <a:srgbClr val="D98E04"/>
            </a:solidFill>
            <a:prstDash val="solid"/>
          </a:ln>
        </p:spPr>
      </p:sp>
      <p:sp>
        <p:nvSpPr>
          <p:cNvPr id="18" name="Text 16"/>
          <p:cNvSpPr txBox="1"/>
          <p:nvPr/>
        </p:nvSpPr>
        <p:spPr>
          <a:xfrm>
            <a:off x="7269480" y="1965960"/>
            <a:ext cx="1371600" cy="402336"/>
          </a:xfrm>
          <a:prstGeom prst="rect">
            <a:avLst/>
          </a:prstGeom>
          <a:noFill/>
          <a:ln/>
        </p:spPr>
        <p:txBody>
          <a:bodyPr wrap="square" lIns="0" tIns="0" rIns="0" bIns="0" rtlCol="0" anchor="ctr"/>
          <a:lstStyle/>
          <a:p>
            <a:pPr indent="0" marL="0">
              <a:buNone/>
            </a:pPr>
            <a:r>
              <a:rPr lang="en-US" sz="1050" b="1" dirty="0">
                <a:solidFill>
                  <a:srgbClr val="0B1F3A"/>
                </a:solidFill>
                <a:latin typeface="Courier New" pitchFamily="34" charset="0"/>
                <a:ea typeface="Courier New" pitchFamily="34" charset="-122"/>
                <a:cs typeface="Courier New" pitchFamily="34" charset="-120"/>
              </a:rPr>
              <a:t>derivation</a:t>
            </a:r>
            <a:endParaRPr lang="en-US" sz="1050" dirty="0"/>
          </a:p>
        </p:txBody>
      </p:sp>
      <p:sp>
        <p:nvSpPr>
          <p:cNvPr id="19" name="Text 17"/>
          <p:cNvSpPr txBox="1"/>
          <p:nvPr/>
        </p:nvSpPr>
        <p:spPr>
          <a:xfrm>
            <a:off x="8641080" y="1965960"/>
            <a:ext cx="292608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explicit / extracted / inferred / predicted</a:t>
            </a:r>
            <a:endParaRPr lang="en-US" sz="1100" dirty="0"/>
          </a:p>
        </p:txBody>
      </p:sp>
      <p:sp>
        <p:nvSpPr>
          <p:cNvPr id="20" name="Shape 18"/>
          <p:cNvSpPr/>
          <p:nvPr/>
        </p:nvSpPr>
        <p:spPr>
          <a:xfrm>
            <a:off x="6949440" y="2532888"/>
            <a:ext cx="182880" cy="182880"/>
          </a:xfrm>
          <a:prstGeom prst="ellipse">
            <a:avLst/>
          </a:prstGeom>
          <a:solidFill>
            <a:srgbClr val="12867A"/>
          </a:solidFill>
          <a:ln w="12700">
            <a:solidFill>
              <a:srgbClr val="12867A"/>
            </a:solidFill>
            <a:prstDash val="solid"/>
          </a:ln>
        </p:spPr>
      </p:sp>
      <p:sp>
        <p:nvSpPr>
          <p:cNvPr id="21" name="Text 19"/>
          <p:cNvSpPr txBox="1"/>
          <p:nvPr/>
        </p:nvSpPr>
        <p:spPr>
          <a:xfrm>
            <a:off x="7269480" y="2423160"/>
            <a:ext cx="1371600" cy="402336"/>
          </a:xfrm>
          <a:prstGeom prst="rect">
            <a:avLst/>
          </a:prstGeom>
          <a:noFill/>
          <a:ln/>
        </p:spPr>
        <p:txBody>
          <a:bodyPr wrap="square" lIns="0" tIns="0" rIns="0" bIns="0" rtlCol="0" anchor="ctr"/>
          <a:lstStyle/>
          <a:p>
            <a:pPr indent="0" marL="0">
              <a:buNone/>
            </a:pPr>
            <a:r>
              <a:rPr lang="en-US" sz="1050" b="1" dirty="0">
                <a:solidFill>
                  <a:srgbClr val="0B1F3A"/>
                </a:solidFill>
                <a:latin typeface="Courier New" pitchFamily="34" charset="0"/>
                <a:ea typeface="Courier New" pitchFamily="34" charset="-122"/>
                <a:cs typeface="Courier New" pitchFamily="34" charset="-120"/>
              </a:rPr>
              <a:t>source</a:t>
            </a:r>
            <a:endParaRPr lang="en-US" sz="1050" dirty="0"/>
          </a:p>
        </p:txBody>
      </p:sp>
      <p:sp>
        <p:nvSpPr>
          <p:cNvPr id="22" name="Text 20"/>
          <p:cNvSpPr txBox="1"/>
          <p:nvPr/>
        </p:nvSpPr>
        <p:spPr>
          <a:xfrm>
            <a:off x="8641080" y="2423160"/>
            <a:ext cx="292608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episode + source authority</a:t>
            </a:r>
            <a:endParaRPr lang="en-US" sz="1100" dirty="0"/>
          </a:p>
        </p:txBody>
      </p:sp>
      <p:sp>
        <p:nvSpPr>
          <p:cNvPr id="23" name="Shape 21"/>
          <p:cNvSpPr/>
          <p:nvPr/>
        </p:nvSpPr>
        <p:spPr>
          <a:xfrm>
            <a:off x="6949440" y="2990088"/>
            <a:ext cx="182880" cy="182880"/>
          </a:xfrm>
          <a:prstGeom prst="ellipse">
            <a:avLst/>
          </a:prstGeom>
          <a:solidFill>
            <a:srgbClr val="D98E04"/>
          </a:solidFill>
          <a:ln w="12700">
            <a:solidFill>
              <a:srgbClr val="D98E04"/>
            </a:solidFill>
            <a:prstDash val="solid"/>
          </a:ln>
        </p:spPr>
      </p:sp>
      <p:sp>
        <p:nvSpPr>
          <p:cNvPr id="24" name="Text 22"/>
          <p:cNvSpPr txBox="1"/>
          <p:nvPr/>
        </p:nvSpPr>
        <p:spPr>
          <a:xfrm>
            <a:off x="7269480" y="2880360"/>
            <a:ext cx="1371600" cy="402336"/>
          </a:xfrm>
          <a:prstGeom prst="rect">
            <a:avLst/>
          </a:prstGeom>
          <a:noFill/>
          <a:ln/>
        </p:spPr>
        <p:txBody>
          <a:bodyPr wrap="square" lIns="0" tIns="0" rIns="0" bIns="0" rtlCol="0" anchor="ctr"/>
          <a:lstStyle/>
          <a:p>
            <a:pPr indent="0" marL="0">
              <a:buNone/>
            </a:pPr>
            <a:r>
              <a:rPr lang="en-US" sz="1050" b="1" dirty="0">
                <a:solidFill>
                  <a:srgbClr val="0B1F3A"/>
                </a:solidFill>
                <a:latin typeface="Courier New" pitchFamily="34" charset="0"/>
                <a:ea typeface="Courier New" pitchFamily="34" charset="-122"/>
                <a:cs typeface="Courier New" pitchFamily="34" charset="-120"/>
              </a:rPr>
              <a:t>confidence</a:t>
            </a:r>
            <a:endParaRPr lang="en-US" sz="1050" dirty="0"/>
          </a:p>
        </p:txBody>
      </p:sp>
      <p:sp>
        <p:nvSpPr>
          <p:cNvPr id="25" name="Text 23"/>
          <p:cNvSpPr txBox="1"/>
          <p:nvPr/>
        </p:nvSpPr>
        <p:spPr>
          <a:xfrm>
            <a:off x="8641080" y="2880360"/>
            <a:ext cx="292608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score + verification status</a:t>
            </a:r>
            <a:endParaRPr lang="en-US" sz="1100" dirty="0"/>
          </a:p>
        </p:txBody>
      </p:sp>
      <p:sp>
        <p:nvSpPr>
          <p:cNvPr id="26" name="Shape 24"/>
          <p:cNvSpPr/>
          <p:nvPr/>
        </p:nvSpPr>
        <p:spPr>
          <a:xfrm>
            <a:off x="6949440" y="3447288"/>
            <a:ext cx="182880" cy="182880"/>
          </a:xfrm>
          <a:prstGeom prst="ellipse">
            <a:avLst/>
          </a:prstGeom>
          <a:solidFill>
            <a:srgbClr val="12867A"/>
          </a:solidFill>
          <a:ln w="12700">
            <a:solidFill>
              <a:srgbClr val="12867A"/>
            </a:solidFill>
            <a:prstDash val="solid"/>
          </a:ln>
        </p:spPr>
      </p:sp>
      <p:sp>
        <p:nvSpPr>
          <p:cNvPr id="27" name="Text 25"/>
          <p:cNvSpPr txBox="1"/>
          <p:nvPr/>
        </p:nvSpPr>
        <p:spPr>
          <a:xfrm>
            <a:off x="7269480" y="3337560"/>
            <a:ext cx="1371600" cy="402336"/>
          </a:xfrm>
          <a:prstGeom prst="rect">
            <a:avLst/>
          </a:prstGeom>
          <a:noFill/>
          <a:ln/>
        </p:spPr>
        <p:txBody>
          <a:bodyPr wrap="square" lIns="0" tIns="0" rIns="0" bIns="0" rtlCol="0" anchor="ctr"/>
          <a:lstStyle/>
          <a:p>
            <a:pPr indent="0" marL="0">
              <a:buNone/>
            </a:pPr>
            <a:r>
              <a:rPr lang="en-US" sz="1050" b="1" dirty="0">
                <a:solidFill>
                  <a:srgbClr val="0B1F3A"/>
                </a:solidFill>
                <a:latin typeface="Courier New" pitchFamily="34" charset="0"/>
                <a:ea typeface="Courier New" pitchFamily="34" charset="-122"/>
                <a:cs typeface="Courier New" pitchFamily="34" charset="-120"/>
              </a:rPr>
              <a:t>validity</a:t>
            </a:r>
            <a:endParaRPr lang="en-US" sz="1050" dirty="0"/>
          </a:p>
        </p:txBody>
      </p:sp>
      <p:sp>
        <p:nvSpPr>
          <p:cNvPr id="28" name="Text 26"/>
          <p:cNvSpPr txBox="1"/>
          <p:nvPr/>
        </p:nvSpPr>
        <p:spPr>
          <a:xfrm>
            <a:off x="8641080" y="3337560"/>
            <a:ext cx="292608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valid_from / valid_to / superseded_by</a:t>
            </a:r>
            <a:endParaRPr lang="en-US" sz="1100" dirty="0"/>
          </a:p>
        </p:txBody>
      </p:sp>
      <p:sp>
        <p:nvSpPr>
          <p:cNvPr id="29" name="Shape 27"/>
          <p:cNvSpPr/>
          <p:nvPr/>
        </p:nvSpPr>
        <p:spPr>
          <a:xfrm>
            <a:off x="6949440" y="3904488"/>
            <a:ext cx="182880" cy="182880"/>
          </a:xfrm>
          <a:prstGeom prst="ellipse">
            <a:avLst/>
          </a:prstGeom>
          <a:solidFill>
            <a:srgbClr val="D98E04"/>
          </a:solidFill>
          <a:ln w="12700">
            <a:solidFill>
              <a:srgbClr val="D98E04"/>
            </a:solidFill>
            <a:prstDash val="solid"/>
          </a:ln>
        </p:spPr>
      </p:sp>
      <p:sp>
        <p:nvSpPr>
          <p:cNvPr id="30" name="Text 28"/>
          <p:cNvSpPr txBox="1"/>
          <p:nvPr/>
        </p:nvSpPr>
        <p:spPr>
          <a:xfrm>
            <a:off x="7269480" y="3794760"/>
            <a:ext cx="1371600" cy="402336"/>
          </a:xfrm>
          <a:prstGeom prst="rect">
            <a:avLst/>
          </a:prstGeom>
          <a:noFill/>
          <a:ln/>
        </p:spPr>
        <p:txBody>
          <a:bodyPr wrap="square" lIns="0" tIns="0" rIns="0" bIns="0" rtlCol="0" anchor="ctr"/>
          <a:lstStyle/>
          <a:p>
            <a:pPr indent="0" marL="0">
              <a:buNone/>
            </a:pPr>
            <a:r>
              <a:rPr lang="en-US" sz="1050" b="1" dirty="0">
                <a:solidFill>
                  <a:srgbClr val="0B1F3A"/>
                </a:solidFill>
                <a:latin typeface="Courier New" pitchFamily="34" charset="0"/>
                <a:ea typeface="Courier New" pitchFamily="34" charset="-122"/>
                <a:cs typeface="Courier New" pitchFamily="34" charset="-120"/>
              </a:rPr>
              <a:t>purpose</a:t>
            </a:r>
            <a:endParaRPr lang="en-US" sz="1050" dirty="0"/>
          </a:p>
        </p:txBody>
      </p:sp>
      <p:sp>
        <p:nvSpPr>
          <p:cNvPr id="31" name="Text 29"/>
          <p:cNvSpPr txBox="1"/>
          <p:nvPr/>
        </p:nvSpPr>
        <p:spPr>
          <a:xfrm>
            <a:off x="8641080" y="3794760"/>
            <a:ext cx="292608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approved purpose + permitted uses</a:t>
            </a:r>
            <a:endParaRPr lang="en-US" sz="1100" dirty="0"/>
          </a:p>
        </p:txBody>
      </p:sp>
      <p:sp>
        <p:nvSpPr>
          <p:cNvPr id="32" name="Shape 30"/>
          <p:cNvSpPr/>
          <p:nvPr/>
        </p:nvSpPr>
        <p:spPr>
          <a:xfrm>
            <a:off x="6949440" y="4361688"/>
            <a:ext cx="182880" cy="182880"/>
          </a:xfrm>
          <a:prstGeom prst="ellipse">
            <a:avLst/>
          </a:prstGeom>
          <a:solidFill>
            <a:srgbClr val="12867A"/>
          </a:solidFill>
          <a:ln w="12700">
            <a:solidFill>
              <a:srgbClr val="12867A"/>
            </a:solidFill>
            <a:prstDash val="solid"/>
          </a:ln>
        </p:spPr>
      </p:sp>
      <p:sp>
        <p:nvSpPr>
          <p:cNvPr id="33" name="Text 31"/>
          <p:cNvSpPr txBox="1"/>
          <p:nvPr/>
        </p:nvSpPr>
        <p:spPr>
          <a:xfrm>
            <a:off x="7269480" y="4251960"/>
            <a:ext cx="1371600" cy="402336"/>
          </a:xfrm>
          <a:prstGeom prst="rect">
            <a:avLst/>
          </a:prstGeom>
          <a:noFill/>
          <a:ln/>
        </p:spPr>
        <p:txBody>
          <a:bodyPr wrap="square" lIns="0" tIns="0" rIns="0" bIns="0" rtlCol="0" anchor="ctr"/>
          <a:lstStyle/>
          <a:p>
            <a:pPr indent="0" marL="0">
              <a:buNone/>
            </a:pPr>
            <a:r>
              <a:rPr lang="en-US" sz="1050" b="1" dirty="0">
                <a:solidFill>
                  <a:srgbClr val="0B1F3A"/>
                </a:solidFill>
                <a:latin typeface="Courier New" pitchFamily="34" charset="0"/>
                <a:ea typeface="Courier New" pitchFamily="34" charset="-122"/>
                <a:cs typeface="Courier New" pitchFamily="34" charset="-120"/>
              </a:rPr>
              <a:t>sensitivity</a:t>
            </a:r>
            <a:endParaRPr lang="en-US" sz="1050" dirty="0"/>
          </a:p>
        </p:txBody>
      </p:sp>
      <p:sp>
        <p:nvSpPr>
          <p:cNvPr id="34" name="Text 32"/>
          <p:cNvSpPr txBox="1"/>
          <p:nvPr/>
        </p:nvSpPr>
        <p:spPr>
          <a:xfrm>
            <a:off x="8641080" y="4251960"/>
            <a:ext cx="292608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class + information barrier</a:t>
            </a:r>
            <a:endParaRPr lang="en-US" sz="1100" dirty="0"/>
          </a:p>
        </p:txBody>
      </p:sp>
      <p:sp>
        <p:nvSpPr>
          <p:cNvPr id="35" name="Shape 33"/>
          <p:cNvSpPr/>
          <p:nvPr/>
        </p:nvSpPr>
        <p:spPr>
          <a:xfrm>
            <a:off x="6949440" y="4818888"/>
            <a:ext cx="182880" cy="182880"/>
          </a:xfrm>
          <a:prstGeom prst="ellipse">
            <a:avLst/>
          </a:prstGeom>
          <a:solidFill>
            <a:srgbClr val="D98E04"/>
          </a:solidFill>
          <a:ln w="12700">
            <a:solidFill>
              <a:srgbClr val="D98E04"/>
            </a:solidFill>
            <a:prstDash val="solid"/>
          </a:ln>
        </p:spPr>
      </p:sp>
      <p:sp>
        <p:nvSpPr>
          <p:cNvPr id="36" name="Text 34"/>
          <p:cNvSpPr txBox="1"/>
          <p:nvPr/>
        </p:nvSpPr>
        <p:spPr>
          <a:xfrm>
            <a:off x="7269480" y="4709160"/>
            <a:ext cx="1371600" cy="402336"/>
          </a:xfrm>
          <a:prstGeom prst="rect">
            <a:avLst/>
          </a:prstGeom>
          <a:noFill/>
          <a:ln/>
        </p:spPr>
        <p:txBody>
          <a:bodyPr wrap="square" lIns="0" tIns="0" rIns="0" bIns="0" rtlCol="0" anchor="ctr"/>
          <a:lstStyle/>
          <a:p>
            <a:pPr indent="0" marL="0">
              <a:buNone/>
            </a:pPr>
            <a:r>
              <a:rPr lang="en-US" sz="1050" b="1" dirty="0">
                <a:solidFill>
                  <a:srgbClr val="0B1F3A"/>
                </a:solidFill>
                <a:latin typeface="Courier New" pitchFamily="34" charset="0"/>
                <a:ea typeface="Courier New" pitchFamily="34" charset="-122"/>
                <a:cs typeface="Courier New" pitchFamily="34" charset="-120"/>
              </a:rPr>
              <a:t>versions</a:t>
            </a:r>
            <a:endParaRPr lang="en-US" sz="1050" dirty="0"/>
          </a:p>
        </p:txBody>
      </p:sp>
      <p:sp>
        <p:nvSpPr>
          <p:cNvPr id="37" name="Text 35"/>
          <p:cNvSpPr txBox="1"/>
          <p:nvPr/>
        </p:nvSpPr>
        <p:spPr>
          <a:xfrm>
            <a:off x="8641080" y="4709160"/>
            <a:ext cx="2926080" cy="402336"/>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policy / model / prompt / schema</a:t>
            </a:r>
            <a:endParaRPr lang="en-US" sz="1100" dirty="0"/>
          </a:p>
        </p:txBody>
      </p:sp>
      <p:sp>
        <p:nvSpPr>
          <p:cNvPr id="38" name="Shape 36"/>
          <p:cNvSpPr/>
          <p:nvPr/>
        </p:nvSpPr>
        <p:spPr>
          <a:xfrm>
            <a:off x="548640" y="5623560"/>
            <a:ext cx="11094415" cy="502920"/>
          </a:xfrm>
          <a:prstGeom prst="roundRect">
            <a:avLst>
              <a:gd name="adj" fmla="val 18182"/>
            </a:avLst>
          </a:prstGeom>
          <a:solidFill>
            <a:srgbClr val="0B1F3A"/>
          </a:solidFill>
          <a:ln w="12700">
            <a:solidFill>
              <a:srgbClr val="0B1F3A"/>
            </a:solidFill>
            <a:prstDash val="solid"/>
          </a:ln>
        </p:spPr>
      </p:sp>
      <p:sp>
        <p:nvSpPr>
          <p:cNvPr id="39" name="Text 37"/>
          <p:cNvSpPr txBox="1"/>
          <p:nvPr/>
        </p:nvSpPr>
        <p:spPr>
          <a:xfrm>
            <a:off x="822960" y="5623560"/>
            <a:ext cx="10545775"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Governance should attach to relationships and inferences — not only to entities.</a:t>
            </a:r>
            <a:endParaRPr lang="en-US" sz="1300" dirty="0"/>
          </a:p>
        </p:txBody>
      </p:sp>
      <p:sp>
        <p:nvSpPr>
          <p:cNvPr id="40" name="Text 38"/>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Memory backend admission test: nine gates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32</a:t>
            </a:r>
            <a:endParaRPr lang="en-US" sz="900" dirty="0"/>
          </a:p>
        </p:txBody>
      </p:sp>
      <p:sp>
        <p:nvSpPr>
          <p:cNvPr id="5" name="Shape 3"/>
          <p:cNvSpPr/>
          <p:nvPr/>
        </p:nvSpPr>
        <p:spPr>
          <a:xfrm>
            <a:off x="548640" y="1417320"/>
            <a:ext cx="1133856" cy="3017520"/>
          </a:xfrm>
          <a:prstGeom prst="roundRect">
            <a:avLst>
              <a:gd name="adj" fmla="val 6452"/>
            </a:avLst>
          </a:prstGeom>
          <a:solidFill>
            <a:srgbClr val="F7F9FC"/>
          </a:solidFill>
          <a:ln w="9525">
            <a:solidFill>
              <a:srgbClr val="D5DDE9"/>
            </a:solidFill>
            <a:prstDash val="solid"/>
          </a:ln>
        </p:spPr>
      </p:sp>
      <p:sp>
        <p:nvSpPr>
          <p:cNvPr id="6" name="Shape 4"/>
          <p:cNvSpPr/>
          <p:nvPr/>
        </p:nvSpPr>
        <p:spPr>
          <a:xfrm>
            <a:off x="868680" y="1572768"/>
            <a:ext cx="493776" cy="493776"/>
          </a:xfrm>
          <a:prstGeom prst="ellipse">
            <a:avLst/>
          </a:prstGeom>
          <a:solidFill>
            <a:srgbClr val="0B1F3A"/>
          </a:solidFill>
          <a:ln w="12700">
            <a:solidFill>
              <a:srgbClr val="0B1F3A"/>
            </a:solidFill>
            <a:prstDash val="solid"/>
          </a:ln>
        </p:spPr>
      </p:sp>
      <p:sp>
        <p:nvSpPr>
          <p:cNvPr id="7" name="Text 5"/>
          <p:cNvSpPr txBox="1"/>
          <p:nvPr/>
        </p:nvSpPr>
        <p:spPr>
          <a:xfrm>
            <a:off x="868680"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Shape 6"/>
          <p:cNvSpPr/>
          <p:nvPr/>
        </p:nvSpPr>
        <p:spPr>
          <a:xfrm>
            <a:off x="868680" y="2157984"/>
            <a:ext cx="493776" cy="493776"/>
          </a:xfrm>
          <a:prstGeom prst="ellipse">
            <a:avLst/>
          </a:prstGeom>
          <a:solidFill>
            <a:srgbClr val="E3E9F3"/>
          </a:solidFill>
          <a:ln w="12700">
            <a:solidFill>
              <a:srgbClr val="E3E9F3"/>
            </a:solidFill>
            <a:prstDash val="solid"/>
          </a:ln>
        </p:spPr>
      </p:sp>
      <p:pic>
        <p:nvPicPr>
          <p:cNvPr id="9" name="Image 0" descr="preencoded.png">    </p:cNvPr>
          <p:cNvPicPr>
            <a:picLocks noChangeAspect="1"/>
          </p:cNvPicPr>
          <p:nvPr/>
        </p:nvPicPr>
        <p:blipFill>
          <a:blip r:embed="rId1"/>
          <a:stretch>
            <a:fillRect/>
          </a:stretch>
        </p:blipFill>
        <p:spPr>
          <a:xfrm>
            <a:off x="987186" y="2276490"/>
            <a:ext cx="256764" cy="256764"/>
          </a:xfrm>
          <a:prstGeom prst="rect">
            <a:avLst/>
          </a:prstGeom>
        </p:spPr>
      </p:pic>
      <p:sp>
        <p:nvSpPr>
          <p:cNvPr id="10" name="Text 7"/>
          <p:cNvSpPr txBox="1"/>
          <p:nvPr/>
        </p:nvSpPr>
        <p:spPr>
          <a:xfrm>
            <a:off x="594360"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Supply chain</a:t>
            </a:r>
            <a:endParaRPr lang="en-US" sz="1050" dirty="0"/>
          </a:p>
        </p:txBody>
      </p:sp>
      <p:sp>
        <p:nvSpPr>
          <p:cNvPr id="11" name="Text 8"/>
          <p:cNvSpPr txBox="1"/>
          <p:nvPr/>
        </p:nvSpPr>
        <p:spPr>
          <a:xfrm>
            <a:off x="612648"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license, SBOM, pinned versions, CVE scan</a:t>
            </a:r>
            <a:endParaRPr lang="en-US" sz="850" dirty="0"/>
          </a:p>
        </p:txBody>
      </p:sp>
      <p:sp>
        <p:nvSpPr>
          <p:cNvPr id="12" name="Shape 9"/>
          <p:cNvSpPr/>
          <p:nvPr/>
        </p:nvSpPr>
        <p:spPr>
          <a:xfrm>
            <a:off x="1682496" y="3200400"/>
            <a:ext cx="110642" cy="0"/>
          </a:xfrm>
          <a:prstGeom prst="line">
            <a:avLst/>
          </a:prstGeom>
          <a:noFill/>
          <a:ln w="12700">
            <a:solidFill>
              <a:srgbClr val="D5DDE9"/>
            </a:solidFill>
            <a:prstDash val="solid"/>
          </a:ln>
        </p:spPr>
      </p:sp>
      <p:sp>
        <p:nvSpPr>
          <p:cNvPr id="13" name="Shape 10"/>
          <p:cNvSpPr/>
          <p:nvPr/>
        </p:nvSpPr>
        <p:spPr>
          <a:xfrm>
            <a:off x="1793138" y="1417320"/>
            <a:ext cx="1133856" cy="3017520"/>
          </a:xfrm>
          <a:prstGeom prst="roundRect">
            <a:avLst>
              <a:gd name="adj" fmla="val 6452"/>
            </a:avLst>
          </a:prstGeom>
          <a:solidFill>
            <a:srgbClr val="F7F9FC"/>
          </a:solidFill>
          <a:ln w="9525">
            <a:solidFill>
              <a:srgbClr val="D5DDE9"/>
            </a:solidFill>
            <a:prstDash val="solid"/>
          </a:ln>
        </p:spPr>
      </p:sp>
      <p:sp>
        <p:nvSpPr>
          <p:cNvPr id="14" name="Shape 11"/>
          <p:cNvSpPr/>
          <p:nvPr/>
        </p:nvSpPr>
        <p:spPr>
          <a:xfrm>
            <a:off x="2113178" y="1572768"/>
            <a:ext cx="493776" cy="493776"/>
          </a:xfrm>
          <a:prstGeom prst="ellipse">
            <a:avLst/>
          </a:prstGeom>
          <a:solidFill>
            <a:srgbClr val="12867A"/>
          </a:solidFill>
          <a:ln w="12700">
            <a:solidFill>
              <a:srgbClr val="12867A"/>
            </a:solidFill>
            <a:prstDash val="solid"/>
          </a:ln>
        </p:spPr>
      </p:sp>
      <p:sp>
        <p:nvSpPr>
          <p:cNvPr id="15" name="Text 12"/>
          <p:cNvSpPr txBox="1"/>
          <p:nvPr/>
        </p:nvSpPr>
        <p:spPr>
          <a:xfrm>
            <a:off x="2113178"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Shape 13"/>
          <p:cNvSpPr/>
          <p:nvPr/>
        </p:nvSpPr>
        <p:spPr>
          <a:xfrm>
            <a:off x="2113178" y="2157984"/>
            <a:ext cx="493776" cy="493776"/>
          </a:xfrm>
          <a:prstGeom prst="ellipse">
            <a:avLst/>
          </a:prstGeom>
          <a:solidFill>
            <a:srgbClr val="DDF0ED"/>
          </a:solidFill>
          <a:ln w="12700">
            <a:solidFill>
              <a:srgbClr val="DDF0ED"/>
            </a:solidFill>
            <a:prstDash val="solid"/>
          </a:ln>
        </p:spPr>
      </p:sp>
      <p:pic>
        <p:nvPicPr>
          <p:cNvPr id="17" name="Image 1" descr="preencoded.png">    </p:cNvPr>
          <p:cNvPicPr>
            <a:picLocks noChangeAspect="1"/>
          </p:cNvPicPr>
          <p:nvPr/>
        </p:nvPicPr>
        <p:blipFill>
          <a:blip r:embed="rId2"/>
          <a:stretch>
            <a:fillRect/>
          </a:stretch>
        </p:blipFill>
        <p:spPr>
          <a:xfrm>
            <a:off x="2231685" y="2276490"/>
            <a:ext cx="256764" cy="256764"/>
          </a:xfrm>
          <a:prstGeom prst="rect">
            <a:avLst/>
          </a:prstGeom>
        </p:spPr>
      </p:pic>
      <p:sp>
        <p:nvSpPr>
          <p:cNvPr id="18" name="Text 14"/>
          <p:cNvSpPr txBox="1"/>
          <p:nvPr/>
        </p:nvSpPr>
        <p:spPr>
          <a:xfrm>
            <a:off x="1838858"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Data flow</a:t>
            </a:r>
            <a:endParaRPr lang="en-US" sz="1050" dirty="0"/>
          </a:p>
        </p:txBody>
      </p:sp>
      <p:sp>
        <p:nvSpPr>
          <p:cNvPr id="19" name="Text 15"/>
          <p:cNvSpPr txBox="1"/>
          <p:nvPr/>
        </p:nvSpPr>
        <p:spPr>
          <a:xfrm>
            <a:off x="1857146"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endpoints, geography, subprocessors, no hidden fallback</a:t>
            </a:r>
            <a:endParaRPr lang="en-US" sz="850" dirty="0"/>
          </a:p>
        </p:txBody>
      </p:sp>
      <p:sp>
        <p:nvSpPr>
          <p:cNvPr id="20" name="Shape 16"/>
          <p:cNvSpPr/>
          <p:nvPr/>
        </p:nvSpPr>
        <p:spPr>
          <a:xfrm>
            <a:off x="2926994" y="3200400"/>
            <a:ext cx="110642" cy="0"/>
          </a:xfrm>
          <a:prstGeom prst="line">
            <a:avLst/>
          </a:prstGeom>
          <a:noFill/>
          <a:ln w="12700">
            <a:solidFill>
              <a:srgbClr val="D5DDE9"/>
            </a:solidFill>
            <a:prstDash val="solid"/>
          </a:ln>
        </p:spPr>
      </p:sp>
      <p:sp>
        <p:nvSpPr>
          <p:cNvPr id="21" name="Shape 17"/>
          <p:cNvSpPr/>
          <p:nvPr/>
        </p:nvSpPr>
        <p:spPr>
          <a:xfrm>
            <a:off x="3037637" y="1417320"/>
            <a:ext cx="1133856" cy="3017520"/>
          </a:xfrm>
          <a:prstGeom prst="roundRect">
            <a:avLst>
              <a:gd name="adj" fmla="val 6452"/>
            </a:avLst>
          </a:prstGeom>
          <a:solidFill>
            <a:srgbClr val="F7F9FC"/>
          </a:solidFill>
          <a:ln w="9525">
            <a:solidFill>
              <a:srgbClr val="D5DDE9"/>
            </a:solidFill>
            <a:prstDash val="solid"/>
          </a:ln>
        </p:spPr>
      </p:sp>
      <p:sp>
        <p:nvSpPr>
          <p:cNvPr id="22" name="Shape 18"/>
          <p:cNvSpPr/>
          <p:nvPr/>
        </p:nvSpPr>
        <p:spPr>
          <a:xfrm>
            <a:off x="3357677" y="1572768"/>
            <a:ext cx="493776" cy="493776"/>
          </a:xfrm>
          <a:prstGeom prst="ellipse">
            <a:avLst/>
          </a:prstGeom>
          <a:solidFill>
            <a:srgbClr val="D98E04"/>
          </a:solidFill>
          <a:ln w="12700">
            <a:solidFill>
              <a:srgbClr val="D98E04"/>
            </a:solidFill>
            <a:prstDash val="solid"/>
          </a:ln>
        </p:spPr>
      </p:sp>
      <p:sp>
        <p:nvSpPr>
          <p:cNvPr id="23" name="Text 19"/>
          <p:cNvSpPr txBox="1"/>
          <p:nvPr/>
        </p:nvSpPr>
        <p:spPr>
          <a:xfrm>
            <a:off x="3357677"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4" name="Shape 20"/>
          <p:cNvSpPr/>
          <p:nvPr/>
        </p:nvSpPr>
        <p:spPr>
          <a:xfrm>
            <a:off x="3357677" y="2157984"/>
            <a:ext cx="493776" cy="493776"/>
          </a:xfrm>
          <a:prstGeom prst="ellipse">
            <a:avLst/>
          </a:prstGeom>
          <a:solidFill>
            <a:srgbClr val="FBF1DE"/>
          </a:solidFill>
          <a:ln w="12700">
            <a:solidFill>
              <a:srgbClr val="FBF1DE"/>
            </a:solidFill>
            <a:prstDash val="solid"/>
          </a:ln>
        </p:spPr>
      </p:sp>
      <p:pic>
        <p:nvPicPr>
          <p:cNvPr id="25" name="Image 2" descr="preencoded.png">    </p:cNvPr>
          <p:cNvPicPr>
            <a:picLocks noChangeAspect="1"/>
          </p:cNvPicPr>
          <p:nvPr/>
        </p:nvPicPr>
        <p:blipFill>
          <a:blip r:embed="rId3"/>
          <a:stretch>
            <a:fillRect/>
          </a:stretch>
        </p:blipFill>
        <p:spPr>
          <a:xfrm>
            <a:off x="3476183" y="2276490"/>
            <a:ext cx="256764" cy="256764"/>
          </a:xfrm>
          <a:prstGeom prst="rect">
            <a:avLst/>
          </a:prstGeom>
        </p:spPr>
      </p:pic>
      <p:sp>
        <p:nvSpPr>
          <p:cNvPr id="26" name="Text 21"/>
          <p:cNvSpPr txBox="1"/>
          <p:nvPr/>
        </p:nvSpPr>
        <p:spPr>
          <a:xfrm>
            <a:off x="3083357"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Security</a:t>
            </a:r>
            <a:endParaRPr lang="en-US" sz="1050" dirty="0"/>
          </a:p>
        </p:txBody>
      </p:sp>
      <p:sp>
        <p:nvSpPr>
          <p:cNvPr id="27" name="Text 22"/>
          <p:cNvSpPr txBox="1"/>
          <p:nvPr/>
        </p:nvSpPr>
        <p:spPr>
          <a:xfrm>
            <a:off x="3101645"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injection, isolation, least privilege, adversarial writes</a:t>
            </a:r>
            <a:endParaRPr lang="en-US" sz="850" dirty="0"/>
          </a:p>
        </p:txBody>
      </p:sp>
      <p:sp>
        <p:nvSpPr>
          <p:cNvPr id="28" name="Shape 23"/>
          <p:cNvSpPr/>
          <p:nvPr/>
        </p:nvSpPr>
        <p:spPr>
          <a:xfrm>
            <a:off x="4171493" y="3200400"/>
            <a:ext cx="110642" cy="0"/>
          </a:xfrm>
          <a:prstGeom prst="line">
            <a:avLst/>
          </a:prstGeom>
          <a:noFill/>
          <a:ln w="12700">
            <a:solidFill>
              <a:srgbClr val="D5DDE9"/>
            </a:solidFill>
            <a:prstDash val="solid"/>
          </a:ln>
        </p:spPr>
      </p:sp>
      <p:sp>
        <p:nvSpPr>
          <p:cNvPr id="29" name="Shape 24"/>
          <p:cNvSpPr/>
          <p:nvPr/>
        </p:nvSpPr>
        <p:spPr>
          <a:xfrm>
            <a:off x="4282135" y="1417320"/>
            <a:ext cx="1133856" cy="3017520"/>
          </a:xfrm>
          <a:prstGeom prst="roundRect">
            <a:avLst>
              <a:gd name="adj" fmla="val 6452"/>
            </a:avLst>
          </a:prstGeom>
          <a:solidFill>
            <a:srgbClr val="F7F9FC"/>
          </a:solidFill>
          <a:ln w="9525">
            <a:solidFill>
              <a:srgbClr val="D5DDE9"/>
            </a:solidFill>
            <a:prstDash val="solid"/>
          </a:ln>
        </p:spPr>
      </p:sp>
      <p:sp>
        <p:nvSpPr>
          <p:cNvPr id="30" name="Shape 25"/>
          <p:cNvSpPr/>
          <p:nvPr/>
        </p:nvSpPr>
        <p:spPr>
          <a:xfrm>
            <a:off x="4602175" y="1572768"/>
            <a:ext cx="493776" cy="493776"/>
          </a:xfrm>
          <a:prstGeom prst="ellipse">
            <a:avLst/>
          </a:prstGeom>
          <a:solidFill>
            <a:srgbClr val="C8452B"/>
          </a:solidFill>
          <a:ln w="12700">
            <a:solidFill>
              <a:srgbClr val="C8452B"/>
            </a:solidFill>
            <a:prstDash val="solid"/>
          </a:ln>
        </p:spPr>
      </p:sp>
      <p:sp>
        <p:nvSpPr>
          <p:cNvPr id="31" name="Text 26"/>
          <p:cNvSpPr txBox="1"/>
          <p:nvPr/>
        </p:nvSpPr>
        <p:spPr>
          <a:xfrm>
            <a:off x="4602175"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2" name="Shape 27"/>
          <p:cNvSpPr/>
          <p:nvPr/>
        </p:nvSpPr>
        <p:spPr>
          <a:xfrm>
            <a:off x="4602175" y="2157984"/>
            <a:ext cx="493776" cy="493776"/>
          </a:xfrm>
          <a:prstGeom prst="ellipse">
            <a:avLst/>
          </a:prstGeom>
          <a:solidFill>
            <a:srgbClr val="F8E3DE"/>
          </a:solidFill>
          <a:ln w="12700">
            <a:solidFill>
              <a:srgbClr val="F8E3DE"/>
            </a:solidFill>
            <a:prstDash val="solid"/>
          </a:ln>
        </p:spPr>
      </p:sp>
      <p:pic>
        <p:nvPicPr>
          <p:cNvPr id="33" name="Image 3" descr="preencoded.png">    </p:cNvPr>
          <p:cNvPicPr>
            <a:picLocks noChangeAspect="1"/>
          </p:cNvPicPr>
          <p:nvPr/>
        </p:nvPicPr>
        <p:blipFill>
          <a:blip r:embed="rId4"/>
          <a:stretch>
            <a:fillRect/>
          </a:stretch>
        </p:blipFill>
        <p:spPr>
          <a:xfrm>
            <a:off x="4720681" y="2276490"/>
            <a:ext cx="256764" cy="256764"/>
          </a:xfrm>
          <a:prstGeom prst="rect">
            <a:avLst/>
          </a:prstGeom>
        </p:spPr>
      </p:pic>
      <p:sp>
        <p:nvSpPr>
          <p:cNvPr id="34" name="Text 28"/>
          <p:cNvSpPr txBox="1"/>
          <p:nvPr/>
        </p:nvSpPr>
        <p:spPr>
          <a:xfrm>
            <a:off x="4327855"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Privacy / rights</a:t>
            </a:r>
            <a:endParaRPr lang="en-US" sz="1050" dirty="0"/>
          </a:p>
        </p:txBody>
      </p:sp>
      <p:sp>
        <p:nvSpPr>
          <p:cNvPr id="35" name="Text 29"/>
          <p:cNvSpPr txBox="1"/>
          <p:nvPr/>
        </p:nvSpPr>
        <p:spPr>
          <a:xfrm>
            <a:off x="4346143"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export, rectify, restrict, delete — verified at raw-index layer</a:t>
            </a:r>
            <a:endParaRPr lang="en-US" sz="850" dirty="0"/>
          </a:p>
        </p:txBody>
      </p:sp>
      <p:sp>
        <p:nvSpPr>
          <p:cNvPr id="36" name="Shape 30"/>
          <p:cNvSpPr/>
          <p:nvPr/>
        </p:nvSpPr>
        <p:spPr>
          <a:xfrm>
            <a:off x="5415991" y="3200400"/>
            <a:ext cx="110642" cy="0"/>
          </a:xfrm>
          <a:prstGeom prst="line">
            <a:avLst/>
          </a:prstGeom>
          <a:noFill/>
          <a:ln w="12700">
            <a:solidFill>
              <a:srgbClr val="D5DDE9"/>
            </a:solidFill>
            <a:prstDash val="solid"/>
          </a:ln>
        </p:spPr>
      </p:sp>
      <p:sp>
        <p:nvSpPr>
          <p:cNvPr id="37" name="Shape 31"/>
          <p:cNvSpPr/>
          <p:nvPr/>
        </p:nvSpPr>
        <p:spPr>
          <a:xfrm>
            <a:off x="5526634" y="1417320"/>
            <a:ext cx="1133856" cy="3017520"/>
          </a:xfrm>
          <a:prstGeom prst="roundRect">
            <a:avLst>
              <a:gd name="adj" fmla="val 6452"/>
            </a:avLst>
          </a:prstGeom>
          <a:solidFill>
            <a:srgbClr val="F7F9FC"/>
          </a:solidFill>
          <a:ln w="9525">
            <a:solidFill>
              <a:srgbClr val="D5DDE9"/>
            </a:solidFill>
            <a:prstDash val="solid"/>
          </a:ln>
        </p:spPr>
      </p:sp>
      <p:sp>
        <p:nvSpPr>
          <p:cNvPr id="38" name="Shape 32"/>
          <p:cNvSpPr/>
          <p:nvPr/>
        </p:nvSpPr>
        <p:spPr>
          <a:xfrm>
            <a:off x="5846674" y="1572768"/>
            <a:ext cx="493776" cy="493776"/>
          </a:xfrm>
          <a:prstGeom prst="ellipse">
            <a:avLst/>
          </a:prstGeom>
          <a:solidFill>
            <a:srgbClr val="0B1F3A"/>
          </a:solidFill>
          <a:ln w="12700">
            <a:solidFill>
              <a:srgbClr val="0B1F3A"/>
            </a:solidFill>
            <a:prstDash val="solid"/>
          </a:ln>
        </p:spPr>
      </p:sp>
      <p:sp>
        <p:nvSpPr>
          <p:cNvPr id="39" name="Text 33"/>
          <p:cNvSpPr txBox="1"/>
          <p:nvPr/>
        </p:nvSpPr>
        <p:spPr>
          <a:xfrm>
            <a:off x="5846674"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40" name="Shape 34"/>
          <p:cNvSpPr/>
          <p:nvPr/>
        </p:nvSpPr>
        <p:spPr>
          <a:xfrm>
            <a:off x="5846674" y="2157984"/>
            <a:ext cx="493776" cy="493776"/>
          </a:xfrm>
          <a:prstGeom prst="ellipse">
            <a:avLst/>
          </a:prstGeom>
          <a:solidFill>
            <a:srgbClr val="E3E9F3"/>
          </a:solidFill>
          <a:ln w="12700">
            <a:solidFill>
              <a:srgbClr val="E3E9F3"/>
            </a:solidFill>
            <a:prstDash val="solid"/>
          </a:ln>
        </p:spPr>
      </p:sp>
      <p:pic>
        <p:nvPicPr>
          <p:cNvPr id="41" name="Image 4" descr="preencoded.png">    </p:cNvPr>
          <p:cNvPicPr>
            <a:picLocks noChangeAspect="1"/>
          </p:cNvPicPr>
          <p:nvPr/>
        </p:nvPicPr>
        <p:blipFill>
          <a:blip r:embed="rId5"/>
          <a:stretch>
            <a:fillRect/>
          </a:stretch>
        </p:blipFill>
        <p:spPr>
          <a:xfrm>
            <a:off x="5965180" y="2276490"/>
            <a:ext cx="256764" cy="256764"/>
          </a:xfrm>
          <a:prstGeom prst="rect">
            <a:avLst/>
          </a:prstGeom>
        </p:spPr>
      </p:pic>
      <p:sp>
        <p:nvSpPr>
          <p:cNvPr id="42" name="Text 35"/>
          <p:cNvSpPr txBox="1"/>
          <p:nvPr/>
        </p:nvSpPr>
        <p:spPr>
          <a:xfrm>
            <a:off x="5572354"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Memory quality</a:t>
            </a:r>
            <a:endParaRPr lang="en-US" sz="1050" dirty="0"/>
          </a:p>
        </p:txBody>
      </p:sp>
      <p:sp>
        <p:nvSpPr>
          <p:cNvPr id="43" name="Text 36"/>
          <p:cNvSpPr txBox="1"/>
          <p:nvPr/>
        </p:nvSpPr>
        <p:spPr>
          <a:xfrm>
            <a:off x="5590642"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extraction, temporal update, conflict, authority collapse</a:t>
            </a:r>
            <a:endParaRPr lang="en-US" sz="850" dirty="0"/>
          </a:p>
        </p:txBody>
      </p:sp>
      <p:sp>
        <p:nvSpPr>
          <p:cNvPr id="44" name="Shape 37"/>
          <p:cNvSpPr/>
          <p:nvPr/>
        </p:nvSpPr>
        <p:spPr>
          <a:xfrm>
            <a:off x="6660490" y="3200400"/>
            <a:ext cx="110642" cy="0"/>
          </a:xfrm>
          <a:prstGeom prst="line">
            <a:avLst/>
          </a:prstGeom>
          <a:noFill/>
          <a:ln w="12700">
            <a:solidFill>
              <a:srgbClr val="D5DDE9"/>
            </a:solidFill>
            <a:prstDash val="solid"/>
          </a:ln>
        </p:spPr>
      </p:sp>
      <p:sp>
        <p:nvSpPr>
          <p:cNvPr id="45" name="Shape 38"/>
          <p:cNvSpPr/>
          <p:nvPr/>
        </p:nvSpPr>
        <p:spPr>
          <a:xfrm>
            <a:off x="6771132" y="1417320"/>
            <a:ext cx="1133856" cy="3017520"/>
          </a:xfrm>
          <a:prstGeom prst="roundRect">
            <a:avLst>
              <a:gd name="adj" fmla="val 6452"/>
            </a:avLst>
          </a:prstGeom>
          <a:solidFill>
            <a:srgbClr val="F7F9FC"/>
          </a:solidFill>
          <a:ln w="9525">
            <a:solidFill>
              <a:srgbClr val="D5DDE9"/>
            </a:solidFill>
            <a:prstDash val="solid"/>
          </a:ln>
        </p:spPr>
      </p:sp>
      <p:sp>
        <p:nvSpPr>
          <p:cNvPr id="46" name="Shape 39"/>
          <p:cNvSpPr/>
          <p:nvPr/>
        </p:nvSpPr>
        <p:spPr>
          <a:xfrm>
            <a:off x="7091172" y="1572768"/>
            <a:ext cx="493776" cy="493776"/>
          </a:xfrm>
          <a:prstGeom prst="ellipse">
            <a:avLst/>
          </a:prstGeom>
          <a:solidFill>
            <a:srgbClr val="12867A"/>
          </a:solidFill>
          <a:ln w="12700">
            <a:solidFill>
              <a:srgbClr val="12867A"/>
            </a:solidFill>
            <a:prstDash val="solid"/>
          </a:ln>
        </p:spPr>
      </p:sp>
      <p:sp>
        <p:nvSpPr>
          <p:cNvPr id="47" name="Text 40"/>
          <p:cNvSpPr txBox="1"/>
          <p:nvPr/>
        </p:nvSpPr>
        <p:spPr>
          <a:xfrm>
            <a:off x="7091172"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48" name="Shape 41"/>
          <p:cNvSpPr/>
          <p:nvPr/>
        </p:nvSpPr>
        <p:spPr>
          <a:xfrm>
            <a:off x="7091172" y="2157984"/>
            <a:ext cx="493776" cy="493776"/>
          </a:xfrm>
          <a:prstGeom prst="ellipse">
            <a:avLst/>
          </a:prstGeom>
          <a:solidFill>
            <a:srgbClr val="DDF0ED"/>
          </a:solidFill>
          <a:ln w="12700">
            <a:solidFill>
              <a:srgbClr val="DDF0ED"/>
            </a:solidFill>
            <a:prstDash val="solid"/>
          </a:ln>
        </p:spPr>
      </p:sp>
      <p:pic>
        <p:nvPicPr>
          <p:cNvPr id="49" name="Image 5" descr="preencoded.png">    </p:cNvPr>
          <p:cNvPicPr>
            <a:picLocks noChangeAspect="1"/>
          </p:cNvPicPr>
          <p:nvPr/>
        </p:nvPicPr>
        <p:blipFill>
          <a:blip r:embed="rId6"/>
          <a:stretch>
            <a:fillRect/>
          </a:stretch>
        </p:blipFill>
        <p:spPr>
          <a:xfrm>
            <a:off x="7209678" y="2276490"/>
            <a:ext cx="256764" cy="256764"/>
          </a:xfrm>
          <a:prstGeom prst="rect">
            <a:avLst/>
          </a:prstGeom>
        </p:spPr>
      </p:pic>
      <p:sp>
        <p:nvSpPr>
          <p:cNvPr id="50" name="Text 42"/>
          <p:cNvSpPr txBox="1"/>
          <p:nvPr/>
        </p:nvSpPr>
        <p:spPr>
          <a:xfrm>
            <a:off x="6816852"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Operations</a:t>
            </a:r>
            <a:endParaRPr lang="en-US" sz="1050" dirty="0"/>
          </a:p>
        </p:txBody>
      </p:sp>
      <p:sp>
        <p:nvSpPr>
          <p:cNvPr id="51" name="Text 43"/>
          <p:cNvSpPr txBox="1"/>
          <p:nvPr/>
        </p:nvSpPr>
        <p:spPr>
          <a:xfrm>
            <a:off x="6835140"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recovery, failover, kill switch, rollback, export</a:t>
            </a:r>
            <a:endParaRPr lang="en-US" sz="850" dirty="0"/>
          </a:p>
        </p:txBody>
      </p:sp>
      <p:sp>
        <p:nvSpPr>
          <p:cNvPr id="52" name="Shape 44"/>
          <p:cNvSpPr/>
          <p:nvPr/>
        </p:nvSpPr>
        <p:spPr>
          <a:xfrm>
            <a:off x="7904988" y="3200400"/>
            <a:ext cx="110642" cy="0"/>
          </a:xfrm>
          <a:prstGeom prst="line">
            <a:avLst/>
          </a:prstGeom>
          <a:noFill/>
          <a:ln w="12700">
            <a:solidFill>
              <a:srgbClr val="D5DDE9"/>
            </a:solidFill>
            <a:prstDash val="solid"/>
          </a:ln>
        </p:spPr>
      </p:sp>
      <p:sp>
        <p:nvSpPr>
          <p:cNvPr id="53" name="Shape 45"/>
          <p:cNvSpPr/>
          <p:nvPr/>
        </p:nvSpPr>
        <p:spPr>
          <a:xfrm>
            <a:off x="8015630" y="1417320"/>
            <a:ext cx="1133856" cy="3017520"/>
          </a:xfrm>
          <a:prstGeom prst="roundRect">
            <a:avLst>
              <a:gd name="adj" fmla="val 6452"/>
            </a:avLst>
          </a:prstGeom>
          <a:solidFill>
            <a:srgbClr val="F7F9FC"/>
          </a:solidFill>
          <a:ln w="9525">
            <a:solidFill>
              <a:srgbClr val="D5DDE9"/>
            </a:solidFill>
            <a:prstDash val="solid"/>
          </a:ln>
        </p:spPr>
      </p:sp>
      <p:sp>
        <p:nvSpPr>
          <p:cNvPr id="54" name="Shape 46"/>
          <p:cNvSpPr/>
          <p:nvPr/>
        </p:nvSpPr>
        <p:spPr>
          <a:xfrm>
            <a:off x="8335670" y="1572768"/>
            <a:ext cx="493776" cy="493776"/>
          </a:xfrm>
          <a:prstGeom prst="ellipse">
            <a:avLst/>
          </a:prstGeom>
          <a:solidFill>
            <a:srgbClr val="D98E04"/>
          </a:solidFill>
          <a:ln w="12700">
            <a:solidFill>
              <a:srgbClr val="D98E04"/>
            </a:solidFill>
            <a:prstDash val="solid"/>
          </a:ln>
        </p:spPr>
      </p:sp>
      <p:sp>
        <p:nvSpPr>
          <p:cNvPr id="55" name="Text 47"/>
          <p:cNvSpPr txBox="1"/>
          <p:nvPr/>
        </p:nvSpPr>
        <p:spPr>
          <a:xfrm>
            <a:off x="8335670"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56" name="Shape 48"/>
          <p:cNvSpPr/>
          <p:nvPr/>
        </p:nvSpPr>
        <p:spPr>
          <a:xfrm>
            <a:off x="8335670" y="2157984"/>
            <a:ext cx="493776" cy="493776"/>
          </a:xfrm>
          <a:prstGeom prst="ellipse">
            <a:avLst/>
          </a:prstGeom>
          <a:solidFill>
            <a:srgbClr val="FBF1DE"/>
          </a:solidFill>
          <a:ln w="12700">
            <a:solidFill>
              <a:srgbClr val="FBF1DE"/>
            </a:solidFill>
            <a:prstDash val="solid"/>
          </a:ln>
        </p:spPr>
      </p:sp>
      <p:pic>
        <p:nvPicPr>
          <p:cNvPr id="57" name="Image 6" descr="preencoded.png">    </p:cNvPr>
          <p:cNvPicPr>
            <a:picLocks noChangeAspect="1"/>
          </p:cNvPicPr>
          <p:nvPr/>
        </p:nvPicPr>
        <p:blipFill>
          <a:blip r:embed="rId7"/>
          <a:stretch>
            <a:fillRect/>
          </a:stretch>
        </p:blipFill>
        <p:spPr>
          <a:xfrm>
            <a:off x="8454177" y="2276490"/>
            <a:ext cx="256764" cy="256764"/>
          </a:xfrm>
          <a:prstGeom prst="rect">
            <a:avLst/>
          </a:prstGeom>
        </p:spPr>
      </p:pic>
      <p:sp>
        <p:nvSpPr>
          <p:cNvPr id="58" name="Text 49"/>
          <p:cNvSpPr txBox="1"/>
          <p:nvPr/>
        </p:nvSpPr>
        <p:spPr>
          <a:xfrm>
            <a:off x="8061350"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Evidence</a:t>
            </a:r>
            <a:endParaRPr lang="en-US" sz="1050" dirty="0"/>
          </a:p>
        </p:txBody>
      </p:sp>
      <p:sp>
        <p:nvSpPr>
          <p:cNvPr id="59" name="Text 50"/>
          <p:cNvSpPr txBox="1"/>
          <p:nvPr/>
        </p:nvSpPr>
        <p:spPr>
          <a:xfrm>
            <a:off x="8079638"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lineage, audit, policy versions producible on demand</a:t>
            </a:r>
            <a:endParaRPr lang="en-US" sz="850" dirty="0"/>
          </a:p>
        </p:txBody>
      </p:sp>
      <p:sp>
        <p:nvSpPr>
          <p:cNvPr id="60" name="Shape 51"/>
          <p:cNvSpPr/>
          <p:nvPr/>
        </p:nvSpPr>
        <p:spPr>
          <a:xfrm>
            <a:off x="9149486" y="3200400"/>
            <a:ext cx="110642" cy="0"/>
          </a:xfrm>
          <a:prstGeom prst="line">
            <a:avLst/>
          </a:prstGeom>
          <a:noFill/>
          <a:ln w="12700">
            <a:solidFill>
              <a:srgbClr val="D5DDE9"/>
            </a:solidFill>
            <a:prstDash val="solid"/>
          </a:ln>
        </p:spPr>
      </p:sp>
      <p:sp>
        <p:nvSpPr>
          <p:cNvPr id="61" name="Shape 52"/>
          <p:cNvSpPr/>
          <p:nvPr/>
        </p:nvSpPr>
        <p:spPr>
          <a:xfrm>
            <a:off x="9260129" y="1417320"/>
            <a:ext cx="1133856" cy="3017520"/>
          </a:xfrm>
          <a:prstGeom prst="roundRect">
            <a:avLst>
              <a:gd name="adj" fmla="val 6452"/>
            </a:avLst>
          </a:prstGeom>
          <a:solidFill>
            <a:srgbClr val="F7F9FC"/>
          </a:solidFill>
          <a:ln w="9525">
            <a:solidFill>
              <a:srgbClr val="D5DDE9"/>
            </a:solidFill>
            <a:prstDash val="solid"/>
          </a:ln>
        </p:spPr>
      </p:sp>
      <p:sp>
        <p:nvSpPr>
          <p:cNvPr id="62" name="Shape 53"/>
          <p:cNvSpPr/>
          <p:nvPr/>
        </p:nvSpPr>
        <p:spPr>
          <a:xfrm>
            <a:off x="9580169" y="1572768"/>
            <a:ext cx="493776" cy="493776"/>
          </a:xfrm>
          <a:prstGeom prst="ellipse">
            <a:avLst/>
          </a:prstGeom>
          <a:solidFill>
            <a:srgbClr val="C8452B"/>
          </a:solidFill>
          <a:ln w="12700">
            <a:solidFill>
              <a:srgbClr val="C8452B"/>
            </a:solidFill>
            <a:prstDash val="solid"/>
          </a:ln>
        </p:spPr>
      </p:sp>
      <p:sp>
        <p:nvSpPr>
          <p:cNvPr id="63" name="Text 54"/>
          <p:cNvSpPr txBox="1"/>
          <p:nvPr/>
        </p:nvSpPr>
        <p:spPr>
          <a:xfrm>
            <a:off x="9580169"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64" name="Shape 55"/>
          <p:cNvSpPr/>
          <p:nvPr/>
        </p:nvSpPr>
        <p:spPr>
          <a:xfrm>
            <a:off x="9580169" y="2157984"/>
            <a:ext cx="493776" cy="493776"/>
          </a:xfrm>
          <a:prstGeom prst="ellipse">
            <a:avLst/>
          </a:prstGeom>
          <a:solidFill>
            <a:srgbClr val="F8E3DE"/>
          </a:solidFill>
          <a:ln w="12700">
            <a:solidFill>
              <a:srgbClr val="F8E3DE"/>
            </a:solidFill>
            <a:prstDash val="solid"/>
          </a:ln>
        </p:spPr>
      </p:sp>
      <p:pic>
        <p:nvPicPr>
          <p:cNvPr id="65" name="Image 7" descr="preencoded.png">    </p:cNvPr>
          <p:cNvPicPr>
            <a:picLocks noChangeAspect="1"/>
          </p:cNvPicPr>
          <p:nvPr/>
        </p:nvPicPr>
        <p:blipFill>
          <a:blip r:embed="rId8"/>
          <a:stretch>
            <a:fillRect/>
          </a:stretch>
        </p:blipFill>
        <p:spPr>
          <a:xfrm>
            <a:off x="9698675" y="2276490"/>
            <a:ext cx="256764" cy="256764"/>
          </a:xfrm>
          <a:prstGeom prst="rect">
            <a:avLst/>
          </a:prstGeom>
        </p:spPr>
      </p:pic>
      <p:sp>
        <p:nvSpPr>
          <p:cNvPr id="66" name="Text 56"/>
          <p:cNvSpPr txBox="1"/>
          <p:nvPr/>
        </p:nvSpPr>
        <p:spPr>
          <a:xfrm>
            <a:off x="9305849"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Performance</a:t>
            </a:r>
            <a:endParaRPr lang="en-US" sz="1050" dirty="0"/>
          </a:p>
        </p:txBody>
      </p:sp>
      <p:sp>
        <p:nvSpPr>
          <p:cNvPr id="67" name="Text 57"/>
          <p:cNvSpPr txBox="1"/>
          <p:nvPr/>
        </p:nvSpPr>
        <p:spPr>
          <a:xfrm>
            <a:off x="9324137"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p95 governance overhead within budget, pre-filter auth</a:t>
            </a:r>
            <a:endParaRPr lang="en-US" sz="850" dirty="0"/>
          </a:p>
        </p:txBody>
      </p:sp>
      <p:sp>
        <p:nvSpPr>
          <p:cNvPr id="68" name="Shape 58"/>
          <p:cNvSpPr/>
          <p:nvPr/>
        </p:nvSpPr>
        <p:spPr>
          <a:xfrm>
            <a:off x="10393985" y="3200400"/>
            <a:ext cx="110642" cy="0"/>
          </a:xfrm>
          <a:prstGeom prst="line">
            <a:avLst/>
          </a:prstGeom>
          <a:noFill/>
          <a:ln w="12700">
            <a:solidFill>
              <a:srgbClr val="D5DDE9"/>
            </a:solidFill>
            <a:prstDash val="solid"/>
          </a:ln>
        </p:spPr>
      </p:sp>
      <p:sp>
        <p:nvSpPr>
          <p:cNvPr id="69" name="Shape 59"/>
          <p:cNvSpPr/>
          <p:nvPr/>
        </p:nvSpPr>
        <p:spPr>
          <a:xfrm>
            <a:off x="10504627" y="1417320"/>
            <a:ext cx="1133856" cy="3017520"/>
          </a:xfrm>
          <a:prstGeom prst="roundRect">
            <a:avLst>
              <a:gd name="adj" fmla="val 6452"/>
            </a:avLst>
          </a:prstGeom>
          <a:solidFill>
            <a:srgbClr val="F7F9FC"/>
          </a:solidFill>
          <a:ln w="9525">
            <a:solidFill>
              <a:srgbClr val="D5DDE9"/>
            </a:solidFill>
            <a:prstDash val="solid"/>
          </a:ln>
        </p:spPr>
      </p:sp>
      <p:sp>
        <p:nvSpPr>
          <p:cNvPr id="70" name="Shape 60"/>
          <p:cNvSpPr/>
          <p:nvPr/>
        </p:nvSpPr>
        <p:spPr>
          <a:xfrm>
            <a:off x="10824667" y="1572768"/>
            <a:ext cx="493776" cy="493776"/>
          </a:xfrm>
          <a:prstGeom prst="ellipse">
            <a:avLst/>
          </a:prstGeom>
          <a:solidFill>
            <a:srgbClr val="0B1F3A"/>
          </a:solidFill>
          <a:ln w="12700">
            <a:solidFill>
              <a:srgbClr val="0B1F3A"/>
            </a:solidFill>
            <a:prstDash val="solid"/>
          </a:ln>
        </p:spPr>
      </p:sp>
      <p:sp>
        <p:nvSpPr>
          <p:cNvPr id="71" name="Text 61"/>
          <p:cNvSpPr txBox="1"/>
          <p:nvPr/>
        </p:nvSpPr>
        <p:spPr>
          <a:xfrm>
            <a:off x="10824667" y="157276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72" name="Shape 62"/>
          <p:cNvSpPr/>
          <p:nvPr/>
        </p:nvSpPr>
        <p:spPr>
          <a:xfrm>
            <a:off x="10824667" y="2157984"/>
            <a:ext cx="493776" cy="493776"/>
          </a:xfrm>
          <a:prstGeom prst="ellipse">
            <a:avLst/>
          </a:prstGeom>
          <a:solidFill>
            <a:srgbClr val="E3E9F3"/>
          </a:solidFill>
          <a:ln w="12700">
            <a:solidFill>
              <a:srgbClr val="E3E9F3"/>
            </a:solidFill>
            <a:prstDash val="solid"/>
          </a:ln>
        </p:spPr>
      </p:sp>
      <p:pic>
        <p:nvPicPr>
          <p:cNvPr id="73" name="Image 8" descr="preencoded.png">    </p:cNvPr>
          <p:cNvPicPr>
            <a:picLocks noChangeAspect="1"/>
          </p:cNvPicPr>
          <p:nvPr/>
        </p:nvPicPr>
        <p:blipFill>
          <a:blip r:embed="rId9"/>
          <a:stretch>
            <a:fillRect/>
          </a:stretch>
        </p:blipFill>
        <p:spPr>
          <a:xfrm>
            <a:off x="10943173" y="2276490"/>
            <a:ext cx="256764" cy="256764"/>
          </a:xfrm>
          <a:prstGeom prst="rect">
            <a:avLst/>
          </a:prstGeom>
        </p:spPr>
      </p:pic>
      <p:sp>
        <p:nvSpPr>
          <p:cNvPr id="74" name="Text 63"/>
          <p:cNvSpPr txBox="1"/>
          <p:nvPr/>
        </p:nvSpPr>
        <p:spPr>
          <a:xfrm>
            <a:off x="10550347" y="2743200"/>
            <a:ext cx="1042416" cy="457200"/>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Human oversight</a:t>
            </a:r>
            <a:endParaRPr lang="en-US" sz="1050" dirty="0"/>
          </a:p>
        </p:txBody>
      </p:sp>
      <p:sp>
        <p:nvSpPr>
          <p:cNvPr id="75" name="Text 64"/>
          <p:cNvSpPr txBox="1"/>
          <p:nvPr/>
        </p:nvSpPr>
        <p:spPr>
          <a:xfrm>
            <a:off x="10568635" y="3200400"/>
            <a:ext cx="1005840" cy="1188720"/>
          </a:xfrm>
          <a:prstGeom prst="rect">
            <a:avLst/>
          </a:prstGeom>
          <a:noFill/>
          <a:ln/>
        </p:spPr>
        <p:txBody>
          <a:bodyPr wrap="square" lIns="0" tIns="0" rIns="0" bIns="0" rtlCol="0" anchor="t"/>
          <a:lstStyle/>
          <a:p>
            <a:pPr algn="ctr" indent="0" marL="0">
              <a:buNone/>
            </a:pPr>
            <a:r>
              <a:rPr lang="en-US" sz="850" dirty="0">
                <a:solidFill>
                  <a:srgbClr val="1F2937"/>
                </a:solidFill>
                <a:latin typeface="Calibri" pitchFamily="34" charset="0"/>
                <a:ea typeface="Calibri" pitchFamily="34" charset="-122"/>
                <a:cs typeface="Calibri" pitchFamily="34" charset="-120"/>
              </a:rPr>
              <a:t>contest / appeal / intervene path exercised end to end</a:t>
            </a:r>
            <a:endParaRPr lang="en-US" sz="850" dirty="0"/>
          </a:p>
        </p:txBody>
      </p:sp>
      <p:sp>
        <p:nvSpPr>
          <p:cNvPr id="76" name="Shape 65"/>
          <p:cNvSpPr/>
          <p:nvPr/>
        </p:nvSpPr>
        <p:spPr>
          <a:xfrm>
            <a:off x="548640" y="4617720"/>
            <a:ext cx="11094415" cy="566928"/>
          </a:xfrm>
          <a:prstGeom prst="roundRect">
            <a:avLst>
              <a:gd name="adj" fmla="val 12903"/>
            </a:avLst>
          </a:prstGeom>
          <a:solidFill>
            <a:srgbClr val="DDF0ED"/>
          </a:solidFill>
          <a:ln w="12700">
            <a:solidFill>
              <a:srgbClr val="DDF0ED"/>
            </a:solidFill>
            <a:prstDash val="solid"/>
          </a:ln>
        </p:spPr>
      </p:sp>
      <p:sp>
        <p:nvSpPr>
          <p:cNvPr id="77" name="Text 66"/>
          <p:cNvSpPr txBox="1"/>
          <p:nvPr/>
        </p:nvSpPr>
        <p:spPr>
          <a:xfrm>
            <a:off x="777240" y="4617720"/>
            <a:ext cx="10637215" cy="566928"/>
          </a:xfrm>
          <a:prstGeom prst="rect">
            <a:avLst/>
          </a:prstGeom>
          <a:noFill/>
          <a:ln/>
        </p:spPr>
        <p:txBody>
          <a:bodyPr wrap="square" lIns="0" tIns="0" rIns="0" bIns="0" rtlCol="0" anchor="ctr"/>
          <a:lstStyle/>
          <a:p>
            <a:pPr indent="0" marL="0">
              <a:buNone/>
            </a:pPr>
            <a:r>
              <a:rPr lang="en-US" sz="1050" b="1" dirty="0">
                <a:solidFill>
                  <a:srgbClr val="12867A"/>
                </a:solidFill>
                <a:latin typeface="Calibri" pitchFamily="34" charset="0"/>
                <a:ea typeface="Calibri" pitchFamily="34" charset="-122"/>
                <a:cs typeface="Calibri" pitchFamily="34" charset="-120"/>
              </a:rPr>
              <a:t>Pass = fixture + oracle + threshold + pinned versions. </a:t>
            </a:r>
            <a:pPr indent="0" marL="0">
              <a:buNone/>
            </a:pPr>
            <a:r>
              <a:rPr lang="en-US" sz="1050" dirty="0">
                <a:solidFill>
                  <a:srgbClr val="1F2937"/>
                </a:solidFill>
                <a:latin typeface="Calibri" pitchFamily="34" charset="0"/>
                <a:ea typeface="Calibri" pitchFamily="34" charset="-122"/>
                <a:cs typeface="Calibri" pitchFamily="34" charset="-120"/>
              </a:rPr>
              <a:t>Canary memories per tenant, barrier and state make leakage a measurement, not an estimate. Re-run on: backend upgrade · model / embedder change · schema migration · new advisory · new tenant class · policy change.</a:t>
            </a:r>
            <a:endParaRPr lang="en-US" sz="1050" dirty="0"/>
          </a:p>
        </p:txBody>
      </p:sp>
      <p:sp>
        <p:nvSpPr>
          <p:cNvPr id="78" name="Shape 67"/>
          <p:cNvSpPr/>
          <p:nvPr/>
        </p:nvSpPr>
        <p:spPr>
          <a:xfrm>
            <a:off x="548640" y="5394960"/>
            <a:ext cx="11094415" cy="548640"/>
          </a:xfrm>
          <a:prstGeom prst="roundRect">
            <a:avLst>
              <a:gd name="adj" fmla="val 16667"/>
            </a:avLst>
          </a:prstGeom>
          <a:solidFill>
            <a:srgbClr val="0B1F3A"/>
          </a:solidFill>
          <a:ln w="12700">
            <a:solidFill>
              <a:srgbClr val="0B1F3A"/>
            </a:solidFill>
            <a:prstDash val="solid"/>
          </a:ln>
        </p:spPr>
      </p:sp>
      <p:sp>
        <p:nvSpPr>
          <p:cNvPr id="79" name="Text 68"/>
          <p:cNvSpPr txBox="1"/>
          <p:nvPr/>
        </p:nvSpPr>
        <p:spPr>
          <a:xfrm>
            <a:off x="822960" y="5394960"/>
            <a:ext cx="10545775"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Every backend — internal or third-party — passes the same RockAI contract. This avoids inheriting a vendor’s definition of “secure,” “deleted,” or “isolated.”</a:t>
            </a:r>
            <a:endParaRPr lang="en-US" sz="1200" dirty="0"/>
          </a:p>
        </p:txBody>
      </p:sp>
      <p:sp>
        <p:nvSpPr>
          <p:cNvPr id="80" name="Text 69"/>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Graphiti example: CVE-2026-32247 (High, patched 0.28.2) and CVE-2026-90601 (Medium–High, unpatched, 13 Sept 2026) show why gates 1 and 3 re-run continuously, not once.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Memory governance test suite</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33</a:t>
            </a:r>
            <a:endParaRPr lang="en-US" sz="900" dirty="0"/>
          </a:p>
        </p:txBody>
      </p:sp>
      <p:sp>
        <p:nvSpPr>
          <p:cNvPr id="5" name="Shape 3"/>
          <p:cNvSpPr/>
          <p:nvPr/>
        </p:nvSpPr>
        <p:spPr>
          <a:xfrm>
            <a:off x="548640" y="1371600"/>
            <a:ext cx="3566160" cy="1965960"/>
          </a:xfrm>
          <a:prstGeom prst="roundRect">
            <a:avLst>
              <a:gd name="adj" fmla="val 3721"/>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E3E9F3"/>
          </a:solidFill>
          <a:ln w="12700">
            <a:solidFill>
              <a:srgbClr val="E3E9F3"/>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Subject rights</a:t>
            </a:r>
            <a:endParaRPr lang="en-US" sz="1300" dirty="0"/>
          </a:p>
        </p:txBody>
      </p:sp>
      <p:sp>
        <p:nvSpPr>
          <p:cNvPr id="9" name="Text 6"/>
          <p:cNvSpPr txBox="1"/>
          <p:nvPr/>
        </p:nvSpPr>
        <p:spPr>
          <a:xfrm>
            <a:off x="731520" y="201168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erase, rectify, restrict, export</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verify orphan cleanup after episode deletion</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backup / restore does not resurrect</a:t>
            </a:r>
            <a:endParaRPr lang="en-US" sz="1100" dirty="0"/>
          </a:p>
        </p:txBody>
      </p:sp>
      <p:sp>
        <p:nvSpPr>
          <p:cNvPr id="10" name="Shape 7"/>
          <p:cNvSpPr/>
          <p:nvPr/>
        </p:nvSpPr>
        <p:spPr>
          <a:xfrm>
            <a:off x="4315968" y="1371600"/>
            <a:ext cx="3566160" cy="1965960"/>
          </a:xfrm>
          <a:prstGeom prst="roundRect">
            <a:avLst>
              <a:gd name="adj" fmla="val 3721"/>
            </a:avLst>
          </a:prstGeom>
          <a:solidFill>
            <a:srgbClr val="F7F9FC"/>
          </a:solidFill>
          <a:ln w="9525">
            <a:solidFill>
              <a:srgbClr val="D5DDE9"/>
            </a:solidFill>
            <a:prstDash val="solid"/>
          </a:ln>
        </p:spPr>
      </p:sp>
      <p:sp>
        <p:nvSpPr>
          <p:cNvPr id="11" name="Shape 8"/>
          <p:cNvSpPr/>
          <p:nvPr/>
        </p:nvSpPr>
        <p:spPr>
          <a:xfrm>
            <a:off x="4480560" y="1536192"/>
            <a:ext cx="384048" cy="384048"/>
          </a:xfrm>
          <a:prstGeom prst="ellipse">
            <a:avLst/>
          </a:prstGeom>
          <a:solidFill>
            <a:srgbClr val="DDF0ED"/>
          </a:solidFill>
          <a:ln w="12700">
            <a:solidFill>
              <a:srgbClr val="DDF0ED"/>
            </a:solidFill>
            <a:prstDash val="solid"/>
          </a:ln>
        </p:spPr>
      </p:sp>
      <p:pic>
        <p:nvPicPr>
          <p:cNvPr id="12" name="Image 1" descr="preencoded.png">    </p:cNvPr>
          <p:cNvPicPr>
            <a:picLocks noChangeAspect="1"/>
          </p:cNvPicPr>
          <p:nvPr/>
        </p:nvPicPr>
        <p:blipFill>
          <a:blip r:embed="rId2"/>
          <a:stretch>
            <a:fillRect/>
          </a:stretch>
        </p:blipFill>
        <p:spPr>
          <a:xfrm>
            <a:off x="4572732" y="1628364"/>
            <a:ext cx="199705" cy="199705"/>
          </a:xfrm>
          <a:prstGeom prst="rect">
            <a:avLst/>
          </a:prstGeom>
        </p:spPr>
      </p:pic>
      <p:sp>
        <p:nvSpPr>
          <p:cNvPr id="13" name="Text 9"/>
          <p:cNvSpPr txBox="1"/>
          <p:nvPr/>
        </p:nvSpPr>
        <p:spPr>
          <a:xfrm>
            <a:off x="4974336" y="153619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Isolation</a:t>
            </a:r>
            <a:endParaRPr lang="en-US" sz="1300" dirty="0"/>
          </a:p>
        </p:txBody>
      </p:sp>
      <p:sp>
        <p:nvSpPr>
          <p:cNvPr id="14" name="Text 10"/>
          <p:cNvSpPr txBox="1"/>
          <p:nvPr/>
        </p:nvSpPr>
        <p:spPr>
          <a:xfrm>
            <a:off x="4498848" y="201168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cross-tenant retrieval and graph traversal</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cache leakage, namespace bypass</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injection-driven traversal (CVE-2026-32247 pattern)</a:t>
            </a:r>
            <a:endParaRPr lang="en-US" sz="1100" dirty="0"/>
          </a:p>
        </p:txBody>
      </p:sp>
      <p:sp>
        <p:nvSpPr>
          <p:cNvPr id="15" name="Shape 11"/>
          <p:cNvSpPr/>
          <p:nvPr/>
        </p:nvSpPr>
        <p:spPr>
          <a:xfrm>
            <a:off x="8083296" y="1371600"/>
            <a:ext cx="3566160" cy="1965960"/>
          </a:xfrm>
          <a:prstGeom prst="roundRect">
            <a:avLst>
              <a:gd name="adj" fmla="val 3721"/>
            </a:avLst>
          </a:prstGeom>
          <a:solidFill>
            <a:srgbClr val="F7F9FC"/>
          </a:solidFill>
          <a:ln w="9525">
            <a:solidFill>
              <a:srgbClr val="D5DDE9"/>
            </a:solidFill>
            <a:prstDash val="solid"/>
          </a:ln>
        </p:spPr>
      </p:sp>
      <p:sp>
        <p:nvSpPr>
          <p:cNvPr id="16" name="Shape 12"/>
          <p:cNvSpPr/>
          <p:nvPr/>
        </p:nvSpPr>
        <p:spPr>
          <a:xfrm>
            <a:off x="8247888" y="1536192"/>
            <a:ext cx="384048" cy="384048"/>
          </a:xfrm>
          <a:prstGeom prst="ellipse">
            <a:avLst/>
          </a:prstGeom>
          <a:solidFill>
            <a:srgbClr val="FBF1DE"/>
          </a:solidFill>
          <a:ln w="12700">
            <a:solidFill>
              <a:srgbClr val="FBF1DE"/>
            </a:solidFill>
            <a:prstDash val="solid"/>
          </a:ln>
        </p:spPr>
      </p:sp>
      <p:pic>
        <p:nvPicPr>
          <p:cNvPr id="17" name="Image 2" descr="preencoded.png">    </p:cNvPr>
          <p:cNvPicPr>
            <a:picLocks noChangeAspect="1"/>
          </p:cNvPicPr>
          <p:nvPr/>
        </p:nvPicPr>
        <p:blipFill>
          <a:blip r:embed="rId3"/>
          <a:stretch>
            <a:fillRect/>
          </a:stretch>
        </p:blipFill>
        <p:spPr>
          <a:xfrm>
            <a:off x="8340060" y="1628364"/>
            <a:ext cx="199705" cy="199705"/>
          </a:xfrm>
          <a:prstGeom prst="rect">
            <a:avLst/>
          </a:prstGeom>
        </p:spPr>
      </p:pic>
      <p:sp>
        <p:nvSpPr>
          <p:cNvPr id="18" name="Text 13"/>
          <p:cNvSpPr txBox="1"/>
          <p:nvPr/>
        </p:nvSpPr>
        <p:spPr>
          <a:xfrm>
            <a:off x="8741664" y="153619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Temporal integrity</a:t>
            </a:r>
            <a:endParaRPr lang="en-US" sz="1300" dirty="0"/>
          </a:p>
        </p:txBody>
      </p:sp>
      <p:sp>
        <p:nvSpPr>
          <p:cNvPr id="19" name="Text 14"/>
          <p:cNvSpPr txBox="1"/>
          <p:nvPr/>
        </p:nvSpPr>
        <p:spPr>
          <a:xfrm>
            <a:off x="8266176" y="201168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superseded preference, stale fact, expiry</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conflicting sources</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authority collapse (AuthMem-Bench)</a:t>
            </a:r>
            <a:endParaRPr lang="en-US" sz="1100" dirty="0"/>
          </a:p>
        </p:txBody>
      </p:sp>
      <p:sp>
        <p:nvSpPr>
          <p:cNvPr id="20" name="Shape 15"/>
          <p:cNvSpPr/>
          <p:nvPr/>
        </p:nvSpPr>
        <p:spPr>
          <a:xfrm>
            <a:off x="548640" y="3520440"/>
            <a:ext cx="3566160" cy="1965960"/>
          </a:xfrm>
          <a:prstGeom prst="roundRect">
            <a:avLst>
              <a:gd name="adj" fmla="val 3721"/>
            </a:avLst>
          </a:prstGeom>
          <a:solidFill>
            <a:srgbClr val="F7F9FC"/>
          </a:solidFill>
          <a:ln w="9525">
            <a:solidFill>
              <a:srgbClr val="D5DDE9"/>
            </a:solidFill>
            <a:prstDash val="solid"/>
          </a:ln>
        </p:spPr>
      </p:sp>
      <p:sp>
        <p:nvSpPr>
          <p:cNvPr id="21" name="Shape 16"/>
          <p:cNvSpPr/>
          <p:nvPr/>
        </p:nvSpPr>
        <p:spPr>
          <a:xfrm>
            <a:off x="713232" y="3685032"/>
            <a:ext cx="384048" cy="384048"/>
          </a:xfrm>
          <a:prstGeom prst="ellipse">
            <a:avLst/>
          </a:prstGeom>
          <a:solidFill>
            <a:srgbClr val="F8E3DE"/>
          </a:solidFill>
          <a:ln w="12700">
            <a:solidFill>
              <a:srgbClr val="F8E3DE"/>
            </a:solidFill>
            <a:prstDash val="solid"/>
          </a:ln>
        </p:spPr>
      </p:sp>
      <p:pic>
        <p:nvPicPr>
          <p:cNvPr id="22" name="Image 3" descr="preencoded.png">    </p:cNvPr>
          <p:cNvPicPr>
            <a:picLocks noChangeAspect="1"/>
          </p:cNvPicPr>
          <p:nvPr/>
        </p:nvPicPr>
        <p:blipFill>
          <a:blip r:embed="rId4"/>
          <a:stretch>
            <a:fillRect/>
          </a:stretch>
        </p:blipFill>
        <p:spPr>
          <a:xfrm>
            <a:off x="805404" y="3777204"/>
            <a:ext cx="199705" cy="199705"/>
          </a:xfrm>
          <a:prstGeom prst="rect">
            <a:avLst/>
          </a:prstGeom>
        </p:spPr>
      </p:pic>
      <p:sp>
        <p:nvSpPr>
          <p:cNvPr id="23" name="Text 17"/>
          <p:cNvSpPr txBox="1"/>
          <p:nvPr/>
        </p:nvSpPr>
        <p:spPr>
          <a:xfrm>
            <a:off x="1207008" y="368503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Inference risk</a:t>
            </a:r>
            <a:endParaRPr lang="en-US" sz="1300" dirty="0"/>
          </a:p>
        </p:txBody>
      </p:sp>
      <p:sp>
        <p:nvSpPr>
          <p:cNvPr id="24" name="Text 18"/>
          <p:cNvSpPr txBox="1"/>
          <p:nvPr/>
        </p:nvSpPr>
        <p:spPr>
          <a:xfrm>
            <a:off x="731520" y="416052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sensitive-attribute inference</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weak-evidence derived fact</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hallucinated relationship</a:t>
            </a:r>
            <a:endParaRPr lang="en-US" sz="1100" dirty="0"/>
          </a:p>
        </p:txBody>
      </p:sp>
      <p:sp>
        <p:nvSpPr>
          <p:cNvPr id="25" name="Shape 19"/>
          <p:cNvSpPr/>
          <p:nvPr/>
        </p:nvSpPr>
        <p:spPr>
          <a:xfrm>
            <a:off x="4315968" y="3520440"/>
            <a:ext cx="3566160" cy="1965960"/>
          </a:xfrm>
          <a:prstGeom prst="roundRect">
            <a:avLst>
              <a:gd name="adj" fmla="val 3721"/>
            </a:avLst>
          </a:prstGeom>
          <a:solidFill>
            <a:srgbClr val="F7F9FC"/>
          </a:solidFill>
          <a:ln w="9525">
            <a:solidFill>
              <a:srgbClr val="D5DDE9"/>
            </a:solidFill>
            <a:prstDash val="solid"/>
          </a:ln>
        </p:spPr>
      </p:sp>
      <p:sp>
        <p:nvSpPr>
          <p:cNvPr id="26" name="Shape 20"/>
          <p:cNvSpPr/>
          <p:nvPr/>
        </p:nvSpPr>
        <p:spPr>
          <a:xfrm>
            <a:off x="4480560" y="3685032"/>
            <a:ext cx="384048" cy="384048"/>
          </a:xfrm>
          <a:prstGeom prst="ellipse">
            <a:avLst/>
          </a:prstGeom>
          <a:solidFill>
            <a:srgbClr val="E3E9F3"/>
          </a:solidFill>
          <a:ln w="12700">
            <a:solidFill>
              <a:srgbClr val="E3E9F3"/>
            </a:solidFill>
            <a:prstDash val="solid"/>
          </a:ln>
        </p:spPr>
      </p:sp>
      <p:pic>
        <p:nvPicPr>
          <p:cNvPr id="27" name="Image 4" descr="preencoded.png">    </p:cNvPr>
          <p:cNvPicPr>
            <a:picLocks noChangeAspect="1"/>
          </p:cNvPicPr>
          <p:nvPr/>
        </p:nvPicPr>
        <p:blipFill>
          <a:blip r:embed="rId5"/>
          <a:stretch>
            <a:fillRect/>
          </a:stretch>
        </p:blipFill>
        <p:spPr>
          <a:xfrm>
            <a:off x="4572732" y="3777204"/>
            <a:ext cx="199705" cy="199705"/>
          </a:xfrm>
          <a:prstGeom prst="rect">
            <a:avLst/>
          </a:prstGeom>
        </p:spPr>
      </p:pic>
      <p:sp>
        <p:nvSpPr>
          <p:cNvPr id="28" name="Text 21"/>
          <p:cNvSpPr txBox="1"/>
          <p:nvPr/>
        </p:nvSpPr>
        <p:spPr>
          <a:xfrm>
            <a:off x="4974336" y="368503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Security</a:t>
            </a:r>
            <a:endParaRPr lang="en-US" sz="1300" dirty="0"/>
          </a:p>
        </p:txBody>
      </p:sp>
      <p:sp>
        <p:nvSpPr>
          <p:cNvPr id="29" name="Text 22"/>
          <p:cNvSpPr txBox="1"/>
          <p:nvPr/>
        </p:nvSpPr>
        <p:spPr>
          <a:xfrm>
            <a:off x="4498848" y="416052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indirect prompt injection, poisoned memory</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malicious edge, promotion attack</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safety-memory dilution via near-duplicates</a:t>
            </a:r>
            <a:endParaRPr lang="en-US" sz="1100" dirty="0"/>
          </a:p>
        </p:txBody>
      </p:sp>
      <p:sp>
        <p:nvSpPr>
          <p:cNvPr id="30" name="Shape 23"/>
          <p:cNvSpPr/>
          <p:nvPr/>
        </p:nvSpPr>
        <p:spPr>
          <a:xfrm>
            <a:off x="8083296" y="3520440"/>
            <a:ext cx="3566160" cy="1965960"/>
          </a:xfrm>
          <a:prstGeom prst="roundRect">
            <a:avLst>
              <a:gd name="adj" fmla="val 3721"/>
            </a:avLst>
          </a:prstGeom>
          <a:solidFill>
            <a:srgbClr val="F7F9FC"/>
          </a:solidFill>
          <a:ln w="9525">
            <a:solidFill>
              <a:srgbClr val="D5DDE9"/>
            </a:solidFill>
            <a:prstDash val="solid"/>
          </a:ln>
        </p:spPr>
      </p:sp>
      <p:sp>
        <p:nvSpPr>
          <p:cNvPr id="31" name="Shape 24"/>
          <p:cNvSpPr/>
          <p:nvPr/>
        </p:nvSpPr>
        <p:spPr>
          <a:xfrm>
            <a:off x="8247888" y="3685032"/>
            <a:ext cx="384048" cy="384048"/>
          </a:xfrm>
          <a:prstGeom prst="ellipse">
            <a:avLst/>
          </a:prstGeom>
          <a:solidFill>
            <a:srgbClr val="DDF0ED"/>
          </a:solidFill>
          <a:ln w="12700">
            <a:solidFill>
              <a:srgbClr val="DDF0ED"/>
            </a:solidFill>
            <a:prstDash val="solid"/>
          </a:ln>
        </p:spPr>
      </p:sp>
      <p:pic>
        <p:nvPicPr>
          <p:cNvPr id="32" name="Image 5" descr="preencoded.png">    </p:cNvPr>
          <p:cNvPicPr>
            <a:picLocks noChangeAspect="1"/>
          </p:cNvPicPr>
          <p:nvPr/>
        </p:nvPicPr>
        <p:blipFill>
          <a:blip r:embed="rId6"/>
          <a:stretch>
            <a:fillRect/>
          </a:stretch>
        </p:blipFill>
        <p:spPr>
          <a:xfrm>
            <a:off x="8340060" y="3777204"/>
            <a:ext cx="199705" cy="199705"/>
          </a:xfrm>
          <a:prstGeom prst="rect">
            <a:avLst/>
          </a:prstGeom>
        </p:spPr>
      </p:pic>
      <p:sp>
        <p:nvSpPr>
          <p:cNvPr id="33" name="Text 25"/>
          <p:cNvSpPr txBox="1"/>
          <p:nvPr/>
        </p:nvSpPr>
        <p:spPr>
          <a:xfrm>
            <a:off x="8741664" y="3685032"/>
            <a:ext cx="2743200" cy="384048"/>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Provider control</a:t>
            </a:r>
            <a:endParaRPr lang="en-US" sz="1300" dirty="0"/>
          </a:p>
        </p:txBody>
      </p:sp>
      <p:sp>
        <p:nvSpPr>
          <p:cNvPr id="34" name="Text 26"/>
          <p:cNvSpPr txBox="1"/>
          <p:nvPr/>
        </p:nvSpPr>
        <p:spPr>
          <a:xfrm>
            <a:off x="8266176" y="416052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unauthorized endpoint, fallback egress</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unapproved model / version change</a:t>
            </a:r>
            <a:endParaRPr lang="en-US" sz="1100" dirty="0"/>
          </a:p>
          <a:p>
            <a:pPr marL="152400" indent="-1524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telemetry leakage</a:t>
            </a:r>
            <a:endParaRPr lang="en-US" sz="1100" dirty="0"/>
          </a:p>
        </p:txBody>
      </p:sp>
      <p:sp>
        <p:nvSpPr>
          <p:cNvPr id="35" name="Shape 27"/>
          <p:cNvSpPr/>
          <p:nvPr/>
        </p:nvSpPr>
        <p:spPr>
          <a:xfrm>
            <a:off x="548640" y="5669280"/>
            <a:ext cx="11094415" cy="502920"/>
          </a:xfrm>
          <a:prstGeom prst="roundRect">
            <a:avLst>
              <a:gd name="adj" fmla="val 18182"/>
            </a:avLst>
          </a:prstGeom>
          <a:solidFill>
            <a:srgbClr val="12867A"/>
          </a:solidFill>
          <a:ln w="12700">
            <a:solidFill>
              <a:srgbClr val="12867A"/>
            </a:solidFill>
            <a:prstDash val="solid"/>
          </a:ln>
        </p:spPr>
      </p:sp>
      <p:sp>
        <p:nvSpPr>
          <p:cNvPr id="36" name="Text 28"/>
          <p:cNvSpPr txBox="1"/>
          <p:nvPr/>
        </p:nvSpPr>
        <p:spPr>
          <a:xfrm>
            <a:off x="822960" y="5669280"/>
            <a:ext cx="10545775"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Executable governance: every test has a fixture, an oracle and a threshold; canaries planted per scope turn “did it leak?” into a yes/no; AuthMem-Bench, Memory-Contagion and dilution runs are named protocols, not ad hoc red-teaming.</a:t>
            </a:r>
            <a:endParaRPr lang="en-US" sz="1100" dirty="0"/>
          </a:p>
        </p:txBody>
      </p:sp>
      <p:sp>
        <p:nvSpPr>
          <p:cNvPr id="37" name="Text 29"/>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Metrics for governed memory</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34</a:t>
            </a:r>
            <a:endParaRPr lang="en-US" sz="900" dirty="0"/>
          </a:p>
        </p:txBody>
      </p:sp>
      <p:sp>
        <p:nvSpPr>
          <p:cNvPr id="5" name="Shape 3"/>
          <p:cNvSpPr/>
          <p:nvPr/>
        </p:nvSpPr>
        <p:spPr>
          <a:xfrm>
            <a:off x="548640" y="1371600"/>
            <a:ext cx="3566160" cy="1298448"/>
          </a:xfrm>
          <a:prstGeom prst="roundRect">
            <a:avLst>
              <a:gd name="adj" fmla="val 5634"/>
            </a:avLst>
          </a:prstGeom>
          <a:solidFill>
            <a:srgbClr val="F7F9FC"/>
          </a:solidFill>
          <a:ln w="9525">
            <a:solidFill>
              <a:srgbClr val="D5DDE9"/>
            </a:solidFill>
            <a:prstDash val="solid"/>
          </a:ln>
        </p:spPr>
        <p:txBody>
          <a:bodyPr/>
          <a:p/>
        </p:txBody>
      </p:sp>
      <p:sp>
        <p:nvSpPr>
          <p:cNvPr id="6" name="Text 4"/>
          <p:cNvSpPr txBox="1"/>
          <p:nvPr/>
        </p:nvSpPr>
        <p:spPr>
          <a:xfrm>
            <a:off x="713232" y="1444752"/>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MLC</a:t>
            </a:r>
            <a:endParaRPr lang="en-US" sz="2400" dirty="0"/>
          </a:p>
        </p:txBody>
      </p:sp>
      <p:sp>
        <p:nvSpPr>
          <p:cNvPr id="7" name="Shape 5"/>
          <p:cNvSpPr/>
          <p:nvPr/>
        </p:nvSpPr>
        <p:spPr>
          <a:xfrm>
            <a:off x="3063240" y="1508760"/>
            <a:ext cx="896112" cy="347472"/>
          </a:xfrm>
          <a:prstGeom prst="roundRect">
            <a:avLst>
              <a:gd name="adj" fmla="val 15789"/>
            </a:avLst>
          </a:prstGeom>
          <a:solidFill>
            <a:srgbClr val="12867A"/>
          </a:solidFill>
          <a:ln w="12700">
            <a:solidFill>
              <a:srgbClr val="12867A"/>
            </a:solidFill>
            <a:prstDash val="solid"/>
          </a:ln>
        </p:spPr>
        <p:txBody>
          <a:bodyPr/>
          <a:p/>
        </p:txBody>
      </p:sp>
      <p:sp>
        <p:nvSpPr>
          <p:cNvPr id="8" name="Text 6"/>
          <p:cNvSpPr txBox="1"/>
          <p:nvPr/>
        </p:nvSpPr>
        <p:spPr>
          <a:xfrm>
            <a:off x="3063240" y="1508760"/>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100%</a:t>
            </a:r>
            <a:endParaRPr lang="en-US" sz="1100" dirty="0"/>
          </a:p>
        </p:txBody>
      </p:sp>
      <p:sp>
        <p:nvSpPr>
          <p:cNvPr id="9" name="Text 7"/>
          <p:cNvSpPr txBox="1"/>
          <p:nvPr/>
        </p:nvSpPr>
        <p:spPr>
          <a:xfrm>
            <a:off x="2103120" y="1481328"/>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Lineage coverage</a:t>
            </a:r>
            <a:endParaRPr lang="en-US" sz="1100" dirty="0"/>
          </a:p>
        </p:txBody>
      </p:sp>
      <p:sp>
        <p:nvSpPr>
          <p:cNvPr id="10" name="Text 8"/>
          <p:cNvSpPr txBox="1"/>
          <p:nvPr/>
        </p:nvSpPr>
        <p:spPr>
          <a:xfrm>
            <a:off x="713232" y="1975104"/>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reconstructible provenance ÷ persisted memories</a:t>
            </a:r>
            <a:endParaRPr lang="en-US" sz="1000" dirty="0"/>
          </a:p>
        </p:txBody>
      </p:sp>
      <p:sp>
        <p:nvSpPr>
          <p:cNvPr id="11" name="Shape 9"/>
          <p:cNvSpPr/>
          <p:nvPr/>
        </p:nvSpPr>
        <p:spPr>
          <a:xfrm>
            <a:off x="4315968" y="1371600"/>
            <a:ext cx="3566160" cy="1298448"/>
          </a:xfrm>
          <a:prstGeom prst="roundRect">
            <a:avLst>
              <a:gd name="adj" fmla="val 5634"/>
            </a:avLst>
          </a:prstGeom>
          <a:solidFill>
            <a:srgbClr val="F7F9FC"/>
          </a:solidFill>
          <a:ln w="9525">
            <a:solidFill>
              <a:srgbClr val="D5DDE9"/>
            </a:solidFill>
            <a:prstDash val="solid"/>
          </a:ln>
        </p:spPr>
        <p:txBody>
          <a:bodyPr/>
          <a:p/>
        </p:txBody>
      </p:sp>
      <p:sp>
        <p:nvSpPr>
          <p:cNvPr id="12" name="Text 10"/>
          <p:cNvSpPr txBox="1"/>
          <p:nvPr/>
        </p:nvSpPr>
        <p:spPr>
          <a:xfrm>
            <a:off x="4480560" y="1444752"/>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EC</a:t>
            </a:r>
            <a:endParaRPr lang="en-US" sz="2400" dirty="0"/>
          </a:p>
        </p:txBody>
      </p:sp>
      <p:sp>
        <p:nvSpPr>
          <p:cNvPr id="13" name="Shape 11"/>
          <p:cNvSpPr/>
          <p:nvPr/>
        </p:nvSpPr>
        <p:spPr>
          <a:xfrm>
            <a:off x="6830568" y="1508760"/>
            <a:ext cx="896112" cy="347472"/>
          </a:xfrm>
          <a:prstGeom prst="roundRect">
            <a:avLst>
              <a:gd name="adj" fmla="val 15789"/>
            </a:avLst>
          </a:prstGeom>
          <a:solidFill>
            <a:srgbClr val="12867A"/>
          </a:solidFill>
          <a:ln w="12700">
            <a:solidFill>
              <a:srgbClr val="12867A"/>
            </a:solidFill>
            <a:prstDash val="solid"/>
          </a:ln>
        </p:spPr>
        <p:txBody>
          <a:bodyPr/>
          <a:p/>
        </p:txBody>
      </p:sp>
      <p:sp>
        <p:nvSpPr>
          <p:cNvPr id="14" name="Text 12"/>
          <p:cNvSpPr txBox="1"/>
          <p:nvPr/>
        </p:nvSpPr>
        <p:spPr>
          <a:xfrm>
            <a:off x="6830568" y="1508760"/>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1.0</a:t>
            </a:r>
            <a:endParaRPr lang="en-US" sz="1100" dirty="0"/>
          </a:p>
        </p:txBody>
      </p:sp>
      <p:sp>
        <p:nvSpPr>
          <p:cNvPr id="15" name="Text 13"/>
          <p:cNvSpPr txBox="1"/>
          <p:nvPr/>
        </p:nvSpPr>
        <p:spPr>
          <a:xfrm>
            <a:off x="5870448" y="1481328"/>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Erasure completeness</a:t>
            </a:r>
            <a:endParaRPr lang="en-US" sz="1100" dirty="0"/>
          </a:p>
        </p:txBody>
      </p:sp>
      <p:sp>
        <p:nvSpPr>
          <p:cNvPr id="16" name="Text 14"/>
          <p:cNvSpPr txBox="1"/>
          <p:nvPr/>
        </p:nvSpPr>
        <p:spPr>
          <a:xfrm>
            <a:off x="4480560" y="1975104"/>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1 − residual artifacts ÷ pre-deletion artifacts (raw-index check)</a:t>
            </a:r>
            <a:endParaRPr lang="en-US" sz="1000" dirty="0"/>
          </a:p>
        </p:txBody>
      </p:sp>
      <p:sp>
        <p:nvSpPr>
          <p:cNvPr id="17" name="Shape 15"/>
          <p:cNvSpPr/>
          <p:nvPr/>
        </p:nvSpPr>
        <p:spPr>
          <a:xfrm>
            <a:off x="8083296" y="1371600"/>
            <a:ext cx="3566160" cy="1298448"/>
          </a:xfrm>
          <a:prstGeom prst="roundRect">
            <a:avLst>
              <a:gd name="adj" fmla="val 5634"/>
            </a:avLst>
          </a:prstGeom>
          <a:solidFill>
            <a:srgbClr val="F7F9FC"/>
          </a:solidFill>
          <a:ln w="9525">
            <a:solidFill>
              <a:srgbClr val="D5DDE9"/>
            </a:solidFill>
            <a:prstDash val="solid"/>
          </a:ln>
        </p:spPr>
        <p:txBody>
          <a:bodyPr/>
          <a:p/>
        </p:txBody>
      </p:sp>
      <p:sp>
        <p:nvSpPr>
          <p:cNvPr id="18" name="Text 16"/>
          <p:cNvSpPr txBox="1"/>
          <p:nvPr/>
        </p:nvSpPr>
        <p:spPr>
          <a:xfrm>
            <a:off x="8247888" y="1444752"/>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CSLR</a:t>
            </a:r>
            <a:endParaRPr lang="en-US" sz="2400" dirty="0"/>
          </a:p>
        </p:txBody>
      </p:sp>
      <p:sp>
        <p:nvSpPr>
          <p:cNvPr id="19" name="Shape 17"/>
          <p:cNvSpPr/>
          <p:nvPr/>
        </p:nvSpPr>
        <p:spPr>
          <a:xfrm>
            <a:off x="10597896" y="1508760"/>
            <a:ext cx="896112" cy="347472"/>
          </a:xfrm>
          <a:prstGeom prst="roundRect">
            <a:avLst>
              <a:gd name="adj" fmla="val 15789"/>
            </a:avLst>
          </a:prstGeom>
          <a:solidFill>
            <a:srgbClr val="C8452B"/>
          </a:solidFill>
          <a:ln w="12700">
            <a:solidFill>
              <a:srgbClr val="C8452B"/>
            </a:solidFill>
            <a:prstDash val="solid"/>
          </a:ln>
        </p:spPr>
        <p:txBody>
          <a:bodyPr/>
          <a:p/>
        </p:txBody>
      </p:sp>
      <p:sp>
        <p:nvSpPr>
          <p:cNvPr id="20" name="Text 18"/>
          <p:cNvSpPr txBox="1"/>
          <p:nvPr/>
        </p:nvSpPr>
        <p:spPr>
          <a:xfrm>
            <a:off x="10597896" y="1508760"/>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0</a:t>
            </a:r>
            <a:endParaRPr lang="en-US" sz="1100" dirty="0"/>
          </a:p>
        </p:txBody>
      </p:sp>
      <p:sp>
        <p:nvSpPr>
          <p:cNvPr id="21" name="Text 19"/>
          <p:cNvSpPr txBox="1"/>
          <p:nvPr/>
        </p:nvSpPr>
        <p:spPr>
          <a:xfrm>
            <a:off x="9637776" y="1481328"/>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Cross-scope leakage</a:t>
            </a:r>
            <a:endParaRPr lang="en-US" sz="1100" dirty="0"/>
          </a:p>
        </p:txBody>
      </p:sp>
      <p:sp>
        <p:nvSpPr>
          <p:cNvPr id="22" name="Text 20"/>
          <p:cNvSpPr txBox="1"/>
          <p:nvPr/>
        </p:nvSpPr>
        <p:spPr>
          <a:xfrm>
            <a:off x="8247888" y="1975104"/>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canary hits outside scope ÷ adversarial attempts</a:t>
            </a:r>
            <a:endParaRPr lang="en-US" sz="1000" dirty="0"/>
          </a:p>
        </p:txBody>
      </p:sp>
      <p:sp>
        <p:nvSpPr>
          <p:cNvPr id="23" name="Shape 21"/>
          <p:cNvSpPr/>
          <p:nvPr/>
        </p:nvSpPr>
        <p:spPr>
          <a:xfrm>
            <a:off x="548640" y="2798064"/>
            <a:ext cx="3566160" cy="1298448"/>
          </a:xfrm>
          <a:prstGeom prst="roundRect">
            <a:avLst>
              <a:gd name="adj" fmla="val 5634"/>
            </a:avLst>
          </a:prstGeom>
          <a:solidFill>
            <a:srgbClr val="F7F9FC"/>
          </a:solidFill>
          <a:ln w="9525">
            <a:solidFill>
              <a:srgbClr val="D5DDE9"/>
            </a:solidFill>
            <a:prstDash val="solid"/>
          </a:ln>
        </p:spPr>
        <p:txBody>
          <a:bodyPr/>
          <a:p/>
        </p:txBody>
      </p:sp>
      <p:sp>
        <p:nvSpPr>
          <p:cNvPr id="24" name="Text 22"/>
          <p:cNvSpPr txBox="1"/>
          <p:nvPr/>
        </p:nvSpPr>
        <p:spPr>
          <a:xfrm>
            <a:off x="713232" y="2871216"/>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SMUR</a:t>
            </a:r>
            <a:endParaRPr lang="en-US" sz="2400" dirty="0"/>
          </a:p>
        </p:txBody>
      </p:sp>
      <p:sp>
        <p:nvSpPr>
          <p:cNvPr id="25" name="Shape 23"/>
          <p:cNvSpPr/>
          <p:nvPr/>
        </p:nvSpPr>
        <p:spPr>
          <a:xfrm>
            <a:off x="3063240" y="2935224"/>
            <a:ext cx="896112" cy="347472"/>
          </a:xfrm>
          <a:prstGeom prst="roundRect">
            <a:avLst>
              <a:gd name="adj" fmla="val 15789"/>
            </a:avLst>
          </a:prstGeom>
          <a:solidFill>
            <a:srgbClr val="D98E04"/>
          </a:solidFill>
          <a:ln w="12700">
            <a:solidFill>
              <a:srgbClr val="D98E04"/>
            </a:solidFill>
            <a:prstDash val="solid"/>
          </a:ln>
        </p:spPr>
        <p:txBody>
          <a:bodyPr/>
          <a:p/>
        </p:txBody>
      </p:sp>
      <p:sp>
        <p:nvSpPr>
          <p:cNvPr id="26" name="Text 24"/>
          <p:cNvSpPr txBox="1"/>
          <p:nvPr/>
        </p:nvSpPr>
        <p:spPr>
          <a:xfrm>
            <a:off x="3063240" y="2935224"/>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2103120" y="2907792"/>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Stale memory use</a:t>
            </a:r>
            <a:endParaRPr lang="en-US" sz="1100" dirty="0"/>
          </a:p>
        </p:txBody>
      </p:sp>
      <p:sp>
        <p:nvSpPr>
          <p:cNvPr id="28" name="Text 26"/>
          <p:cNvSpPr txBox="1"/>
          <p:nvPr/>
        </p:nvSpPr>
        <p:spPr>
          <a:xfrm>
            <a:off x="713232" y="3401568"/>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stale memories in context and referenced ÷ memory-assisted decisions</a:t>
            </a:r>
            <a:endParaRPr lang="en-US" sz="1000" dirty="0"/>
          </a:p>
        </p:txBody>
      </p:sp>
      <p:sp>
        <p:nvSpPr>
          <p:cNvPr id="29" name="Shape 27"/>
          <p:cNvSpPr/>
          <p:nvPr/>
        </p:nvSpPr>
        <p:spPr>
          <a:xfrm>
            <a:off x="4315968" y="2798064"/>
            <a:ext cx="3566160" cy="1298448"/>
          </a:xfrm>
          <a:prstGeom prst="roundRect">
            <a:avLst>
              <a:gd name="adj" fmla="val 5634"/>
            </a:avLst>
          </a:prstGeom>
          <a:solidFill>
            <a:srgbClr val="F7F9FC"/>
          </a:solidFill>
          <a:ln w="9525">
            <a:solidFill>
              <a:srgbClr val="D5DDE9"/>
            </a:solidFill>
            <a:prstDash val="solid"/>
          </a:ln>
        </p:spPr>
        <p:txBody>
          <a:bodyPr/>
          <a:p/>
        </p:txBody>
      </p:sp>
      <p:sp>
        <p:nvSpPr>
          <p:cNvPr id="30" name="Text 28"/>
          <p:cNvSpPr txBox="1"/>
          <p:nvPr/>
        </p:nvSpPr>
        <p:spPr>
          <a:xfrm>
            <a:off x="4480560" y="2871216"/>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UIR</a:t>
            </a:r>
            <a:endParaRPr lang="en-US" sz="2400" dirty="0"/>
          </a:p>
        </p:txBody>
      </p:sp>
      <p:sp>
        <p:nvSpPr>
          <p:cNvPr id="31" name="Shape 29"/>
          <p:cNvSpPr/>
          <p:nvPr/>
        </p:nvSpPr>
        <p:spPr>
          <a:xfrm>
            <a:off x="6830568" y="2935224"/>
            <a:ext cx="896112" cy="347472"/>
          </a:xfrm>
          <a:prstGeom prst="roundRect">
            <a:avLst>
              <a:gd name="adj" fmla="val 15789"/>
            </a:avLst>
          </a:prstGeom>
          <a:solidFill>
            <a:srgbClr val="D98E04"/>
          </a:solidFill>
          <a:ln w="12700">
            <a:solidFill>
              <a:srgbClr val="D98E04"/>
            </a:solidFill>
            <a:prstDash val="solid"/>
          </a:ln>
        </p:spPr>
        <p:txBody>
          <a:bodyPr/>
          <a:p/>
        </p:txBody>
      </p:sp>
      <p:sp>
        <p:nvSpPr>
          <p:cNvPr id="32" name="Text 30"/>
          <p:cNvSpPr txBox="1"/>
          <p:nvPr/>
        </p:nvSpPr>
        <p:spPr>
          <a:xfrm>
            <a:off x="6830568" y="2935224"/>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3" name="Text 31"/>
          <p:cNvSpPr txBox="1"/>
          <p:nvPr/>
        </p:nvSpPr>
        <p:spPr>
          <a:xfrm>
            <a:off x="5870448" y="2907792"/>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Unsupported inference</a:t>
            </a:r>
            <a:endParaRPr lang="en-US" sz="1100" dirty="0"/>
          </a:p>
        </p:txBody>
      </p:sp>
      <p:sp>
        <p:nvSpPr>
          <p:cNvPr id="34" name="Text 32"/>
          <p:cNvSpPr txBox="1"/>
          <p:nvPr/>
        </p:nvSpPr>
        <p:spPr>
          <a:xfrm>
            <a:off x="4480560" y="3401568"/>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derived memories below evidence threshold ÷ derived memories</a:t>
            </a:r>
            <a:endParaRPr lang="en-US" sz="1000" dirty="0"/>
          </a:p>
        </p:txBody>
      </p:sp>
      <p:sp>
        <p:nvSpPr>
          <p:cNvPr id="35" name="Shape 33"/>
          <p:cNvSpPr/>
          <p:nvPr/>
        </p:nvSpPr>
        <p:spPr>
          <a:xfrm>
            <a:off x="8083296" y="2798064"/>
            <a:ext cx="3566160" cy="1298448"/>
          </a:xfrm>
          <a:prstGeom prst="roundRect">
            <a:avLst>
              <a:gd name="adj" fmla="val 5634"/>
            </a:avLst>
          </a:prstGeom>
          <a:solidFill>
            <a:srgbClr val="F7F9FC"/>
          </a:solidFill>
          <a:ln w="9525">
            <a:solidFill>
              <a:srgbClr val="D5DDE9"/>
            </a:solidFill>
            <a:prstDash val="solid"/>
          </a:ln>
        </p:spPr>
        <p:txBody>
          <a:bodyPr/>
          <a:p/>
        </p:txBody>
      </p:sp>
      <p:sp>
        <p:nvSpPr>
          <p:cNvPr id="36" name="Text 34"/>
          <p:cNvSpPr txBox="1"/>
          <p:nvPr/>
        </p:nvSpPr>
        <p:spPr>
          <a:xfrm>
            <a:off x="8247888" y="2871216"/>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PVR</a:t>
            </a:r>
            <a:endParaRPr lang="en-US" sz="2400" dirty="0"/>
          </a:p>
        </p:txBody>
      </p:sp>
      <p:sp>
        <p:nvSpPr>
          <p:cNvPr id="37" name="Shape 35"/>
          <p:cNvSpPr/>
          <p:nvPr/>
        </p:nvSpPr>
        <p:spPr>
          <a:xfrm>
            <a:off x="10597896" y="2935224"/>
            <a:ext cx="896112" cy="347472"/>
          </a:xfrm>
          <a:prstGeom prst="roundRect">
            <a:avLst>
              <a:gd name="adj" fmla="val 15789"/>
            </a:avLst>
          </a:prstGeom>
          <a:solidFill>
            <a:srgbClr val="C8452B"/>
          </a:solidFill>
          <a:ln w="12700">
            <a:solidFill>
              <a:srgbClr val="C8452B"/>
            </a:solidFill>
            <a:prstDash val="solid"/>
          </a:ln>
        </p:spPr>
        <p:txBody>
          <a:bodyPr/>
          <a:p/>
        </p:txBody>
      </p:sp>
      <p:sp>
        <p:nvSpPr>
          <p:cNvPr id="38" name="Text 36"/>
          <p:cNvSpPr txBox="1"/>
          <p:nvPr/>
        </p:nvSpPr>
        <p:spPr>
          <a:xfrm>
            <a:off x="10597896" y="2935224"/>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0</a:t>
            </a:r>
            <a:endParaRPr lang="en-US" sz="1100" dirty="0"/>
          </a:p>
        </p:txBody>
      </p:sp>
      <p:sp>
        <p:nvSpPr>
          <p:cNvPr id="39" name="Text 37"/>
          <p:cNvSpPr txBox="1"/>
          <p:nvPr/>
        </p:nvSpPr>
        <p:spPr>
          <a:xfrm>
            <a:off x="9637776" y="2907792"/>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Purpose violation</a:t>
            </a:r>
            <a:endParaRPr lang="en-US" sz="1100" dirty="0"/>
          </a:p>
        </p:txBody>
      </p:sp>
      <p:sp>
        <p:nvSpPr>
          <p:cNvPr id="40" name="Text 38"/>
          <p:cNvSpPr txBox="1"/>
          <p:nvPr/>
        </p:nvSpPr>
        <p:spPr>
          <a:xfrm>
            <a:off x="8247888" y="3401568"/>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uses outside authorized purpose ÷ use events</a:t>
            </a:r>
            <a:endParaRPr lang="en-US" sz="1000" dirty="0"/>
          </a:p>
        </p:txBody>
      </p:sp>
      <p:sp>
        <p:nvSpPr>
          <p:cNvPr id="41" name="Shape 39"/>
          <p:cNvSpPr/>
          <p:nvPr/>
        </p:nvSpPr>
        <p:spPr>
          <a:xfrm>
            <a:off x="548640" y="4224528"/>
            <a:ext cx="3566160" cy="1298448"/>
          </a:xfrm>
          <a:prstGeom prst="roundRect">
            <a:avLst>
              <a:gd name="adj" fmla="val 5634"/>
            </a:avLst>
          </a:prstGeom>
          <a:solidFill>
            <a:srgbClr val="DDF0ED"/>
          </a:solidFill>
          <a:ln w="9525">
            <a:solidFill>
              <a:srgbClr val="12867A"/>
            </a:solidFill>
            <a:prstDash val="solid"/>
          </a:ln>
        </p:spPr>
        <p:txBody>
          <a:bodyPr/>
          <a:p/>
        </p:txBody>
      </p:sp>
      <p:sp>
        <p:nvSpPr>
          <p:cNvPr id="42" name="Text 40"/>
          <p:cNvSpPr txBox="1"/>
          <p:nvPr/>
        </p:nvSpPr>
        <p:spPr>
          <a:xfrm>
            <a:off x="713232" y="4297680"/>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ACR</a:t>
            </a:r>
            <a:endParaRPr lang="en-US" sz="2400" dirty="0"/>
          </a:p>
        </p:txBody>
      </p:sp>
      <p:sp>
        <p:nvSpPr>
          <p:cNvPr id="43" name="Shape 41"/>
          <p:cNvSpPr/>
          <p:nvPr/>
        </p:nvSpPr>
        <p:spPr>
          <a:xfrm>
            <a:off x="3063240" y="4361688"/>
            <a:ext cx="896112" cy="347472"/>
          </a:xfrm>
          <a:prstGeom prst="roundRect">
            <a:avLst>
              <a:gd name="adj" fmla="val 15789"/>
            </a:avLst>
          </a:prstGeom>
          <a:solidFill>
            <a:srgbClr val="C8452B"/>
          </a:solidFill>
          <a:ln w="12700">
            <a:solidFill>
              <a:srgbClr val="C8452B"/>
            </a:solidFill>
            <a:prstDash val="solid"/>
          </a:ln>
        </p:spPr>
        <p:txBody>
          <a:bodyPr/>
          <a:p/>
        </p:txBody>
      </p:sp>
      <p:sp>
        <p:nvSpPr>
          <p:cNvPr id="44" name="Text 42"/>
          <p:cNvSpPr txBox="1"/>
          <p:nvPr/>
        </p:nvSpPr>
        <p:spPr>
          <a:xfrm>
            <a:off x="3063240" y="4361688"/>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0</a:t>
            </a:r>
            <a:endParaRPr lang="en-US" sz="1100" dirty="0"/>
          </a:p>
        </p:txBody>
      </p:sp>
      <p:sp>
        <p:nvSpPr>
          <p:cNvPr id="45" name="Text 43"/>
          <p:cNvSpPr txBox="1"/>
          <p:nvPr/>
        </p:nvSpPr>
        <p:spPr>
          <a:xfrm>
            <a:off x="2103120" y="4334256"/>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Authority collapse</a:t>
            </a:r>
            <a:endParaRPr lang="en-US" sz="1100" dirty="0"/>
          </a:p>
        </p:txBody>
      </p:sp>
      <p:sp>
        <p:nvSpPr>
          <p:cNvPr id="46" name="Text 44"/>
          <p:cNvSpPr txBox="1"/>
          <p:nvPr/>
        </p:nvSpPr>
        <p:spPr>
          <a:xfrm>
            <a:off x="713232" y="4828032"/>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assertion / authority escalated without new evidence ÷ consolidations</a:t>
            </a:r>
            <a:endParaRPr lang="en-US" sz="1000" dirty="0"/>
          </a:p>
        </p:txBody>
      </p:sp>
      <p:sp>
        <p:nvSpPr>
          <p:cNvPr id="47" name="Shape 45"/>
          <p:cNvSpPr/>
          <p:nvPr/>
        </p:nvSpPr>
        <p:spPr>
          <a:xfrm>
            <a:off x="4315968" y="4224528"/>
            <a:ext cx="3566160" cy="1298448"/>
          </a:xfrm>
          <a:prstGeom prst="roundRect">
            <a:avLst>
              <a:gd name="adj" fmla="val 5634"/>
            </a:avLst>
          </a:prstGeom>
          <a:solidFill>
            <a:srgbClr val="DDF0ED"/>
          </a:solidFill>
          <a:ln w="9525">
            <a:solidFill>
              <a:srgbClr val="12867A"/>
            </a:solidFill>
            <a:prstDash val="solid"/>
          </a:ln>
        </p:spPr>
        <p:txBody>
          <a:bodyPr/>
          <a:p/>
        </p:txBody>
      </p:sp>
      <p:sp>
        <p:nvSpPr>
          <p:cNvPr id="48" name="Text 46"/>
          <p:cNvSpPr txBox="1"/>
          <p:nvPr/>
        </p:nvSpPr>
        <p:spPr>
          <a:xfrm>
            <a:off x="4480560" y="4297680"/>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FRR</a:t>
            </a:r>
            <a:endParaRPr lang="en-US" sz="2400" dirty="0"/>
          </a:p>
        </p:txBody>
      </p:sp>
      <p:sp>
        <p:nvSpPr>
          <p:cNvPr id="49" name="Shape 47"/>
          <p:cNvSpPr/>
          <p:nvPr/>
        </p:nvSpPr>
        <p:spPr>
          <a:xfrm>
            <a:off x="6830568" y="4361688"/>
            <a:ext cx="896112" cy="347472"/>
          </a:xfrm>
          <a:prstGeom prst="roundRect">
            <a:avLst>
              <a:gd name="adj" fmla="val 15789"/>
            </a:avLst>
          </a:prstGeom>
          <a:solidFill>
            <a:srgbClr val="0B1F3A"/>
          </a:solidFill>
          <a:ln w="12700">
            <a:solidFill>
              <a:srgbClr val="0B1F3A"/>
            </a:solidFill>
            <a:prstDash val="solid"/>
          </a:ln>
        </p:spPr>
        <p:txBody>
          <a:bodyPr/>
          <a:p/>
        </p:txBody>
      </p:sp>
      <p:sp>
        <p:nvSpPr>
          <p:cNvPr id="50" name="Text 48"/>
          <p:cNvSpPr txBox="1"/>
          <p:nvPr/>
        </p:nvSpPr>
        <p:spPr>
          <a:xfrm>
            <a:off x="6830568" y="4361688"/>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1" name="Text 49"/>
          <p:cNvSpPr txBox="1"/>
          <p:nvPr/>
        </p:nvSpPr>
        <p:spPr>
          <a:xfrm>
            <a:off x="5870448" y="4334256"/>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False restriction</a:t>
            </a:r>
            <a:endParaRPr lang="en-US" sz="1100" dirty="0"/>
          </a:p>
        </p:txBody>
      </p:sp>
      <p:sp>
        <p:nvSpPr>
          <p:cNvPr id="52" name="Text 50"/>
          <p:cNvSpPr txBox="1"/>
          <p:nvPr/>
        </p:nvSpPr>
        <p:spPr>
          <a:xfrm>
            <a:off x="4480560" y="4828032"/>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authorized, relevant memories blocked ÷ authorized, relevant</a:t>
            </a:r>
            <a:endParaRPr lang="en-US" sz="1000" dirty="0"/>
          </a:p>
        </p:txBody>
      </p:sp>
      <p:sp>
        <p:nvSpPr>
          <p:cNvPr id="53" name="Shape 51"/>
          <p:cNvSpPr/>
          <p:nvPr/>
        </p:nvSpPr>
        <p:spPr>
          <a:xfrm>
            <a:off x="8083296" y="4224528"/>
            <a:ext cx="3566160" cy="1298448"/>
          </a:xfrm>
          <a:prstGeom prst="roundRect">
            <a:avLst>
              <a:gd name="adj" fmla="val 5634"/>
            </a:avLst>
          </a:prstGeom>
          <a:solidFill>
            <a:srgbClr val="DDF0ED"/>
          </a:solidFill>
          <a:ln w="9525">
            <a:solidFill>
              <a:srgbClr val="12867A"/>
            </a:solidFill>
            <a:prstDash val="solid"/>
          </a:ln>
        </p:spPr>
        <p:txBody>
          <a:bodyPr/>
          <a:p/>
        </p:txBody>
      </p:sp>
      <p:sp>
        <p:nvSpPr>
          <p:cNvPr id="54" name="Text 52"/>
          <p:cNvSpPr txBox="1"/>
          <p:nvPr/>
        </p:nvSpPr>
        <p:spPr>
          <a:xfrm>
            <a:off x="8247888" y="4297680"/>
            <a:ext cx="1371600" cy="5029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GLO</a:t>
            </a:r>
            <a:endParaRPr lang="en-US" sz="2400" dirty="0"/>
          </a:p>
        </p:txBody>
      </p:sp>
      <p:sp>
        <p:nvSpPr>
          <p:cNvPr id="55" name="Shape 53"/>
          <p:cNvSpPr/>
          <p:nvPr/>
        </p:nvSpPr>
        <p:spPr>
          <a:xfrm>
            <a:off x="10597896" y="4361688"/>
            <a:ext cx="896112" cy="347472"/>
          </a:xfrm>
          <a:prstGeom prst="roundRect">
            <a:avLst>
              <a:gd name="adj" fmla="val 15789"/>
            </a:avLst>
          </a:prstGeom>
          <a:solidFill>
            <a:srgbClr val="0B1F3A"/>
          </a:solidFill>
          <a:ln w="12700">
            <a:solidFill>
              <a:srgbClr val="0B1F3A"/>
            </a:solidFill>
            <a:prstDash val="solid"/>
          </a:ln>
        </p:spPr>
        <p:txBody>
          <a:bodyPr/>
          <a:p/>
        </p:txBody>
      </p:sp>
      <p:sp>
        <p:nvSpPr>
          <p:cNvPr id="56" name="Text 54"/>
          <p:cNvSpPr txBox="1"/>
          <p:nvPr/>
        </p:nvSpPr>
        <p:spPr>
          <a:xfrm>
            <a:off x="10597896" y="4361688"/>
            <a:ext cx="89611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budget</a:t>
            </a:r>
            <a:endParaRPr lang="en-US" sz="1100" dirty="0"/>
          </a:p>
        </p:txBody>
      </p:sp>
      <p:sp>
        <p:nvSpPr>
          <p:cNvPr id="57" name="Text 55"/>
          <p:cNvSpPr txBox="1"/>
          <p:nvPr/>
        </p:nvSpPr>
        <p:spPr>
          <a:xfrm>
            <a:off x="9637776" y="4334256"/>
            <a:ext cx="91440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Governance latency</a:t>
            </a:r>
            <a:endParaRPr lang="en-US" sz="1100" dirty="0"/>
          </a:p>
        </p:txBody>
      </p:sp>
      <p:sp>
        <p:nvSpPr>
          <p:cNvPr id="58" name="Text 56"/>
          <p:cNvSpPr txBox="1"/>
          <p:nvPr/>
        </p:nvSpPr>
        <p:spPr>
          <a:xfrm>
            <a:off x="8247888" y="4828032"/>
            <a:ext cx="3236976" cy="658368"/>
          </a:xfrm>
          <a:prstGeom prst="rect">
            <a:avLst/>
          </a:prstGeom>
          <a:noFill/>
          <a:ln/>
        </p:spPr>
        <p:txBody>
          <a:bodyPr wrap="square" lIns="0" tIns="0" rIns="0" bIns="0" rtlCol="0" anchor="t"/>
          <a:lstStyle/>
          <a:p>
            <a:pPr indent="0" marL="0">
              <a:buNone/>
            </a:pPr>
            <a:r>
              <a:rPr lang="en-US" sz="1000" dirty="0">
                <a:solidFill>
                  <a:srgbClr val="1F2937"/>
                </a:solidFill>
                <a:latin typeface="Calibri" pitchFamily="34" charset="0"/>
                <a:ea typeface="Calibri" pitchFamily="34" charset="-122"/>
                <a:cs typeface="Calibri" pitchFamily="34" charset="-120"/>
              </a:rPr>
              <a:t>p95 ms added per operation vs. stated budget</a:t>
            </a:r>
            <a:endParaRPr lang="en-US" sz="1000" dirty="0"/>
          </a:p>
        </p:txBody>
      </p:sp>
      <p:sp>
        <p:nvSpPr>
          <p:cNvPr id="59" name="Shape 57"/>
          <p:cNvSpPr/>
          <p:nvPr/>
        </p:nvSpPr>
        <p:spPr>
          <a:xfrm>
            <a:off x="548640" y="5760720"/>
            <a:ext cx="11094415" cy="548640"/>
          </a:xfrm>
          <a:prstGeom prst="roundRect">
            <a:avLst>
              <a:gd name="adj" fmla="val 16667"/>
            </a:avLst>
          </a:prstGeom>
          <a:solidFill>
            <a:srgbClr val="0B1F3A"/>
          </a:solidFill>
          <a:ln w="12700">
            <a:solidFill>
              <a:srgbClr val="0B1F3A"/>
            </a:solidFill>
            <a:prstDash val="solid"/>
          </a:ln>
        </p:spPr>
        <p:txBody>
          <a:bodyPr/>
          <a:p/>
        </p:txBody>
      </p:sp>
      <p:sp>
        <p:nvSpPr>
          <p:cNvPr id="60" name="Text 58"/>
          <p:cNvSpPr txBox="1"/>
          <p:nvPr/>
        </p:nvSpPr>
        <p:spPr>
          <a:xfrm>
            <a:off x="822960" y="5760720"/>
            <a:ext cx="10545775"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Every governance ratio is paired with a utility metric on the same workload — governed vs. ungoverned recall@k, task success with memory on/off — because a store that remembers nothing scores perfectly on all six originals.</a:t>
            </a:r>
            <a:endParaRPr lang="en-US" sz="1150" dirty="0"/>
          </a:p>
        </p:txBody>
      </p:sp>
      <p:sp>
        <p:nvSpPr>
          <p:cNvPr id="61" name="Text 59"/>
          <p:cNvSpPr txBox="1"/>
          <p:nvPr/>
        </p:nvSpPr>
        <p:spPr>
          <a:xfrm>
            <a:off x="548640" y="6355080"/>
            <a:ext cx="10424160" cy="384048"/>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Provenance: names/ratios are RockAI's; constructs borrowed where they exist — CSLR/EC align to MemLeak leakage rate + Carlini canary exposure + FORGETEVAL-Adv; ACR from AuthMem-Bench; FRR from Over/Under-memory pairing (arXiv:2608.19564); MLC, PVR, EPC are RockAI contributions. Memo §15.0.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Research + engineering roadmap</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35</a:t>
            </a:r>
            <a:endParaRPr lang="en-US" sz="900" dirty="0"/>
          </a:p>
        </p:txBody>
      </p:sp>
      <p:sp>
        <p:nvSpPr>
          <p:cNvPr id="5" name="Shape 3"/>
          <p:cNvSpPr/>
          <p:nvPr/>
        </p:nvSpPr>
        <p:spPr>
          <a:xfrm>
            <a:off x="914400" y="1783080"/>
            <a:ext cx="10362895" cy="0"/>
          </a:xfrm>
          <a:prstGeom prst="line">
            <a:avLst/>
          </a:prstGeom>
          <a:noFill/>
          <a:ln w="25400">
            <a:solidFill>
              <a:srgbClr val="D5DDE9"/>
            </a:solidFill>
            <a:prstDash val="solid"/>
          </a:ln>
        </p:spPr>
      </p:sp>
      <p:sp>
        <p:nvSpPr>
          <p:cNvPr id="6" name="Shape 4"/>
          <p:cNvSpPr/>
          <p:nvPr/>
        </p:nvSpPr>
        <p:spPr>
          <a:xfrm>
            <a:off x="731520" y="1554480"/>
            <a:ext cx="457200" cy="457200"/>
          </a:xfrm>
          <a:prstGeom prst="ellipse">
            <a:avLst/>
          </a:prstGeom>
          <a:solidFill>
            <a:srgbClr val="0B1F3A"/>
          </a:solidFill>
          <a:ln w="12700">
            <a:solidFill>
              <a:srgbClr val="0B1F3A"/>
            </a:solidFill>
            <a:prstDash val="solid"/>
          </a:ln>
        </p:spPr>
      </p:sp>
      <p:sp>
        <p:nvSpPr>
          <p:cNvPr id="7" name="Text 5"/>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325880" y="1481328"/>
            <a:ext cx="274320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Immediate / Q3</a:t>
            </a:r>
            <a:endParaRPr lang="en-US" sz="1400" dirty="0"/>
          </a:p>
        </p:txBody>
      </p:sp>
      <p:sp>
        <p:nvSpPr>
          <p:cNvPr id="9" name="Text 7"/>
          <p:cNvSpPr txBox="1"/>
          <p:nvPr/>
        </p:nvSpPr>
        <p:spPr>
          <a:xfrm>
            <a:off x="1325880" y="1783080"/>
            <a:ext cx="2743200" cy="274320"/>
          </a:xfrm>
          <a:prstGeom prst="rect">
            <a:avLst/>
          </a:prstGeom>
          <a:noFill/>
          <a:ln/>
        </p:spPr>
        <p:txBody>
          <a:bodyPr wrap="square" lIns="0" tIns="0" rIns="0" bIns="0" rtlCol="0" anchor="t"/>
          <a:lstStyle/>
          <a:p>
            <a:pPr indent="0" marL="0">
              <a:buNone/>
            </a:pPr>
            <a:r>
              <a:rPr lang="en-US" sz="1100" i="1" dirty="0">
                <a:solidFill>
                  <a:srgbClr val="0B1F3A"/>
                </a:solidFill>
                <a:latin typeface="Calibri" pitchFamily="34" charset="0"/>
                <a:ea typeface="Calibri" pitchFamily="34" charset="-122"/>
                <a:cs typeface="Calibri" pitchFamily="34" charset="-120"/>
              </a:rPr>
              <a:t>Foundation</a:t>
            </a:r>
            <a:endParaRPr lang="en-US" sz="1100" dirty="0"/>
          </a:p>
        </p:txBody>
      </p:sp>
      <p:sp>
        <p:nvSpPr>
          <p:cNvPr id="10" name="Shape 8"/>
          <p:cNvSpPr/>
          <p:nvPr/>
        </p:nvSpPr>
        <p:spPr>
          <a:xfrm>
            <a:off x="548640" y="2194560"/>
            <a:ext cx="3566160" cy="3200400"/>
          </a:xfrm>
          <a:prstGeom prst="roundRect">
            <a:avLst>
              <a:gd name="adj" fmla="val 2286"/>
            </a:avLst>
          </a:prstGeom>
          <a:solidFill>
            <a:srgbClr val="F7F9FC"/>
          </a:solidFill>
          <a:ln w="9525">
            <a:solidFill>
              <a:srgbClr val="D5DDE9"/>
            </a:solidFill>
            <a:prstDash val="solid"/>
          </a:ln>
        </p:spPr>
      </p:sp>
      <p:sp>
        <p:nvSpPr>
          <p:cNvPr id="11" name="Text 9"/>
          <p:cNvSpPr txBox="1"/>
          <p:nvPr/>
        </p:nvSpPr>
        <p:spPr>
          <a:xfrm>
            <a:off x="749808" y="2331720"/>
            <a:ext cx="3163824" cy="297180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Regulatory mapping (this memo)</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Memory threat model</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Governance contract v0.1</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Metadata schema</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Memoria + Graphiti gap assessment</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Provider pinning (C11) and CVE response</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Latency budget + enforced bypass prevention</a:t>
            </a:r>
            <a:endParaRPr lang="en-US" sz="1150" dirty="0"/>
          </a:p>
        </p:txBody>
      </p:sp>
      <p:sp>
        <p:nvSpPr>
          <p:cNvPr id="12" name="Shape 10"/>
          <p:cNvSpPr/>
          <p:nvPr/>
        </p:nvSpPr>
        <p:spPr>
          <a:xfrm>
            <a:off x="4498848" y="1554480"/>
            <a:ext cx="457200" cy="457200"/>
          </a:xfrm>
          <a:prstGeom prst="ellipse">
            <a:avLst/>
          </a:prstGeom>
          <a:solidFill>
            <a:srgbClr val="12867A"/>
          </a:solidFill>
          <a:ln w="12700">
            <a:solidFill>
              <a:srgbClr val="12867A"/>
            </a:solidFill>
            <a:prstDash val="solid"/>
          </a:ln>
        </p:spPr>
      </p:sp>
      <p:sp>
        <p:nvSpPr>
          <p:cNvPr id="13" name="Text 11"/>
          <p:cNvSpPr txBox="1"/>
          <p:nvPr/>
        </p:nvSpPr>
        <p:spPr>
          <a:xfrm>
            <a:off x="449884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5093208" y="1481328"/>
            <a:ext cx="274320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Q4 2026</a:t>
            </a:r>
            <a:endParaRPr lang="en-US" sz="1400" dirty="0"/>
          </a:p>
        </p:txBody>
      </p:sp>
      <p:sp>
        <p:nvSpPr>
          <p:cNvPr id="15" name="Text 13"/>
          <p:cNvSpPr txBox="1"/>
          <p:nvPr/>
        </p:nvSpPr>
        <p:spPr>
          <a:xfrm>
            <a:off x="5093208" y="1783080"/>
            <a:ext cx="2743200" cy="274320"/>
          </a:xfrm>
          <a:prstGeom prst="rect">
            <a:avLst/>
          </a:prstGeom>
          <a:noFill/>
          <a:ln/>
        </p:spPr>
        <p:txBody>
          <a:bodyPr wrap="square" lIns="0" tIns="0" rIns="0" bIns="0" rtlCol="0" anchor="t"/>
          <a:lstStyle/>
          <a:p>
            <a:pPr indent="0" marL="0">
              <a:buNone/>
            </a:pPr>
            <a:r>
              <a:rPr lang="en-US" sz="1100" i="1" dirty="0">
                <a:solidFill>
                  <a:srgbClr val="12867A"/>
                </a:solidFill>
                <a:latin typeface="Calibri" pitchFamily="34" charset="0"/>
                <a:ea typeface="Calibri" pitchFamily="34" charset="-122"/>
                <a:cs typeface="Calibri" pitchFamily="34" charset="-120"/>
              </a:rPr>
              <a:t>Build &amp; prove</a:t>
            </a:r>
            <a:endParaRPr lang="en-US" sz="1100" dirty="0"/>
          </a:p>
        </p:txBody>
      </p:sp>
      <p:sp>
        <p:nvSpPr>
          <p:cNvPr id="16" name="Shape 14"/>
          <p:cNvSpPr/>
          <p:nvPr/>
        </p:nvSpPr>
        <p:spPr>
          <a:xfrm>
            <a:off x="4315968" y="2194560"/>
            <a:ext cx="3566160" cy="3200400"/>
          </a:xfrm>
          <a:prstGeom prst="roundRect">
            <a:avLst>
              <a:gd name="adj" fmla="val 2286"/>
            </a:avLst>
          </a:prstGeom>
          <a:solidFill>
            <a:srgbClr val="F7F9FC"/>
          </a:solidFill>
          <a:ln w="9525">
            <a:solidFill>
              <a:srgbClr val="D5DDE9"/>
            </a:solidFill>
            <a:prstDash val="solid"/>
          </a:ln>
        </p:spPr>
      </p:sp>
      <p:sp>
        <p:nvSpPr>
          <p:cNvPr id="17" name="Text 15"/>
          <p:cNvSpPr txBox="1"/>
          <p:nvPr/>
        </p:nvSpPr>
        <p:spPr>
          <a:xfrm>
            <a:off x="4517136" y="2331720"/>
            <a:ext cx="3163824" cy="297180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Governance gateway prototype</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Backend admission tests (7 gates)</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Memoria / Graphiti conformance run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Policy-aware retrieval</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Deletion / lineage validation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Authority-collapse and dilution red-team</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MVGM pilot on one real internal workflow (produces the traces Q1 needs)</a:t>
            </a:r>
            <a:endParaRPr lang="en-US" sz="1150" dirty="0"/>
          </a:p>
        </p:txBody>
      </p:sp>
      <p:sp>
        <p:nvSpPr>
          <p:cNvPr id="18" name="Shape 16"/>
          <p:cNvSpPr/>
          <p:nvPr/>
        </p:nvSpPr>
        <p:spPr>
          <a:xfrm>
            <a:off x="8266176" y="1554480"/>
            <a:ext cx="457200" cy="457200"/>
          </a:xfrm>
          <a:prstGeom prst="ellipse">
            <a:avLst/>
          </a:prstGeom>
          <a:solidFill>
            <a:srgbClr val="D98E04"/>
          </a:solidFill>
          <a:ln w="12700">
            <a:solidFill>
              <a:srgbClr val="D98E04"/>
            </a:solidFill>
            <a:prstDash val="solid"/>
          </a:ln>
        </p:spPr>
      </p:sp>
      <p:sp>
        <p:nvSpPr>
          <p:cNvPr id="19" name="Text 17"/>
          <p:cNvSpPr txBox="1"/>
          <p:nvPr/>
        </p:nvSpPr>
        <p:spPr>
          <a:xfrm>
            <a:off x="8266176"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txBox="1"/>
          <p:nvPr/>
        </p:nvSpPr>
        <p:spPr>
          <a:xfrm>
            <a:off x="8860536" y="1481328"/>
            <a:ext cx="2743200" cy="3200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Q1 2027</a:t>
            </a:r>
            <a:endParaRPr lang="en-US" sz="1400" dirty="0"/>
          </a:p>
        </p:txBody>
      </p:sp>
      <p:sp>
        <p:nvSpPr>
          <p:cNvPr id="21" name="Text 19"/>
          <p:cNvSpPr txBox="1"/>
          <p:nvPr/>
        </p:nvSpPr>
        <p:spPr>
          <a:xfrm>
            <a:off x="8860536" y="1783080"/>
            <a:ext cx="2743200" cy="274320"/>
          </a:xfrm>
          <a:prstGeom prst="rect">
            <a:avLst/>
          </a:prstGeom>
          <a:noFill/>
          <a:ln/>
        </p:spPr>
        <p:txBody>
          <a:bodyPr wrap="square" lIns="0" tIns="0" rIns="0" bIns="0" rtlCol="0" anchor="t"/>
          <a:lstStyle/>
          <a:p>
            <a:pPr indent="0" marL="0">
              <a:buNone/>
            </a:pPr>
            <a:r>
              <a:rPr lang="en-US" sz="1100" i="1" dirty="0">
                <a:solidFill>
                  <a:srgbClr val="D98E04"/>
                </a:solidFill>
                <a:latin typeface="Calibri" pitchFamily="34" charset="0"/>
                <a:ea typeface="Calibri" pitchFamily="34" charset="-122"/>
                <a:cs typeface="Calibri" pitchFamily="34" charset="-120"/>
              </a:rPr>
              <a:t>Harden &amp; extend</a:t>
            </a:r>
            <a:endParaRPr lang="en-US" sz="1100" dirty="0"/>
          </a:p>
        </p:txBody>
      </p:sp>
      <p:sp>
        <p:nvSpPr>
          <p:cNvPr id="22" name="Shape 20"/>
          <p:cNvSpPr/>
          <p:nvPr/>
        </p:nvSpPr>
        <p:spPr>
          <a:xfrm>
            <a:off x="8083296" y="2194560"/>
            <a:ext cx="3566160" cy="3200400"/>
          </a:xfrm>
          <a:prstGeom prst="roundRect">
            <a:avLst>
              <a:gd name="adj" fmla="val 2286"/>
            </a:avLst>
          </a:prstGeom>
          <a:solidFill>
            <a:srgbClr val="F7F9FC"/>
          </a:solidFill>
          <a:ln w="9525">
            <a:solidFill>
              <a:srgbClr val="D5DDE9"/>
            </a:solidFill>
            <a:prstDash val="solid"/>
          </a:ln>
        </p:spPr>
      </p:sp>
      <p:sp>
        <p:nvSpPr>
          <p:cNvPr id="23" name="Text 21"/>
          <p:cNvSpPr txBox="1"/>
          <p:nvPr/>
        </p:nvSpPr>
        <p:spPr>
          <a:xfrm>
            <a:off x="8284464" y="2331720"/>
            <a:ext cx="3163824" cy="297180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Memory drift and bias-contagion monitoring</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Confidence calibration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Policy-aware consolidation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Governed memory → skill promotion gate</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Multi-agent memory segmentation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Certified graph unlearning for C2</a:t>
            </a:r>
            <a:endParaRPr lang="en-US" sz="1150" dirty="0"/>
          </a:p>
        </p:txBody>
      </p:sp>
      <p:sp>
        <p:nvSpPr>
          <p:cNvPr id="24" name="Shape 22"/>
          <p:cNvSpPr/>
          <p:nvPr/>
        </p:nvSpPr>
        <p:spPr>
          <a:xfrm>
            <a:off x="548640" y="5669280"/>
            <a:ext cx="11094415" cy="548640"/>
          </a:xfrm>
          <a:prstGeom prst="roundRect">
            <a:avLst>
              <a:gd name="adj" fmla="val 16667"/>
            </a:avLst>
          </a:prstGeom>
          <a:solidFill>
            <a:srgbClr val="0B1F3A"/>
          </a:solidFill>
          <a:ln w="12700">
            <a:solidFill>
              <a:srgbClr val="0B1F3A"/>
            </a:solidFill>
            <a:prstDash val="solid"/>
          </a:ln>
        </p:spPr>
      </p:sp>
      <p:sp>
        <p:nvSpPr>
          <p:cNvPr id="25" name="Text 23"/>
          <p:cNvSpPr txBox="1"/>
          <p:nvPr/>
        </p:nvSpPr>
        <p:spPr>
          <a:xfrm>
            <a:off x="822960" y="5669280"/>
            <a:ext cx="10545775"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Principle: engineering owns backend implementation; research owns evaluation, control policies, conformance metrics and governance-aware memory intelligence.</a:t>
            </a:r>
            <a:endParaRPr lang="en-US" sz="1200" dirty="0"/>
          </a:p>
        </p:txBody>
      </p:sp>
      <p:sp>
        <p:nvSpPr>
          <p:cNvPr id="26" name="Text 24"/>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12867A"/>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Open decisions before implementation</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5C6B80"/>
                </a:solidFill>
                <a:latin typeface="Calibri" pitchFamily="34" charset="0"/>
                <a:ea typeface="Calibri" pitchFamily="34" charset="-122"/>
                <a:cs typeface="Calibri" pitchFamily="34" charset="-120"/>
              </a:rPr>
              <a:t>36</a:t>
            </a:r>
            <a:endParaRPr lang="en-US" sz="900" dirty="0"/>
          </a:p>
        </p:txBody>
      </p:sp>
      <p:sp>
        <p:nvSpPr>
          <p:cNvPr id="5" name="Shape 3"/>
          <p:cNvSpPr/>
          <p:nvPr/>
        </p:nvSpPr>
        <p:spPr>
          <a:xfrm>
            <a:off x="548640" y="1371600"/>
            <a:ext cx="5440680" cy="1207008"/>
          </a:xfrm>
          <a:prstGeom prst="roundRect">
            <a:avLst>
              <a:gd name="adj" fmla="val 6061"/>
            </a:avLst>
          </a:prstGeom>
          <a:solidFill>
            <a:srgbClr val="F7F9FC"/>
          </a:solidFill>
          <a:ln w="9525">
            <a:solidFill>
              <a:srgbClr val="D5DDE9"/>
            </a:solidFill>
            <a:prstDash val="solid"/>
          </a:ln>
        </p:spPr>
      </p:sp>
      <p:sp>
        <p:nvSpPr>
          <p:cNvPr id="6" name="Shape 4"/>
          <p:cNvSpPr/>
          <p:nvPr/>
        </p:nvSpPr>
        <p:spPr>
          <a:xfrm>
            <a:off x="713232" y="1536192"/>
            <a:ext cx="384048" cy="384048"/>
          </a:xfrm>
          <a:prstGeom prst="ellipse">
            <a:avLst/>
          </a:prstGeom>
          <a:solidFill>
            <a:srgbClr val="F8E3DE"/>
          </a:solidFill>
          <a:ln w="12700">
            <a:solidFill>
              <a:srgbClr val="F8E3DE"/>
            </a:solidFill>
            <a:prstDash val="solid"/>
          </a:ln>
        </p:spPr>
      </p:sp>
      <p:pic>
        <p:nvPicPr>
          <p:cNvPr id="7" name="Image 0" descr="preencoded.png">    </p:cNvPr>
          <p:cNvPicPr>
            <a:picLocks noChangeAspect="1"/>
          </p:cNvPicPr>
          <p:nvPr/>
        </p:nvPicPr>
        <p:blipFill>
          <a:blip r:embed="rId1"/>
          <a:stretch>
            <a:fillRect/>
          </a:stretch>
        </p:blipFill>
        <p:spPr>
          <a:xfrm>
            <a:off x="805404" y="1628364"/>
            <a:ext cx="199705" cy="199705"/>
          </a:xfrm>
          <a:prstGeom prst="rect">
            <a:avLst/>
          </a:prstGeom>
        </p:spPr>
      </p:pic>
      <p:sp>
        <p:nvSpPr>
          <p:cNvPr id="8" name="Text 5"/>
          <p:cNvSpPr txBox="1"/>
          <p:nvPr/>
        </p:nvSpPr>
        <p:spPr>
          <a:xfrm>
            <a:off x="1207008" y="1536192"/>
            <a:ext cx="461772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Scope</a:t>
            </a:r>
            <a:endParaRPr lang="en-US" sz="1250" dirty="0"/>
          </a:p>
        </p:txBody>
      </p:sp>
      <p:sp>
        <p:nvSpPr>
          <p:cNvPr id="9" name="Text 6"/>
          <p:cNvSpPr txBox="1"/>
          <p:nvPr/>
        </p:nvSpPr>
        <p:spPr>
          <a:xfrm>
            <a:off x="731520" y="2011680"/>
            <a:ext cx="5074920" cy="4297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Will memory remain internal-only, or could it feed client-facing / Aladdin workflows? BlackRock’s own filings, FCA precedent and DORA criticality criteria mean this choice sets the external oversight tier (memo §6.4).</a:t>
            </a:r>
            <a:endParaRPr lang="en-US" sz="1050" dirty="0"/>
          </a:p>
        </p:txBody>
      </p:sp>
      <p:sp>
        <p:nvSpPr>
          <p:cNvPr id="10" name="Shape 7"/>
          <p:cNvSpPr/>
          <p:nvPr/>
        </p:nvSpPr>
        <p:spPr>
          <a:xfrm>
            <a:off x="6190488" y="1371600"/>
            <a:ext cx="5440680" cy="1207008"/>
          </a:xfrm>
          <a:prstGeom prst="roundRect">
            <a:avLst>
              <a:gd name="adj" fmla="val 6061"/>
            </a:avLst>
          </a:prstGeom>
          <a:solidFill>
            <a:srgbClr val="F7F9FC"/>
          </a:solidFill>
          <a:ln w="9525">
            <a:solidFill>
              <a:srgbClr val="D5DDE9"/>
            </a:solidFill>
            <a:prstDash val="solid"/>
          </a:ln>
        </p:spPr>
      </p:sp>
      <p:sp>
        <p:nvSpPr>
          <p:cNvPr id="11" name="Shape 8"/>
          <p:cNvSpPr/>
          <p:nvPr/>
        </p:nvSpPr>
        <p:spPr>
          <a:xfrm>
            <a:off x="6355080" y="1536192"/>
            <a:ext cx="384048" cy="384048"/>
          </a:xfrm>
          <a:prstGeom prst="ellipse">
            <a:avLst/>
          </a:prstGeom>
          <a:solidFill>
            <a:srgbClr val="E3E9F3"/>
          </a:solidFill>
          <a:ln w="12700">
            <a:solidFill>
              <a:srgbClr val="E3E9F3"/>
            </a:solidFill>
            <a:prstDash val="solid"/>
          </a:ln>
        </p:spPr>
      </p:sp>
      <p:pic>
        <p:nvPicPr>
          <p:cNvPr id="12" name="Image 1" descr="preencoded.png">    </p:cNvPr>
          <p:cNvPicPr>
            <a:picLocks noChangeAspect="1"/>
          </p:cNvPicPr>
          <p:nvPr/>
        </p:nvPicPr>
        <p:blipFill>
          <a:blip r:embed="rId2"/>
          <a:stretch>
            <a:fillRect/>
          </a:stretch>
        </p:blipFill>
        <p:spPr>
          <a:xfrm>
            <a:off x="6447252" y="1628364"/>
            <a:ext cx="199705" cy="199705"/>
          </a:xfrm>
          <a:prstGeom prst="rect">
            <a:avLst/>
          </a:prstGeom>
        </p:spPr>
      </p:pic>
      <p:sp>
        <p:nvSpPr>
          <p:cNvPr id="13" name="Text 9"/>
          <p:cNvSpPr txBox="1"/>
          <p:nvPr/>
        </p:nvSpPr>
        <p:spPr>
          <a:xfrm>
            <a:off x="6848856" y="1536192"/>
            <a:ext cx="461772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Entity status</a:t>
            </a:r>
            <a:endParaRPr lang="en-US" sz="1250" dirty="0"/>
          </a:p>
        </p:txBody>
      </p:sp>
      <p:sp>
        <p:nvSpPr>
          <p:cNvPr id="14" name="Text 10"/>
          <p:cNvSpPr txBox="1"/>
          <p:nvPr/>
        </p:nvSpPr>
        <p:spPr>
          <a:xfrm>
            <a:off x="6373368" y="2011680"/>
            <a:ext cx="5074920" cy="4297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Which legal entities and jurisdictions operate each memory namespace — and is any RockAI entity separately bank-supervised, which would make SR 26-2 binding rather than informative?</a:t>
            </a:r>
            <a:endParaRPr lang="en-US" sz="1050" dirty="0"/>
          </a:p>
        </p:txBody>
      </p:sp>
      <p:sp>
        <p:nvSpPr>
          <p:cNvPr id="15" name="Shape 11"/>
          <p:cNvSpPr/>
          <p:nvPr/>
        </p:nvSpPr>
        <p:spPr>
          <a:xfrm>
            <a:off x="548640" y="2724912"/>
            <a:ext cx="5440680" cy="1207008"/>
          </a:xfrm>
          <a:prstGeom prst="roundRect">
            <a:avLst>
              <a:gd name="adj" fmla="val 6061"/>
            </a:avLst>
          </a:prstGeom>
          <a:solidFill>
            <a:srgbClr val="F7F9FC"/>
          </a:solidFill>
          <a:ln w="9525">
            <a:solidFill>
              <a:srgbClr val="D5DDE9"/>
            </a:solidFill>
            <a:prstDash val="solid"/>
          </a:ln>
        </p:spPr>
      </p:sp>
      <p:sp>
        <p:nvSpPr>
          <p:cNvPr id="16" name="Shape 12"/>
          <p:cNvSpPr/>
          <p:nvPr/>
        </p:nvSpPr>
        <p:spPr>
          <a:xfrm>
            <a:off x="713232" y="2889504"/>
            <a:ext cx="384048" cy="384048"/>
          </a:xfrm>
          <a:prstGeom prst="ellipse">
            <a:avLst/>
          </a:prstGeom>
          <a:solidFill>
            <a:srgbClr val="FBF1DE"/>
          </a:solidFill>
          <a:ln w="12700">
            <a:solidFill>
              <a:srgbClr val="FBF1DE"/>
            </a:solidFill>
            <a:prstDash val="solid"/>
          </a:ln>
        </p:spPr>
      </p:sp>
      <p:pic>
        <p:nvPicPr>
          <p:cNvPr id="17" name="Image 2" descr="preencoded.png">    </p:cNvPr>
          <p:cNvPicPr>
            <a:picLocks noChangeAspect="1"/>
          </p:cNvPicPr>
          <p:nvPr/>
        </p:nvPicPr>
        <p:blipFill>
          <a:blip r:embed="rId3"/>
          <a:stretch>
            <a:fillRect/>
          </a:stretch>
        </p:blipFill>
        <p:spPr>
          <a:xfrm>
            <a:off x="805404" y="2981676"/>
            <a:ext cx="199705" cy="199705"/>
          </a:xfrm>
          <a:prstGeom prst="rect">
            <a:avLst/>
          </a:prstGeom>
        </p:spPr>
      </p:pic>
      <p:sp>
        <p:nvSpPr>
          <p:cNvPr id="18" name="Text 13"/>
          <p:cNvSpPr txBox="1"/>
          <p:nvPr/>
        </p:nvSpPr>
        <p:spPr>
          <a:xfrm>
            <a:off x="1207008" y="2889504"/>
            <a:ext cx="461772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Providers</a:t>
            </a:r>
            <a:endParaRPr lang="en-US" sz="1250" dirty="0"/>
          </a:p>
        </p:txBody>
      </p:sp>
      <p:sp>
        <p:nvSpPr>
          <p:cNvPr id="19" name="Text 14"/>
          <p:cNvSpPr txBox="1"/>
          <p:nvPr/>
        </p:nvSpPr>
        <p:spPr>
          <a:xfrm>
            <a:off x="731520" y="3364992"/>
            <a:ext cx="5074920" cy="4297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Which LLM / embedder / reranker / storage providers are approved for which data classes? Graphiti and Memoria pipelines must not default to a public API for client NPI.</a:t>
            </a:r>
            <a:endParaRPr lang="en-US" sz="1050" dirty="0"/>
          </a:p>
        </p:txBody>
      </p:sp>
      <p:sp>
        <p:nvSpPr>
          <p:cNvPr id="20" name="Shape 15"/>
          <p:cNvSpPr/>
          <p:nvPr/>
        </p:nvSpPr>
        <p:spPr>
          <a:xfrm>
            <a:off x="6190488" y="2724912"/>
            <a:ext cx="5440680" cy="1207008"/>
          </a:xfrm>
          <a:prstGeom prst="roundRect">
            <a:avLst>
              <a:gd name="adj" fmla="val 6061"/>
            </a:avLst>
          </a:prstGeom>
          <a:solidFill>
            <a:srgbClr val="F7F9FC"/>
          </a:solidFill>
          <a:ln w="9525">
            <a:solidFill>
              <a:srgbClr val="D5DDE9"/>
            </a:solidFill>
            <a:prstDash val="solid"/>
          </a:ln>
        </p:spPr>
      </p:sp>
      <p:sp>
        <p:nvSpPr>
          <p:cNvPr id="21" name="Shape 16"/>
          <p:cNvSpPr/>
          <p:nvPr/>
        </p:nvSpPr>
        <p:spPr>
          <a:xfrm>
            <a:off x="6355080" y="2889504"/>
            <a:ext cx="384048" cy="384048"/>
          </a:xfrm>
          <a:prstGeom prst="ellipse">
            <a:avLst/>
          </a:prstGeom>
          <a:solidFill>
            <a:srgbClr val="DDF0ED"/>
          </a:solidFill>
          <a:ln w="12700">
            <a:solidFill>
              <a:srgbClr val="DDF0ED"/>
            </a:solidFill>
            <a:prstDash val="solid"/>
          </a:ln>
        </p:spPr>
      </p:sp>
      <p:pic>
        <p:nvPicPr>
          <p:cNvPr id="22" name="Image 3" descr="preencoded.png">    </p:cNvPr>
          <p:cNvPicPr>
            <a:picLocks noChangeAspect="1"/>
          </p:cNvPicPr>
          <p:nvPr/>
        </p:nvPicPr>
        <p:blipFill>
          <a:blip r:embed="rId4"/>
          <a:stretch>
            <a:fillRect/>
          </a:stretch>
        </p:blipFill>
        <p:spPr>
          <a:xfrm>
            <a:off x="6447252" y="2981676"/>
            <a:ext cx="199705" cy="199705"/>
          </a:xfrm>
          <a:prstGeom prst="rect">
            <a:avLst/>
          </a:prstGeom>
        </p:spPr>
      </p:pic>
      <p:sp>
        <p:nvSpPr>
          <p:cNvPr id="23" name="Text 17"/>
          <p:cNvSpPr txBox="1"/>
          <p:nvPr/>
        </p:nvSpPr>
        <p:spPr>
          <a:xfrm>
            <a:off x="6848856" y="2889504"/>
            <a:ext cx="461772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Retention</a:t>
            </a:r>
            <a:endParaRPr lang="en-US" sz="1250" dirty="0"/>
          </a:p>
        </p:txBody>
      </p:sp>
      <p:sp>
        <p:nvSpPr>
          <p:cNvPr id="24" name="Text 18"/>
          <p:cNvSpPr txBox="1"/>
          <p:nvPr/>
        </p:nvSpPr>
        <p:spPr>
          <a:xfrm>
            <a:off x="6373368" y="3364992"/>
            <a:ext cx="5074920" cy="4297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What record classes must be retained (Advisers Act), restricted, erased (GDPR), or held — resolved at record level, not by geography?</a:t>
            </a:r>
            <a:endParaRPr lang="en-US" sz="1050" dirty="0"/>
          </a:p>
        </p:txBody>
      </p:sp>
      <p:sp>
        <p:nvSpPr>
          <p:cNvPr id="25" name="Shape 19"/>
          <p:cNvSpPr/>
          <p:nvPr/>
        </p:nvSpPr>
        <p:spPr>
          <a:xfrm>
            <a:off x="548640" y="4078224"/>
            <a:ext cx="5440680" cy="1207008"/>
          </a:xfrm>
          <a:prstGeom prst="roundRect">
            <a:avLst>
              <a:gd name="adj" fmla="val 6061"/>
            </a:avLst>
          </a:prstGeom>
          <a:solidFill>
            <a:srgbClr val="F7F9FC"/>
          </a:solidFill>
          <a:ln w="9525">
            <a:solidFill>
              <a:srgbClr val="D5DDE9"/>
            </a:solidFill>
            <a:prstDash val="solid"/>
          </a:ln>
        </p:spPr>
      </p:sp>
      <p:sp>
        <p:nvSpPr>
          <p:cNvPr id="26" name="Shape 20"/>
          <p:cNvSpPr/>
          <p:nvPr/>
        </p:nvSpPr>
        <p:spPr>
          <a:xfrm>
            <a:off x="713232" y="4242816"/>
            <a:ext cx="384048" cy="384048"/>
          </a:xfrm>
          <a:prstGeom prst="ellipse">
            <a:avLst/>
          </a:prstGeom>
          <a:solidFill>
            <a:srgbClr val="E3E9F3"/>
          </a:solidFill>
          <a:ln w="12700">
            <a:solidFill>
              <a:srgbClr val="E3E9F3"/>
            </a:solidFill>
            <a:prstDash val="solid"/>
          </a:ln>
        </p:spPr>
      </p:sp>
      <p:pic>
        <p:nvPicPr>
          <p:cNvPr id="27" name="Image 4" descr="preencoded.png">    </p:cNvPr>
          <p:cNvPicPr>
            <a:picLocks noChangeAspect="1"/>
          </p:cNvPicPr>
          <p:nvPr/>
        </p:nvPicPr>
        <p:blipFill>
          <a:blip r:embed="rId5"/>
          <a:stretch>
            <a:fillRect/>
          </a:stretch>
        </p:blipFill>
        <p:spPr>
          <a:xfrm>
            <a:off x="805404" y="4334988"/>
            <a:ext cx="199705" cy="199705"/>
          </a:xfrm>
          <a:prstGeom prst="rect">
            <a:avLst/>
          </a:prstGeom>
        </p:spPr>
      </p:pic>
      <p:sp>
        <p:nvSpPr>
          <p:cNvPr id="28" name="Text 21"/>
          <p:cNvSpPr txBox="1"/>
          <p:nvPr/>
        </p:nvSpPr>
        <p:spPr>
          <a:xfrm>
            <a:off x="1207008" y="4242816"/>
            <a:ext cx="461772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Barriers</a:t>
            </a:r>
            <a:endParaRPr lang="en-US" sz="1250" dirty="0"/>
          </a:p>
        </p:txBody>
      </p:sp>
      <p:sp>
        <p:nvSpPr>
          <p:cNvPr id="29" name="Text 22"/>
          <p:cNvSpPr txBox="1"/>
          <p:nvPr/>
        </p:nvSpPr>
        <p:spPr>
          <a:xfrm>
            <a:off x="731520" y="4718304"/>
            <a:ext cx="5074920" cy="4297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What information barriers and MNPI restrictions apply to memory sharing across research, advisory, private markets and client desks?</a:t>
            </a:r>
            <a:endParaRPr lang="en-US" sz="1050" dirty="0"/>
          </a:p>
        </p:txBody>
      </p:sp>
      <p:sp>
        <p:nvSpPr>
          <p:cNvPr id="30" name="Shape 23"/>
          <p:cNvSpPr/>
          <p:nvPr/>
        </p:nvSpPr>
        <p:spPr>
          <a:xfrm>
            <a:off x="6190488" y="4078224"/>
            <a:ext cx="5440680" cy="1207008"/>
          </a:xfrm>
          <a:prstGeom prst="roundRect">
            <a:avLst>
              <a:gd name="adj" fmla="val 6061"/>
            </a:avLst>
          </a:prstGeom>
          <a:solidFill>
            <a:srgbClr val="F7F9FC"/>
          </a:solidFill>
          <a:ln w="9525">
            <a:solidFill>
              <a:srgbClr val="D5DDE9"/>
            </a:solidFill>
            <a:prstDash val="solid"/>
          </a:ln>
        </p:spPr>
      </p:sp>
      <p:sp>
        <p:nvSpPr>
          <p:cNvPr id="31" name="Shape 24"/>
          <p:cNvSpPr/>
          <p:nvPr/>
        </p:nvSpPr>
        <p:spPr>
          <a:xfrm>
            <a:off x="6355080" y="4242816"/>
            <a:ext cx="384048" cy="384048"/>
          </a:xfrm>
          <a:prstGeom prst="ellipse">
            <a:avLst/>
          </a:prstGeom>
          <a:solidFill>
            <a:srgbClr val="DDF0ED"/>
          </a:solidFill>
          <a:ln w="12700">
            <a:solidFill>
              <a:srgbClr val="DDF0ED"/>
            </a:solidFill>
            <a:prstDash val="solid"/>
          </a:ln>
        </p:spPr>
      </p:sp>
      <p:pic>
        <p:nvPicPr>
          <p:cNvPr id="32" name="Image 5" descr="preencoded.png">    </p:cNvPr>
          <p:cNvPicPr>
            <a:picLocks noChangeAspect="1"/>
          </p:cNvPicPr>
          <p:nvPr/>
        </p:nvPicPr>
        <p:blipFill>
          <a:blip r:embed="rId6"/>
          <a:stretch>
            <a:fillRect/>
          </a:stretch>
        </p:blipFill>
        <p:spPr>
          <a:xfrm>
            <a:off x="6447252" y="4334988"/>
            <a:ext cx="199705" cy="199705"/>
          </a:xfrm>
          <a:prstGeom prst="rect">
            <a:avLst/>
          </a:prstGeom>
        </p:spPr>
      </p:pic>
      <p:sp>
        <p:nvSpPr>
          <p:cNvPr id="33" name="Text 25"/>
          <p:cNvSpPr txBox="1"/>
          <p:nvPr/>
        </p:nvSpPr>
        <p:spPr>
          <a:xfrm>
            <a:off x="6848856" y="4242816"/>
            <a:ext cx="4617720" cy="384048"/>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Conformance &amp; budget</a:t>
            </a:r>
            <a:endParaRPr lang="en-US" sz="1250" dirty="0"/>
          </a:p>
        </p:txBody>
      </p:sp>
      <p:sp>
        <p:nvSpPr>
          <p:cNvPr id="34" name="Text 26"/>
          <p:cNvSpPr txBox="1"/>
          <p:nvPr/>
        </p:nvSpPr>
        <p:spPr>
          <a:xfrm>
            <a:off x="6373368" y="4718304"/>
            <a:ext cx="5074920" cy="4297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What must a backend prove before admission, who signs off on each of the nine gates, and what p95 governance overhead is acceptable on the retrieval hot path?</a:t>
            </a:r>
            <a:endParaRPr lang="en-US" sz="1050" dirty="0"/>
          </a:p>
        </p:txBody>
      </p:sp>
      <p:sp>
        <p:nvSpPr>
          <p:cNvPr id="35" name="Shape 27"/>
          <p:cNvSpPr/>
          <p:nvPr/>
        </p:nvSpPr>
        <p:spPr>
          <a:xfrm>
            <a:off x="548640" y="5486400"/>
            <a:ext cx="11094415" cy="685800"/>
          </a:xfrm>
          <a:prstGeom prst="roundRect">
            <a:avLst>
              <a:gd name="adj" fmla="val 13333"/>
            </a:avLst>
          </a:prstGeom>
          <a:solidFill>
            <a:srgbClr val="0B1F3A"/>
          </a:solidFill>
          <a:ln w="12700">
            <a:solidFill>
              <a:srgbClr val="0B1F3A"/>
            </a:solidFill>
            <a:prstDash val="solid"/>
          </a:ln>
        </p:spPr>
      </p:sp>
      <p:sp>
        <p:nvSpPr>
          <p:cNvPr id="36" name="Text 28"/>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250" b="1" dirty="0">
                <a:solidFill>
                  <a:srgbClr val="D98E04"/>
                </a:solidFill>
                <a:latin typeface="Calibri" pitchFamily="34" charset="0"/>
                <a:ea typeface="Calibri" pitchFamily="34" charset="-122"/>
                <a:cs typeface="Calibri" pitchFamily="34" charset="-120"/>
              </a:rPr>
              <a:t>Next artifact:  </a:t>
            </a:r>
            <a:pPr indent="0" marL="0">
              <a:buNone/>
            </a:pPr>
            <a:r>
              <a:rPr lang="en-US" sz="1250" b="1" dirty="0">
                <a:solidFill>
                  <a:srgbClr val="FFFFFF"/>
                </a:solidFill>
                <a:latin typeface="Calibri" pitchFamily="34" charset="0"/>
                <a:ea typeface="Calibri" pitchFamily="34" charset="-122"/>
                <a:cs typeface="Calibri" pitchFamily="34" charset="-120"/>
              </a:rPr>
              <a:t>RockAI Agent Memory Governance Specification v0.1 — control matrix, metadata contract, conformance suite, backend admission checklist</a:t>
            </a:r>
            <a:endParaRPr lang="en-US" sz="1250" dirty="0"/>
          </a:p>
        </p:txBody>
      </p:sp>
      <p:sp>
        <p:nvSpPr>
          <p:cNvPr id="37" name="Text 29"/>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5C6B80"/>
                </a:solidFill>
                <a:latin typeface="Calibri" pitchFamily="34" charset="0"/>
                <a:ea typeface="Calibri" pitchFamily="34" charset="-122"/>
                <a:cs typeface="Calibri" pitchFamily="34" charset="-120"/>
              </a:rPr>
              <a:t>Internal research draft  •  Sept 2026  •  Not legal advice — legal/regulatory affairs should validate entity-specific obligations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ctr"/>
          <a:lstStyle/>
          <a:p>
            <a:pPr indent="0" marL="0">
              <a:buNone/>
            </a:pPr>
            <a:r>
              <a:rPr lang="en-US" sz="900" b="1" spc="300" kern="0" dirty="0">
                <a:solidFill>
                  <a:srgbClr val="CADCFC"/>
                </a:solidFill>
                <a:latin typeface="Calibri" pitchFamily="34" charset="0"/>
                <a:ea typeface="Calibri" pitchFamily="34" charset="-122"/>
                <a:cs typeface="Calibri" pitchFamily="34" charset="-120"/>
              </a:rPr>
              <a:t>ROCKAI AGENT MEMORY GOVERNANCE</a:t>
            </a:r>
            <a:endParaRPr lang="en-US" sz="900" dirty="0"/>
          </a:p>
        </p:txBody>
      </p:sp>
      <p:sp>
        <p:nvSpPr>
          <p:cNvPr id="3" name="Text 1"/>
          <p:cNvSpPr txBox="1"/>
          <p:nvPr/>
        </p:nvSpPr>
        <p:spPr>
          <a:xfrm>
            <a:off x="548640" y="53035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Reference sources</a:t>
            </a:r>
            <a:endParaRPr lang="en-US" sz="3000" dirty="0"/>
          </a:p>
        </p:txBody>
      </p:sp>
      <p:sp>
        <p:nvSpPr>
          <p:cNvPr id="4" name="Text 2"/>
          <p:cNvSpPr txBox="1"/>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37</a:t>
            </a:r>
            <a:endParaRPr lang="en-US" sz="900" dirty="0"/>
          </a:p>
        </p:txBody>
      </p:sp>
      <p:sp>
        <p:nvSpPr>
          <p:cNvPr id="5" name="Shape 3"/>
          <p:cNvSpPr/>
          <p:nvPr/>
        </p:nvSpPr>
        <p:spPr>
          <a:xfrm flipH="1">
            <a:off x="10332720" y="5605272"/>
            <a:ext cx="329184" cy="256032"/>
          </a:xfrm>
          <a:prstGeom prst="line">
            <a:avLst/>
          </a:prstGeom>
          <a:noFill/>
          <a:ln w="12700">
            <a:solidFill>
              <a:srgbClr val="12867A">
                <a:alpha val="55000"/>
              </a:srgbClr>
            </a:solidFill>
            <a:prstDash val="solid"/>
          </a:ln>
        </p:spPr>
      </p:sp>
      <p:sp>
        <p:nvSpPr>
          <p:cNvPr id="6" name="Shape 4"/>
          <p:cNvSpPr/>
          <p:nvPr/>
        </p:nvSpPr>
        <p:spPr>
          <a:xfrm>
            <a:off x="10661904" y="5605272"/>
            <a:ext cx="365760" cy="201168"/>
          </a:xfrm>
          <a:prstGeom prst="line">
            <a:avLst/>
          </a:prstGeom>
          <a:noFill/>
          <a:ln w="12700">
            <a:solidFill>
              <a:srgbClr val="12867A">
                <a:alpha val="55000"/>
              </a:srgbClr>
            </a:solidFill>
            <a:prstDash val="solid"/>
          </a:ln>
        </p:spPr>
      </p:sp>
      <p:sp>
        <p:nvSpPr>
          <p:cNvPr id="7" name="Shape 5"/>
          <p:cNvSpPr/>
          <p:nvPr/>
        </p:nvSpPr>
        <p:spPr>
          <a:xfrm flipH="1">
            <a:off x="10826496" y="5806440"/>
            <a:ext cx="201168" cy="347472"/>
          </a:xfrm>
          <a:prstGeom prst="line">
            <a:avLst/>
          </a:prstGeom>
          <a:noFill/>
          <a:ln w="12700">
            <a:solidFill>
              <a:srgbClr val="12867A">
                <a:alpha val="55000"/>
              </a:srgbClr>
            </a:solidFill>
            <a:prstDash val="solid"/>
          </a:ln>
        </p:spPr>
      </p:sp>
      <p:sp>
        <p:nvSpPr>
          <p:cNvPr id="8" name="Shape 6"/>
          <p:cNvSpPr/>
          <p:nvPr/>
        </p:nvSpPr>
        <p:spPr>
          <a:xfrm flipH="1">
            <a:off x="10826496" y="6080760"/>
            <a:ext cx="493776" cy="73152"/>
          </a:xfrm>
          <a:prstGeom prst="line">
            <a:avLst/>
          </a:prstGeom>
          <a:noFill/>
          <a:ln w="12700">
            <a:solidFill>
              <a:srgbClr val="12867A">
                <a:alpha val="55000"/>
              </a:srgbClr>
            </a:solidFill>
            <a:prstDash val="solid"/>
          </a:ln>
        </p:spPr>
      </p:sp>
      <p:sp>
        <p:nvSpPr>
          <p:cNvPr id="9" name="Shape 7"/>
          <p:cNvSpPr/>
          <p:nvPr/>
        </p:nvSpPr>
        <p:spPr>
          <a:xfrm>
            <a:off x="10332720" y="5861304"/>
            <a:ext cx="219456" cy="475488"/>
          </a:xfrm>
          <a:prstGeom prst="line">
            <a:avLst/>
          </a:prstGeom>
          <a:noFill/>
          <a:ln w="12700">
            <a:solidFill>
              <a:srgbClr val="12867A">
                <a:alpha val="55000"/>
              </a:srgbClr>
            </a:solidFill>
            <a:prstDash val="solid"/>
          </a:ln>
        </p:spPr>
      </p:sp>
      <p:sp>
        <p:nvSpPr>
          <p:cNvPr id="10" name="Shape 8"/>
          <p:cNvSpPr/>
          <p:nvPr/>
        </p:nvSpPr>
        <p:spPr>
          <a:xfrm flipH="1">
            <a:off x="10552176" y="6153912"/>
            <a:ext cx="274320" cy="182880"/>
          </a:xfrm>
          <a:prstGeom prst="line">
            <a:avLst/>
          </a:prstGeom>
          <a:noFill/>
          <a:ln w="12700">
            <a:solidFill>
              <a:srgbClr val="12867A">
                <a:alpha val="55000"/>
              </a:srgbClr>
            </a:solidFill>
            <a:prstDash val="solid"/>
          </a:ln>
        </p:spPr>
      </p:sp>
      <p:sp>
        <p:nvSpPr>
          <p:cNvPr id="11" name="Shape 9"/>
          <p:cNvSpPr/>
          <p:nvPr/>
        </p:nvSpPr>
        <p:spPr>
          <a:xfrm flipH="1">
            <a:off x="11173968" y="6080760"/>
            <a:ext cx="146304" cy="402336"/>
          </a:xfrm>
          <a:prstGeom prst="line">
            <a:avLst/>
          </a:prstGeom>
          <a:noFill/>
          <a:ln w="12700">
            <a:solidFill>
              <a:srgbClr val="12867A">
                <a:alpha val="55000"/>
              </a:srgbClr>
            </a:solidFill>
            <a:prstDash val="solid"/>
          </a:ln>
        </p:spPr>
      </p:sp>
      <p:sp>
        <p:nvSpPr>
          <p:cNvPr id="12" name="Shape 10"/>
          <p:cNvSpPr/>
          <p:nvPr/>
        </p:nvSpPr>
        <p:spPr>
          <a:xfrm>
            <a:off x="10552176" y="6336792"/>
            <a:ext cx="621792" cy="146304"/>
          </a:xfrm>
          <a:prstGeom prst="line">
            <a:avLst/>
          </a:prstGeom>
          <a:noFill/>
          <a:ln w="12700">
            <a:solidFill>
              <a:srgbClr val="12867A">
                <a:alpha val="55000"/>
              </a:srgbClr>
            </a:solidFill>
            <a:prstDash val="solid"/>
          </a:ln>
        </p:spPr>
      </p:sp>
      <p:sp>
        <p:nvSpPr>
          <p:cNvPr id="13" name="Shape 11"/>
          <p:cNvSpPr/>
          <p:nvPr/>
        </p:nvSpPr>
        <p:spPr>
          <a:xfrm flipH="1">
            <a:off x="11027664" y="5751576"/>
            <a:ext cx="548640" cy="54864"/>
          </a:xfrm>
          <a:prstGeom prst="line">
            <a:avLst/>
          </a:prstGeom>
          <a:noFill/>
          <a:ln w="12700">
            <a:solidFill>
              <a:srgbClr val="12867A">
                <a:alpha val="55000"/>
              </a:srgbClr>
            </a:solidFill>
            <a:prstDash val="solid"/>
          </a:ln>
        </p:spPr>
      </p:sp>
      <p:sp>
        <p:nvSpPr>
          <p:cNvPr id="14" name="Shape 12"/>
          <p:cNvSpPr/>
          <p:nvPr/>
        </p:nvSpPr>
        <p:spPr>
          <a:xfrm>
            <a:off x="11576304" y="5751576"/>
            <a:ext cx="73152" cy="585216"/>
          </a:xfrm>
          <a:prstGeom prst="line">
            <a:avLst/>
          </a:prstGeom>
          <a:noFill/>
          <a:ln w="12700">
            <a:solidFill>
              <a:srgbClr val="12867A">
                <a:alpha val="55000"/>
              </a:srgbClr>
            </a:solidFill>
            <a:prstDash val="solid"/>
          </a:ln>
        </p:spPr>
      </p:sp>
      <p:sp>
        <p:nvSpPr>
          <p:cNvPr id="15" name="Shape 13"/>
          <p:cNvSpPr/>
          <p:nvPr/>
        </p:nvSpPr>
        <p:spPr>
          <a:xfrm>
            <a:off x="11320272" y="6080760"/>
            <a:ext cx="329184" cy="256032"/>
          </a:xfrm>
          <a:prstGeom prst="line">
            <a:avLst/>
          </a:prstGeom>
          <a:noFill/>
          <a:ln w="12700">
            <a:solidFill>
              <a:srgbClr val="12867A">
                <a:alpha val="55000"/>
              </a:srgbClr>
            </a:solidFill>
            <a:prstDash val="solid"/>
          </a:ln>
        </p:spPr>
      </p:sp>
      <p:sp>
        <p:nvSpPr>
          <p:cNvPr id="16" name="Shape 14"/>
          <p:cNvSpPr/>
          <p:nvPr/>
        </p:nvSpPr>
        <p:spPr>
          <a:xfrm>
            <a:off x="10292486" y="5821070"/>
            <a:ext cx="80467" cy="80467"/>
          </a:xfrm>
          <a:prstGeom prst="ellipse">
            <a:avLst/>
          </a:prstGeom>
          <a:solidFill>
            <a:srgbClr val="D98E04"/>
          </a:solidFill>
          <a:ln w="12700">
            <a:solidFill>
              <a:srgbClr val="12867A"/>
            </a:solidFill>
            <a:prstDash val="solid"/>
          </a:ln>
        </p:spPr>
      </p:sp>
      <p:sp>
        <p:nvSpPr>
          <p:cNvPr id="17" name="Shape 15"/>
          <p:cNvSpPr/>
          <p:nvPr/>
        </p:nvSpPr>
        <p:spPr>
          <a:xfrm>
            <a:off x="10638130" y="5581498"/>
            <a:ext cx="47549" cy="47549"/>
          </a:xfrm>
          <a:prstGeom prst="ellipse">
            <a:avLst/>
          </a:prstGeom>
          <a:solidFill>
            <a:srgbClr val="12867A">
              <a:alpha val="70000"/>
            </a:srgbClr>
          </a:solidFill>
          <a:ln w="12700">
            <a:solidFill>
              <a:srgbClr val="12867A"/>
            </a:solidFill>
            <a:prstDash val="solid"/>
          </a:ln>
        </p:spPr>
      </p:sp>
      <p:sp>
        <p:nvSpPr>
          <p:cNvPr id="18" name="Shape 16"/>
          <p:cNvSpPr/>
          <p:nvPr/>
        </p:nvSpPr>
        <p:spPr>
          <a:xfrm>
            <a:off x="11003890" y="5782666"/>
            <a:ext cx="47549" cy="47549"/>
          </a:xfrm>
          <a:prstGeom prst="ellipse">
            <a:avLst/>
          </a:prstGeom>
          <a:solidFill>
            <a:srgbClr val="12867A">
              <a:alpha val="70000"/>
            </a:srgbClr>
          </a:solidFill>
          <a:ln w="12700">
            <a:solidFill>
              <a:srgbClr val="12867A"/>
            </a:solidFill>
            <a:prstDash val="solid"/>
          </a:ln>
        </p:spPr>
      </p:sp>
      <p:sp>
        <p:nvSpPr>
          <p:cNvPr id="19" name="Shape 17"/>
          <p:cNvSpPr/>
          <p:nvPr/>
        </p:nvSpPr>
        <p:spPr>
          <a:xfrm>
            <a:off x="10786262" y="6113678"/>
            <a:ext cx="80467" cy="80467"/>
          </a:xfrm>
          <a:prstGeom prst="ellipse">
            <a:avLst/>
          </a:prstGeom>
          <a:solidFill>
            <a:srgbClr val="12867A"/>
          </a:solidFill>
          <a:ln w="12700">
            <a:solidFill>
              <a:srgbClr val="12867A"/>
            </a:solidFill>
            <a:prstDash val="solid"/>
          </a:ln>
        </p:spPr>
      </p:sp>
      <p:sp>
        <p:nvSpPr>
          <p:cNvPr id="20" name="Shape 18"/>
          <p:cNvSpPr/>
          <p:nvPr/>
        </p:nvSpPr>
        <p:spPr>
          <a:xfrm>
            <a:off x="11296498" y="6056986"/>
            <a:ext cx="47549" cy="47549"/>
          </a:xfrm>
          <a:prstGeom prst="ellipse">
            <a:avLst/>
          </a:prstGeom>
          <a:solidFill>
            <a:srgbClr val="D98E04">
              <a:alpha val="70000"/>
            </a:srgbClr>
          </a:solidFill>
          <a:ln w="12700">
            <a:solidFill>
              <a:srgbClr val="12867A"/>
            </a:solidFill>
            <a:prstDash val="solid"/>
          </a:ln>
        </p:spPr>
      </p:sp>
      <p:sp>
        <p:nvSpPr>
          <p:cNvPr id="21" name="Shape 19"/>
          <p:cNvSpPr/>
          <p:nvPr/>
        </p:nvSpPr>
        <p:spPr>
          <a:xfrm>
            <a:off x="10528402" y="6313018"/>
            <a:ext cx="47549" cy="47549"/>
          </a:xfrm>
          <a:prstGeom prst="ellipse">
            <a:avLst/>
          </a:prstGeom>
          <a:solidFill>
            <a:srgbClr val="12867A">
              <a:alpha val="70000"/>
            </a:srgbClr>
          </a:solidFill>
          <a:ln w="12700">
            <a:solidFill>
              <a:srgbClr val="12867A"/>
            </a:solidFill>
            <a:prstDash val="solid"/>
          </a:ln>
        </p:spPr>
      </p:sp>
      <p:sp>
        <p:nvSpPr>
          <p:cNvPr id="22" name="Shape 20"/>
          <p:cNvSpPr/>
          <p:nvPr/>
        </p:nvSpPr>
        <p:spPr>
          <a:xfrm>
            <a:off x="11133734" y="6442862"/>
            <a:ext cx="80467" cy="80467"/>
          </a:xfrm>
          <a:prstGeom prst="ellipse">
            <a:avLst/>
          </a:prstGeom>
          <a:solidFill>
            <a:srgbClr val="12867A"/>
          </a:solidFill>
          <a:ln w="12700">
            <a:solidFill>
              <a:srgbClr val="12867A"/>
            </a:solidFill>
            <a:prstDash val="solid"/>
          </a:ln>
        </p:spPr>
      </p:sp>
      <p:sp>
        <p:nvSpPr>
          <p:cNvPr id="23" name="Shape 21"/>
          <p:cNvSpPr/>
          <p:nvPr/>
        </p:nvSpPr>
        <p:spPr>
          <a:xfrm>
            <a:off x="11552530" y="5727802"/>
            <a:ext cx="47549" cy="47549"/>
          </a:xfrm>
          <a:prstGeom prst="ellipse">
            <a:avLst/>
          </a:prstGeom>
          <a:solidFill>
            <a:srgbClr val="12867A">
              <a:alpha val="70000"/>
            </a:srgbClr>
          </a:solidFill>
          <a:ln w="12700">
            <a:solidFill>
              <a:srgbClr val="12867A"/>
            </a:solidFill>
            <a:prstDash val="solid"/>
          </a:ln>
        </p:spPr>
      </p:sp>
      <p:sp>
        <p:nvSpPr>
          <p:cNvPr id="24" name="Shape 22"/>
          <p:cNvSpPr/>
          <p:nvPr/>
        </p:nvSpPr>
        <p:spPr>
          <a:xfrm>
            <a:off x="11625682" y="6313018"/>
            <a:ext cx="47549" cy="47549"/>
          </a:xfrm>
          <a:prstGeom prst="ellipse">
            <a:avLst/>
          </a:prstGeom>
          <a:solidFill>
            <a:srgbClr val="D98E04">
              <a:alpha val="70000"/>
            </a:srgbClr>
          </a:solidFill>
          <a:ln w="12700">
            <a:solidFill>
              <a:srgbClr val="12867A"/>
            </a:solidFill>
            <a:prstDash val="solid"/>
          </a:ln>
        </p:spPr>
      </p:sp>
      <p:sp>
        <p:nvSpPr>
          <p:cNvPr id="25" name="Text 23"/>
          <p:cNvSpPr txBox="1"/>
          <p:nvPr/>
        </p:nvSpPr>
        <p:spPr>
          <a:xfrm>
            <a:off x="548640" y="1371600"/>
            <a:ext cx="5394960" cy="4754880"/>
          </a:xfrm>
          <a:prstGeom prst="rect">
            <a:avLst/>
          </a:prstGeom>
          <a:noFill/>
          <a:ln/>
        </p:spPr>
        <p:txBody>
          <a:bodyPr wrap="square" lIns="0" tIns="0" rIns="0" bIns="0" rtlCol="0" anchor="t"/>
          <a:lstStyle/>
          <a:p>
            <a:pPr marL="228600" indent="-228600">
              <a:spcAft>
                <a:spcPts val="700"/>
              </a:spcAft>
              <a:buSzPct val="100000"/>
              <a:buFont typeface="+mj-lt"/>
              <a:buAutoNum type="arabicPeriod" startAt="1"/>
            </a:pPr>
            <a:r>
              <a:rPr lang="en-US" sz="1050" dirty="0">
                <a:solidFill>
                  <a:srgbClr val="FFFFFF"/>
                </a:solidFill>
                <a:latin typeface="Calibri" pitchFamily="34" charset="0"/>
                <a:ea typeface="Calibri" pitchFamily="34" charset="-122"/>
                <a:cs typeface="Calibri" pitchFamily="34" charset="-120"/>
              </a:rPr>
              <a:t>Regulation (EU) 2016/679 (GDPR), EUR-Lex.</a:t>
            </a:r>
            <a:endParaRPr lang="en-US" sz="1050" dirty="0"/>
          </a:p>
          <a:p>
            <a:pPr marL="228600" indent="-228600">
              <a:spcAft>
                <a:spcPts val="700"/>
              </a:spcAft>
              <a:buSzPct val="100000"/>
              <a:buFont typeface="+mj-lt"/>
              <a:buAutoNum type="arabicPeriod" startAt="1"/>
            </a:pPr>
            <a:r>
              <a:rPr lang="en-US" sz="1050" dirty="0">
                <a:solidFill>
                  <a:srgbClr val="FFFFFF"/>
                </a:solidFill>
                <a:latin typeface="Calibri" pitchFamily="34" charset="0"/>
                <a:ea typeface="Calibri" pitchFamily="34" charset="-122"/>
                <a:cs typeface="Calibri" pitchFamily="34" charset="-120"/>
              </a:rPr>
              <a:t>Regulation (EU) 2024/1689 (EU AI Act), as amended by Regulation (EU) 2026/1744 (Digital Omnibus on AI, in force 27 Jul 2026).</a:t>
            </a:r>
            <a:endParaRPr lang="en-US" sz="1050" dirty="0"/>
          </a:p>
          <a:p>
            <a:pPr marL="228600" indent="-228600">
              <a:spcAft>
                <a:spcPts val="700"/>
              </a:spcAft>
              <a:buSzPct val="100000"/>
              <a:buFont typeface="+mj-lt"/>
              <a:buAutoNum type="arabicPeriod" startAt="1"/>
            </a:pPr>
            <a:r>
              <a:rPr lang="en-US" sz="1050" dirty="0">
                <a:solidFill>
                  <a:srgbClr val="FFFFFF"/>
                </a:solidFill>
                <a:latin typeface="Calibri" pitchFamily="34" charset="0"/>
                <a:ea typeface="Calibri" pitchFamily="34" charset="-122"/>
                <a:cs typeface="Calibri" pitchFamily="34" charset="-120"/>
              </a:rPr>
              <a:t>Regulation (EU) 2022/2554 (DORA); ESA first CTPP designation list, 18 Nov 2025.</a:t>
            </a:r>
            <a:endParaRPr lang="en-US" sz="1050" dirty="0"/>
          </a:p>
          <a:p>
            <a:pPr marL="228600" indent="-228600">
              <a:spcAft>
                <a:spcPts val="700"/>
              </a:spcAft>
              <a:buSzPct val="100000"/>
              <a:buFont typeface="+mj-lt"/>
              <a:buAutoNum type="arabicPeriod" startAt="1"/>
            </a:pPr>
            <a:r>
              <a:rPr lang="en-US" sz="1050" dirty="0">
                <a:solidFill>
                  <a:srgbClr val="FFFFFF"/>
                </a:solidFill>
                <a:latin typeface="Calibri" pitchFamily="34" charset="0"/>
                <a:ea typeface="Calibri" pitchFamily="34" charset="-122"/>
                <a:cs typeface="Calibri" pitchFamily="34" charset="-120"/>
              </a:rPr>
              <a:t>U.S. Treasury Financial Services AI Risk Management Framework and AI Lexicon, 19 Feb 2026.</a:t>
            </a:r>
            <a:endParaRPr lang="en-US" sz="1050" dirty="0"/>
          </a:p>
          <a:p>
            <a:pPr marL="228600" indent="-228600">
              <a:spcAft>
                <a:spcPts val="700"/>
              </a:spcAft>
              <a:buSzPct val="100000"/>
              <a:buFont typeface="+mj-lt"/>
              <a:buAutoNum type="arabicPeriod" startAt="1"/>
            </a:pPr>
            <a:r>
              <a:rPr lang="en-US" sz="1050" dirty="0">
                <a:solidFill>
                  <a:srgbClr val="FFFFFF"/>
                </a:solidFill>
                <a:latin typeface="Calibri" pitchFamily="34" charset="0"/>
                <a:ea typeface="Calibri" pitchFamily="34" charset="-122"/>
                <a:cs typeface="Calibri" pitchFamily="34" charset="-120"/>
              </a:rPr>
              <a:t>SEC Regulation S-P final amendments (adopted May 2024; larger-entity compliance 3 Dec 2025).</a:t>
            </a:r>
            <a:endParaRPr lang="en-US" sz="1050" dirty="0"/>
          </a:p>
          <a:p>
            <a:pPr marL="228600" indent="-228600">
              <a:spcAft>
                <a:spcPts val="700"/>
              </a:spcAft>
              <a:buSzPct val="100000"/>
              <a:buFont typeface="+mj-lt"/>
              <a:buAutoNum type="arabicPeriod" startAt="1"/>
            </a:pPr>
            <a:r>
              <a:rPr lang="en-US" sz="1050" dirty="0">
                <a:solidFill>
                  <a:srgbClr val="FFFFFF"/>
                </a:solidFill>
                <a:latin typeface="Calibri" pitchFamily="34" charset="0"/>
                <a:ea typeface="Calibri" pitchFamily="34" charset="-122"/>
                <a:cs typeface="Calibri" pitchFamily="34" charset="-120"/>
              </a:rPr>
              <a:t>Federal Reserve / OCC / FDIC SR 26-2, Revised Guidance on Model Risk Management, 17 Apr 2026.</a:t>
            </a:r>
            <a:endParaRPr lang="en-US" sz="1050" dirty="0"/>
          </a:p>
          <a:p>
            <a:pPr marL="228600" indent="-228600">
              <a:spcAft>
                <a:spcPts val="700"/>
              </a:spcAft>
              <a:buSzPct val="100000"/>
              <a:buFont typeface="+mj-lt"/>
              <a:buAutoNum type="arabicPeriod" startAt="1"/>
            </a:pPr>
            <a:r>
              <a:rPr lang="en-US" sz="1050" dirty="0">
                <a:solidFill>
                  <a:srgbClr val="FFFFFF"/>
                </a:solidFill>
                <a:latin typeface="Calibri" pitchFamily="34" charset="0"/>
                <a:ea typeface="Calibri" pitchFamily="34" charset="-122"/>
                <a:cs typeface="Calibri" pitchFamily="34" charset="-120"/>
              </a:rPr>
              <a:t>FSB, The Financial Stability Implications of AI (Nov 2024); Monitoring Adoption of AI and Related Vulnerabilities (Oct 2025).</a:t>
            </a:r>
            <a:endParaRPr lang="en-US" sz="1050" dirty="0"/>
          </a:p>
          <a:p>
            <a:pPr marL="228600" indent="-228600">
              <a:spcAft>
                <a:spcPts val="700"/>
              </a:spcAft>
              <a:buSzPct val="100000"/>
              <a:buFont typeface="+mj-lt"/>
              <a:buAutoNum type="arabicPeriod" startAt="1"/>
            </a:pPr>
            <a:r>
              <a:rPr lang="en-US" sz="1050" dirty="0">
                <a:solidFill>
                  <a:srgbClr val="FFFFFF"/>
                </a:solidFill>
                <a:latin typeface="Calibri" pitchFamily="34" charset="0"/>
                <a:ea typeface="Calibri" pitchFamily="34" charset="-122"/>
                <a:cs typeface="Calibri" pitchFamily="34" charset="-120"/>
              </a:rPr>
              <a:t>NIST AI RMF 1.0; Generative AI Profile; NIST AI 100-2e2025 adversarial ML taxonomy; CAISI AI Agent Standards Initiative.</a:t>
            </a:r>
            <a:endParaRPr lang="en-US" sz="1050" dirty="0"/>
          </a:p>
        </p:txBody>
      </p:sp>
      <p:sp>
        <p:nvSpPr>
          <p:cNvPr id="26" name="Text 24"/>
          <p:cNvSpPr txBox="1"/>
          <p:nvPr/>
        </p:nvSpPr>
        <p:spPr>
          <a:xfrm>
            <a:off x="6263640" y="1371600"/>
            <a:ext cx="5394960" cy="4754880"/>
          </a:xfrm>
          <a:prstGeom prst="rect">
            <a:avLst/>
          </a:prstGeom>
          <a:noFill/>
          <a:ln/>
        </p:spPr>
        <p:txBody>
          <a:bodyPr wrap="square" lIns="0" tIns="0" rIns="0" bIns="0" rtlCol="0" anchor="t"/>
          <a:lstStyle/>
          <a:p>
            <a:pPr marL="228600" indent="-228600">
              <a:spcAft>
                <a:spcPts val="700"/>
              </a:spcAft>
              <a:buSzPct val="100000"/>
              <a:buFont typeface="+mj-lt"/>
              <a:buAutoNum type="arabicPeriod" startAt="9"/>
            </a:pPr>
            <a:r>
              <a:rPr lang="en-US" sz="1050" dirty="0">
                <a:solidFill>
                  <a:srgbClr val="FFFFFF"/>
                </a:solidFill>
                <a:latin typeface="Calibri" pitchFamily="34" charset="0"/>
                <a:ea typeface="Calibri" pitchFamily="34" charset="-122"/>
                <a:cs typeface="Calibri" pitchFamily="34" charset="-120"/>
              </a:rPr>
              <a:t>Memoria: A Scalable Agentic Memory Framework for Personalized Conversational AI, arXiv:2512.12686.</a:t>
            </a:r>
            <a:endParaRPr lang="en-US" sz="1050" dirty="0"/>
          </a:p>
          <a:p>
            <a:pPr marL="228600" indent="-228600">
              <a:spcAft>
                <a:spcPts val="700"/>
              </a:spcAft>
              <a:buSzPct val="100000"/>
              <a:buFont typeface="+mj-lt"/>
              <a:buAutoNum type="arabicPeriod" startAt="9"/>
            </a:pPr>
            <a:r>
              <a:rPr lang="en-US" sz="1050" dirty="0">
                <a:solidFill>
                  <a:srgbClr val="FFFFFF"/>
                </a:solidFill>
                <a:latin typeface="Calibri" pitchFamily="34" charset="0"/>
                <a:ea typeface="Calibri" pitchFamily="34" charset="-122"/>
                <a:cs typeface="Calibri" pitchFamily="34" charset="-120"/>
              </a:rPr>
              <a:t>GetZep Graphiti repository; advisories GHSA-gg5m-55jj-8m5g / CVE-2026-32247 (patched 0.28.2) and CVE-2026-90601 (open, 13 Sept 2026).</a:t>
            </a:r>
            <a:endParaRPr lang="en-US" sz="1050" dirty="0"/>
          </a:p>
          <a:p>
            <a:pPr marL="228600" indent="-228600">
              <a:spcAft>
                <a:spcPts val="700"/>
              </a:spcAft>
              <a:buSzPct val="100000"/>
              <a:buFont typeface="+mj-lt"/>
              <a:buAutoNum type="arabicPeriod" startAt="9"/>
            </a:pPr>
            <a:r>
              <a:rPr lang="en-US" sz="1050" dirty="0">
                <a:solidFill>
                  <a:srgbClr val="FFFFFF"/>
                </a:solidFill>
                <a:latin typeface="Calibri" pitchFamily="34" charset="0"/>
                <a:ea typeface="Calibri" pitchFamily="34" charset="-122"/>
                <a:cs typeface="Calibri" pitchFamily="34" charset="-120"/>
              </a:rPr>
              <a:t>AuthMem-Bench (arXiv:2608.01679); Memory Contagion (arXiv:2606.23195); Ghost Vectors (arXiv:2606.18497).</a:t>
            </a:r>
            <a:endParaRPr lang="en-US" sz="1050" dirty="0"/>
          </a:p>
          <a:p>
            <a:pPr marL="228600" indent="-228600">
              <a:spcAft>
                <a:spcPts val="700"/>
              </a:spcAft>
              <a:buSzPct val="100000"/>
              <a:buFont typeface="+mj-lt"/>
              <a:buAutoNum type="arabicPeriod" startAt="9"/>
            </a:pPr>
            <a:r>
              <a:rPr lang="en-US" sz="1050" dirty="0">
                <a:solidFill>
                  <a:srgbClr val="FFFFFF"/>
                </a:solidFill>
                <a:latin typeface="Calibri" pitchFamily="34" charset="0"/>
                <a:ea typeface="Calibri" pitchFamily="34" charset="-122"/>
                <a:cs typeface="Calibri" pitchFamily="34" charset="-120"/>
              </a:rPr>
              <a:t>Agentic Unlearning (arXiv:2602.17692); certified graph unlearning literature; W3C AI Agent Memory Interoperability CG charter (Jul 2026).</a:t>
            </a:r>
            <a:endParaRPr lang="en-US" sz="1050" dirty="0"/>
          </a:p>
          <a:p>
            <a:pPr marL="228600" indent="-228600">
              <a:spcAft>
                <a:spcPts val="700"/>
              </a:spcAft>
              <a:buSzPct val="100000"/>
              <a:buFont typeface="+mj-lt"/>
              <a:buAutoNum type="arabicPeriod" startAt="9"/>
            </a:pPr>
            <a:r>
              <a:rPr lang="en-US" sz="1050" dirty="0">
                <a:solidFill>
                  <a:srgbClr val="FFFFFF"/>
                </a:solidFill>
                <a:latin typeface="Calibri" pitchFamily="34" charset="0"/>
                <a:ea typeface="Calibri" pitchFamily="34" charset="-122"/>
                <a:cs typeface="Calibri" pitchFamily="34" charset="-120"/>
              </a:rPr>
              <a:t>BlackRock, Inc. Form ARS FY2024/FY2025 (Aladdin risk factors); UK FCA statement via FT / Finadium, Jan 2021.</a:t>
            </a:r>
            <a:endParaRPr lang="en-US" sz="1050" dirty="0"/>
          </a:p>
          <a:p>
            <a:pPr marL="228600" indent="-228600">
              <a:spcAft>
                <a:spcPts val="700"/>
              </a:spcAft>
              <a:buSzPct val="100000"/>
              <a:buFont typeface="+mj-lt"/>
              <a:buAutoNum type="arabicPeriod" startAt="9"/>
            </a:pPr>
            <a:r>
              <a:rPr lang="en-US" sz="1050" dirty="0">
                <a:solidFill>
                  <a:srgbClr val="FFFFFF"/>
                </a:solidFill>
                <a:latin typeface="Calibri" pitchFamily="34" charset="0"/>
                <a:ea typeface="Calibri" pitchFamily="34" charset="-122"/>
                <a:cs typeface="Calibri" pitchFamily="34" charset="-120"/>
              </a:rPr>
              <a:t>EDPB Opinion 28/2024; EDPB Guidelines 02/2026 (anonymisation, draft); EDPB–EDPS Joint Opinion 1/2026; AEPD agentic-AI guidance (Feb 2026).</a:t>
            </a:r>
            <a:endParaRPr lang="en-US" sz="1050" dirty="0"/>
          </a:p>
          <a:p>
            <a:pPr marL="228600" indent="-228600">
              <a:spcAft>
                <a:spcPts val="700"/>
              </a:spcAft>
              <a:buSzPct val="100000"/>
              <a:buFont typeface="+mj-lt"/>
              <a:buAutoNum type="arabicPeriod" startAt="9"/>
            </a:pPr>
            <a:r>
              <a:rPr lang="en-US" sz="1050" dirty="0">
                <a:solidFill>
                  <a:srgbClr val="FFFFFF"/>
                </a:solidFill>
                <a:latin typeface="Calibri" pitchFamily="34" charset="0"/>
                <a:ea typeface="Calibri" pitchFamily="34" charset="-122"/>
                <a:cs typeface="Calibri" pitchFamily="34" charset="-120"/>
              </a:rPr>
              <a:t>California CPPA ADMT regulations (eff. 1 Jan 2026); Colorado SB 26-189 (14 May 2026); CEN/CENELEC prEN 18229-1 / -3.</a:t>
            </a:r>
            <a:endParaRPr lang="en-US" sz="1050" dirty="0"/>
          </a:p>
          <a:p>
            <a:pPr marL="228600" indent="-228600">
              <a:spcAft>
                <a:spcPts val="700"/>
              </a:spcAft>
              <a:buSzPct val="100000"/>
              <a:buFont typeface="+mj-lt"/>
              <a:buAutoNum type="arabicPeriod" startAt="9"/>
            </a:pPr>
            <a:r>
              <a:rPr lang="en-US" sz="1050" dirty="0">
                <a:solidFill>
                  <a:srgbClr val="FFFFFF"/>
                </a:solidFill>
                <a:latin typeface="Calibri" pitchFamily="34" charset="0"/>
                <a:ea typeface="Calibri" pitchFamily="34" charset="-122"/>
                <a:cs typeface="Calibri" pitchFamily="34" charset="-120"/>
              </a:rPr>
              <a:t>ICO–FCA joint statement on vulnerability data (27 Mar 2026); Hong Kong SFC circulars (12 Nov 2024; 2 Jun 2026); HKMA (19 Aug 2024); IMDA agentic framework (Jan 2026); MAS MindForge handbook (Mar 2026).</a:t>
            </a:r>
            <a:endParaRPr lang="en-US" sz="1050" dirty="0"/>
          </a:p>
        </p:txBody>
      </p:sp>
      <p:sp>
        <p:nvSpPr>
          <p:cNvPr id="27" name="Text 25"/>
          <p:cNvSpPr txBox="1"/>
          <p:nvPr/>
        </p:nvSpPr>
        <p:spPr>
          <a:xfrm>
            <a:off x="548640" y="6419088"/>
            <a:ext cx="10545775"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This deck is for research/engineering planning and is not legal advice. Legal/regulatory affairs should validate entity-specific obligations and final control requirements.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RockAI Agent Memory Governance Framework</dc:title>
  <dc:subject>PptxGenJS Presentation</dc:subject>
  <dc:creator>RockAI Research</dc:creator>
  <cp:lastModifiedBy>RockAI Research</cp:lastModifiedBy>
  <cp:revision>1</cp:revision>
  <dcterms:created xsi:type="dcterms:W3CDTF">2026-09-17T21:12:03Z</dcterms:created>
  <dcterms:modified xsi:type="dcterms:W3CDTF">2026-09-17T21:12:03Z</dcterms:modified>
</cp:coreProperties>
</file>